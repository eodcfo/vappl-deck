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 demand</c:v>
                </c:pt>
              </c:strCache>
            </c:strRef>
          </c:tx>
          <c:spPr>
            <a:solidFill>
              <a:srgbClr val="C8553D"/>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Geeta Govind Vatika
composite</c:v>
                  </c:pt>
                  <c:pt idx="1">
                    <c:v>Ramayan Vatika
composite</c:v>
                  </c:pt>
                  <c:pt idx="2">
                    <c:v>Karnal Phase 1
term loan + WC</c:v>
                  </c:pt>
                  <c:pt idx="3">
                    <c:v>VAPPL
working capital and NBFC consolidation</c:v>
                  </c:pt>
                </c:lvl>
              </c:multiLvlStrCache>
            </c:multiLvlStrRef>
          </c:cat>
          <c:val>
            <c:numRef>
              <c:f>Sheet1!$B$2:$B$5</c:f>
              <c:numCache>
                <c:formatCode>General</c:formatCode>
                <c:ptCount val="4"/>
                <c:pt idx="0">
                  <c:v>3.37</c:v>
                </c:pt>
                <c:pt idx="1">
                  <c:v>4.17</c:v>
                </c:pt>
                <c:pt idx="2">
                  <c:v>3.5</c:v>
                </c:pt>
                <c:pt idx="3">
                  <c:v>3.5</c:v>
                </c:pt>
              </c:numCache>
            </c:numRef>
          </c:val>
        </c:ser>
        <c:ser>
          <c:idx val="1"/>
          <c:order val="1"/>
          <c:tx>
            <c:strRef>
              <c:f>Sheet1!$C$1</c:f>
              <c:strCache>
                <c:ptCount val="1"/>
                <c:pt idx="0">
                  <c:v>Allocated within the ceiling</c:v>
                </c:pt>
              </c:strCache>
            </c:strRef>
          </c:tx>
          <c:spPr>
            <a:solidFill>
              <a:srgbClr val="2B66EA"/>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Geeta Govind Vatika
composite</c:v>
                  </c:pt>
                  <c:pt idx="1">
                    <c:v>Ramayan Vatika
composite</c:v>
                  </c:pt>
                  <c:pt idx="2">
                    <c:v>Karnal Phase 1
term loan + WC</c:v>
                  </c:pt>
                  <c:pt idx="3">
                    <c:v>VAPPL
working capital and NBFC consolidation</c:v>
                  </c:pt>
                </c:lvl>
              </c:multiLvlStrCache>
            </c:multiLvlStrRef>
          </c:cat>
          <c:val>
            <c:numRef>
              <c:f>Sheet1!$C$2:$C$5</c:f>
              <c:numCache>
                <c:formatCode>General</c:formatCode>
                <c:ptCount val="4"/>
                <c:pt idx="0">
                  <c:v>3</c:v>
                </c:pt>
                <c:pt idx="1">
                  <c:v>2.6</c:v>
                </c:pt>
                <c:pt idx="2">
                  <c:v>1.9</c:v>
                </c:pt>
                <c:pt idx="3">
                  <c:v>2.5</c:v>
                </c:pt>
              </c:numCache>
            </c:numRef>
          </c:val>
        </c:ser>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3B46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4EA"/>
              </a:solidFill>
              <a:prstDash val="solid"/>
              <a:round/>
            </a:ln>
          </c:spPr>
        </c:majorGridlines>
        <c:title>
          <c:tx>
            <c:rich>
              <a:bodyPr/>
              <a:lstStyle/>
              <a:p>
                <a:pPr>
                  <a:defRPr sz="1000" b="0" i="0" u="none" strike="noStrike">
                    <a:solidFill>
                      <a:srgbClr val="6E7689"/>
                    </a:solidFill>
                    <a:latin typeface="Calibri"/>
                  </a:defRPr>
                </a:pPr>
                <a:r>
                  <a:rPr sz="1000" b="0" i="0" u="none" strike="noStrike">
                    <a:solidFill>
                      <a:srgbClr val="6E7689"/>
                    </a:solidFill>
                    <a:latin typeface="Calibri"/>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9"/>
                </a:solidFill>
                <a:latin typeface="Calibri"/>
              </a:defRPr>
            </a:pPr>
            <a:endParaRPr lang="en-US"/>
          </a:p>
        </c:txPr>
        <c:crossAx val="2094734554"/>
        <c:crosses val="autoZero"/>
        <c:crossBetween val="between"/>
      </c:valAx>
      <c:spPr>
        <a:solidFill>
          <a:srgbClr val="FFFFFF"/>
        </a:solidFill>
        <a:ln w="12700" cap="flat">
          <a:solidFill>
            <a:srgbClr val="363636"/>
          </a:solidFill>
        </a:ln>
        <a:effectLst/>
      </c:spPr>
    </c:plotArea>
    <c:legend>
      <c:legendPos val="t"/>
      <c:overlay val="0"/>
      <c:txPr>
        <a:bodyPr/>
        <a:lstStyle/>
        <a:p>
          <a:pPr>
            <a:defRPr sz="1000">
              <a:solidFill>
                <a:srgbClr val="3B46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6"/>
        </a:solidFill>
      </p:bgPr>
    </p:bg>
    <p:spTree>
      <p:nvGrpSpPr>
        <p:cNvPr id="1" name=""/>
        <p:cNvGrpSpPr/>
        <p:nvPr/>
      </p:nvGrpSpPr>
      <p:grpSpPr>
        <a:xfrm>
          <a:off x="0" y="0"/>
          <a:ext cx="0" cy="0"/>
          <a:chOff x="0" y="0"/>
          <a:chExt cx="0" cy="0"/>
        </a:xfrm>
      </p:grpSpPr>
      <p:sp>
        <p:nvSpPr>
          <p:cNvPr id="2" name="Text 0"/>
          <p:cNvSpPr/>
          <p:nvPr/>
        </p:nvSpPr>
        <p:spPr>
          <a:xfrm>
            <a:off x="566928" y="566928"/>
            <a:ext cx="7498080" cy="274320"/>
          </a:xfrm>
          <a:prstGeom prst="rect">
            <a:avLst/>
          </a:prstGeom>
          <a:noFill/>
          <a:ln/>
        </p:spPr>
        <p:txBody>
          <a:bodyPr wrap="square" lIns="0" tIns="0" rIns="0" bIns="0" rtlCol="0" anchor="ctr"/>
          <a:lstStyle/>
          <a:p>
            <a:pPr indent="0" marL="0">
              <a:buNone/>
            </a:pPr>
            <a:r>
              <a:rPr lang="en-US" sz="1200" b="1" spc="240" kern="0" dirty="0">
                <a:solidFill>
                  <a:srgbClr val="C8553D"/>
                </a:solidFill>
                <a:latin typeface="Calibri" pitchFamily="34" charset="0"/>
                <a:ea typeface="Calibri" pitchFamily="34" charset="-122"/>
                <a:cs typeface="Calibri" pitchFamily="34" charset="-120"/>
              </a:rPr>
              <a:t>PROJECT FINANCE · PORTFOLIO</a:t>
            </a:r>
            <a:endParaRPr lang="en-US" sz="1200" dirty="0"/>
          </a:p>
        </p:txBody>
      </p:sp>
      <p:sp>
        <p:nvSpPr>
          <p:cNvPr id="3" name="Text 1"/>
          <p:cNvSpPr/>
          <p:nvPr/>
        </p:nvSpPr>
        <p:spPr>
          <a:xfrm>
            <a:off x="566928" y="960120"/>
            <a:ext cx="8595360" cy="1691640"/>
          </a:xfrm>
          <a:prstGeom prst="rect">
            <a:avLst/>
          </a:prstGeom>
          <a:noFill/>
          <a:ln/>
        </p:spPr>
        <p:txBody>
          <a:bodyPr wrap="square" lIns="0" tIns="0" rIns="0" bIns="0" rtlCol="0" anchor="t"/>
          <a:lstStyle/>
          <a:p>
            <a:pPr indent="0" marL="0">
              <a:lnSpc>
                <a:spcPts val="5200"/>
              </a:lnSpc>
              <a:buNone/>
            </a:pPr>
            <a:r>
              <a:rPr lang="en-US" sz="5000" b="1" dirty="0">
                <a:solidFill>
                  <a:srgbClr val="FFFFFF"/>
                </a:solidFill>
                <a:latin typeface="Calibri" pitchFamily="34" charset="0"/>
                <a:ea typeface="Calibri" pitchFamily="34" charset="-122"/>
                <a:cs typeface="Calibri" pitchFamily="34" charset="-120"/>
              </a:rPr>
              <a:t>Three projects,</a:t>
            </a:r>
            <a:endParaRPr lang="en-US" sz="5000" dirty="0"/>
          </a:p>
          <a:p>
            <a:pPr indent="0" marL="0">
              <a:lnSpc>
                <a:spcPts val="5200"/>
              </a:lnSpc>
              <a:buNone/>
            </a:pPr>
            <a:r>
              <a:rPr lang="en-US" sz="5000" b="1" dirty="0">
                <a:solidFill>
                  <a:srgbClr val="FFFFFF"/>
                </a:solidFill>
                <a:latin typeface="Calibri" pitchFamily="34" charset="0"/>
                <a:ea typeface="Calibri" pitchFamily="34" charset="-122"/>
                <a:cs typeface="Calibri" pitchFamily="34" charset="-120"/>
              </a:rPr>
              <a:t>one balance sheet</a:t>
            </a:r>
            <a:endParaRPr lang="en-US" sz="5000" dirty="0"/>
          </a:p>
        </p:txBody>
      </p:sp>
      <p:sp>
        <p:nvSpPr>
          <p:cNvPr id="4" name="Text 2"/>
          <p:cNvSpPr/>
          <p:nvPr/>
        </p:nvSpPr>
        <p:spPr>
          <a:xfrm>
            <a:off x="566928" y="2706624"/>
            <a:ext cx="10241280" cy="911352"/>
          </a:xfrm>
          <a:prstGeom prst="rect">
            <a:avLst/>
          </a:prstGeom>
          <a:noFill/>
          <a:ln/>
        </p:spPr>
        <p:txBody>
          <a:bodyPr wrap="square" lIns="0" tIns="0" rIns="0" bIns="0" rtlCol="0" anchor="t"/>
          <a:lstStyle/>
          <a:p>
            <a:pPr indent="0" marL="0">
              <a:lnSpc>
                <a:spcPts val="2300"/>
              </a:lnSpc>
              <a:buNone/>
            </a:pPr>
            <a:r>
              <a:rPr lang="en-US" sz="1500" i="1" dirty="0">
                <a:solidFill>
                  <a:srgbClr val="C9D0DE"/>
                </a:solidFill>
                <a:latin typeface="Calibri" pitchFamily="34" charset="0"/>
                <a:ea typeface="Calibri" pitchFamily="34" charset="-122"/>
                <a:cs typeface="Calibri" pitchFamily="34" charset="-120"/>
              </a:rPr>
              <a:t>Geeta Govind Vatika, Ramayan Vatika and Karnal, each modelled as equity, guaranteed debt, and debt that converts to equity — plus the company-level view that ties them together. Built on the ₹10 crore CGTMSE ceiling that came into force in April 2025.</a:t>
            </a:r>
            <a:endParaRPr lang="en-US" sz="1500" dirty="0"/>
          </a:p>
        </p:txBody>
      </p:sp>
      <p:sp>
        <p:nvSpPr>
          <p:cNvPr id="5" name="Text 3"/>
          <p:cNvSpPr/>
          <p:nvPr/>
        </p:nvSpPr>
        <p:spPr>
          <a:xfrm>
            <a:off x="566928" y="3764280"/>
            <a:ext cx="10241280" cy="694944"/>
          </a:xfrm>
          <a:prstGeom prst="rect">
            <a:avLst/>
          </a:prstGeom>
          <a:noFill/>
          <a:ln/>
        </p:spPr>
        <p:txBody>
          <a:bodyPr wrap="square" lIns="0" tIns="0" rIns="0" bIns="0" rtlCol="0" anchor="t"/>
          <a:lstStyle/>
          <a:p>
            <a:pPr indent="0" marL="0">
              <a:lnSpc>
                <a:spcPts val="1800"/>
              </a:lnSpc>
              <a:buNone/>
            </a:pPr>
            <a:r>
              <a:rPr lang="en-US" sz="1150" dirty="0">
                <a:solidFill>
                  <a:srgbClr val="8A93A6"/>
                </a:solidFill>
                <a:latin typeface="Calibri" pitchFamily="34" charset="0"/>
                <a:ea typeface="Calibri" pitchFamily="34" charset="-122"/>
                <a:cs typeface="Calibri" pitchFamily="34" charset="-120"/>
              </a:rPr>
              <a:t>Vision Amusement Park Pvt. Ltd. · CIN U93000DL2011PTC212814 · MSME classification Small Enterprise</a:t>
            </a:r>
            <a:endParaRPr lang="en-US" sz="1150" dirty="0"/>
          </a:p>
          <a:p>
            <a:pPr indent="0" marL="0">
              <a:lnSpc>
                <a:spcPts val="1800"/>
              </a:lnSpc>
              <a:buNone/>
            </a:pPr>
            <a:r>
              <a:rPr lang="en-US" sz="1150" dirty="0">
                <a:solidFill>
                  <a:srgbClr val="8A93A6"/>
                </a:solidFill>
                <a:latin typeface="Calibri" pitchFamily="34" charset="0"/>
                <a:ea typeface="Calibri" pitchFamily="34" charset="-122"/>
                <a:cs typeface="Calibri" pitchFamily="34" charset="-120"/>
              </a:rPr>
              <a:t>Prepared August 2026 · every figure generated from model/pf_model.py</a:t>
            </a:r>
            <a:endParaRPr lang="en-US" sz="1150" dirty="0"/>
          </a:p>
        </p:txBody>
      </p:sp>
      <p:sp>
        <p:nvSpPr>
          <p:cNvPr id="6" name="Shape 4"/>
          <p:cNvSpPr/>
          <p:nvPr/>
        </p:nvSpPr>
        <p:spPr>
          <a:xfrm>
            <a:off x="566928" y="4681728"/>
            <a:ext cx="11057839" cy="10973"/>
          </a:xfrm>
          <a:prstGeom prst="rect">
            <a:avLst/>
          </a:prstGeom>
          <a:solidFill>
            <a:srgbClr val="2A3247"/>
          </a:solidFill>
          <a:ln/>
        </p:spPr>
      </p:sp>
      <p:sp>
        <p:nvSpPr>
          <p:cNvPr id="7" name="Text 5"/>
          <p:cNvSpPr/>
          <p:nvPr/>
        </p:nvSpPr>
        <p:spPr>
          <a:xfrm>
            <a:off x="566928"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TOTAL FUNDING SOUGHT</a:t>
            </a:r>
            <a:endParaRPr lang="en-US" sz="950" dirty="0"/>
          </a:p>
        </p:txBody>
      </p:sp>
      <p:sp>
        <p:nvSpPr>
          <p:cNvPr id="8" name="Text 6"/>
          <p:cNvSpPr/>
          <p:nvPr/>
        </p:nvSpPr>
        <p:spPr>
          <a:xfrm>
            <a:off x="566928"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₹11.5 Cr</a:t>
            </a:r>
            <a:endParaRPr lang="en-US" sz="2900" dirty="0"/>
          </a:p>
        </p:txBody>
      </p:sp>
      <p:sp>
        <p:nvSpPr>
          <p:cNvPr id="9" name="Text 7"/>
          <p:cNvSpPr/>
          <p:nvPr/>
        </p:nvSpPr>
        <p:spPr>
          <a:xfrm>
            <a:off x="566928"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Across the three projects, as briefed</a:t>
            </a:r>
            <a:endParaRPr lang="en-US" sz="1000" dirty="0"/>
          </a:p>
        </p:txBody>
      </p:sp>
      <p:sp>
        <p:nvSpPr>
          <p:cNvPr id="10" name="Text 8"/>
          <p:cNvSpPr/>
          <p:nvPr/>
        </p:nvSpPr>
        <p:spPr>
          <a:xfrm>
            <a:off x="3395396"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TRUE CAPITAL AT RISK</a:t>
            </a:r>
            <a:endParaRPr lang="en-US" sz="950" dirty="0"/>
          </a:p>
        </p:txBody>
      </p:sp>
      <p:sp>
        <p:nvSpPr>
          <p:cNvPr id="11" name="Text 9"/>
          <p:cNvSpPr/>
          <p:nvPr/>
        </p:nvSpPr>
        <p:spPr>
          <a:xfrm>
            <a:off x="3395396"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₹8.1 Cr</a:t>
            </a:r>
            <a:endParaRPr lang="en-US" sz="2900" dirty="0"/>
          </a:p>
        </p:txBody>
      </p:sp>
      <p:sp>
        <p:nvSpPr>
          <p:cNvPr id="12" name="Text 10"/>
          <p:cNvSpPr/>
          <p:nvPr/>
        </p:nvSpPr>
        <p:spPr>
          <a:xfrm>
            <a:off x="3395396"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The balance is revolving liquidity</a:t>
            </a:r>
            <a:endParaRPr lang="en-US" sz="1000" dirty="0"/>
          </a:p>
        </p:txBody>
      </p:sp>
      <p:sp>
        <p:nvSpPr>
          <p:cNvPr id="13" name="Text 11"/>
          <p:cNvSpPr/>
          <p:nvPr/>
        </p:nvSpPr>
        <p:spPr>
          <a:xfrm>
            <a:off x="6223864"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CGTMSE CEILING</a:t>
            </a:r>
            <a:endParaRPr lang="en-US" sz="950" dirty="0"/>
          </a:p>
        </p:txBody>
      </p:sp>
      <p:sp>
        <p:nvSpPr>
          <p:cNvPr id="14" name="Text 12"/>
          <p:cNvSpPr/>
          <p:nvPr/>
        </p:nvSpPr>
        <p:spPr>
          <a:xfrm>
            <a:off x="6223864"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₹10 Cr</a:t>
            </a:r>
            <a:endParaRPr lang="en-US" sz="2900" dirty="0"/>
          </a:p>
        </p:txBody>
      </p:sp>
      <p:sp>
        <p:nvSpPr>
          <p:cNvPr id="15" name="Text 13"/>
          <p:cNvSpPr/>
          <p:nvPr/>
        </p:nvSpPr>
        <p:spPr>
          <a:xfrm>
            <a:off x="6223864"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Per borrower — the binding constraint</a:t>
            </a:r>
            <a:endParaRPr lang="en-US" sz="1000" dirty="0"/>
          </a:p>
        </p:txBody>
      </p:sp>
      <p:sp>
        <p:nvSpPr>
          <p:cNvPr id="16" name="Text 14"/>
          <p:cNvSpPr/>
          <p:nvPr/>
        </p:nvSpPr>
        <p:spPr>
          <a:xfrm>
            <a:off x="9052331"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GROSS DEMAND</a:t>
            </a:r>
            <a:endParaRPr lang="en-US" sz="950" dirty="0"/>
          </a:p>
        </p:txBody>
      </p:sp>
      <p:sp>
        <p:nvSpPr>
          <p:cNvPr id="17" name="Text 15"/>
          <p:cNvSpPr/>
          <p:nvPr/>
        </p:nvSpPr>
        <p:spPr>
          <a:xfrm>
            <a:off x="9052331"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₹14.5 Cr</a:t>
            </a:r>
            <a:endParaRPr lang="en-US" sz="2900" dirty="0"/>
          </a:p>
        </p:txBody>
      </p:sp>
      <p:sp>
        <p:nvSpPr>
          <p:cNvPr id="18" name="Text 16"/>
          <p:cNvSpPr/>
          <p:nvPr/>
        </p:nvSpPr>
        <p:spPr>
          <a:xfrm>
            <a:off x="9052331"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₹4.5 Cr over the ceiling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The three projects, compared</a:t>
            </a:r>
            <a:endParaRPr lang="en-US" sz="3000" dirty="0"/>
          </a:p>
        </p:txBody>
      </p:sp>
      <p:sp>
        <p:nvSpPr>
          <p:cNvPr id="5" name="Text 3"/>
          <p:cNvSpPr/>
          <p:nvPr/>
        </p:nvSpPr>
        <p:spPr>
          <a:xfrm>
            <a:off x="566928" y="950976"/>
            <a:ext cx="11057839" cy="23114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The same analysis run three times. What differs is not the method — it is how much capital each genuinely consumes, and what it earns on it.</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310132"/>
          <a:ext cx="11057839" cy="914400"/>
        </p:xfrm>
        <a:graphic>
          <a:graphicData uri="http://schemas.openxmlformats.org/drawingml/2006/table">
            <a:tbl>
              <a:tblPr/>
              <a:tblGrid>
                <a:gridCol w="3657600"/>
                <a:gridCol w="2466746"/>
                <a:gridCol w="2466746"/>
                <a:gridCol w="2466746"/>
              </a:tblGrid>
              <a:tr h="301752">
                <a:tc>
                  <a:txBody>
                    <a:bodyPr/>
                    <a:lstStyle/>
                    <a:p>
                      <a:pPr algn="l" indent="0" marL="0">
                        <a:buNone/>
                      </a:pP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Geeta Govind Vatika</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Ramayan Vatika</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Karnal</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Counterparty</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Agra Dev. Authority</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Bareilly Dev. Authority</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A4A Highway Nest LLP</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Term / lock-in</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7 + 4 yrs · none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10 + 5 yrs · 5 years</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15 yrs · none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Funding sought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₹3.35 Cr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₹4.17 Cr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₹4.00 Cr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True capital at risk</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₹1.39 Cr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₹2.36 Cr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₹4.38 Cr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Stabilised EBITDA margin (yr 5)</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21.6%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20.3%</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37.7%</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B4660"/>
                          </a:solidFill>
                          <a:latin typeface="Calibri" pitchFamily="34" charset="0"/>
                          <a:ea typeface="Calibri" pitchFamily="34" charset="-122"/>
                          <a:cs typeface="Calibri" pitchFamily="34" charset="-120"/>
                        </a:rPr>
                        <a:t>Project IRR</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10B981"/>
                          </a:solidFill>
                          <a:latin typeface="Calibri" pitchFamily="34" charset="0"/>
                          <a:ea typeface="Calibri" pitchFamily="34" charset="-122"/>
                          <a:cs typeface="Calibri" pitchFamily="34" charset="-120"/>
                        </a:rPr>
                        <a:t>18.7%</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C8553D"/>
                          </a:solidFill>
                          <a:latin typeface="Calibri" pitchFamily="34" charset="0"/>
                          <a:ea typeface="Calibri" pitchFamily="34" charset="-122"/>
                          <a:cs typeface="Calibri" pitchFamily="34" charset="-120"/>
                        </a:rPr>
                        <a:t>11.4%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10B981"/>
                          </a:solidFill>
                          <a:latin typeface="Calibri" pitchFamily="34" charset="0"/>
                          <a:ea typeface="Calibri" pitchFamily="34" charset="-122"/>
                          <a:cs typeface="Calibri" pitchFamily="34" charset="-120"/>
                        </a:rPr>
                        <a:t>19.5%</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Spread over guaranteed debt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0B981"/>
                          </a:solidFill>
                          <a:latin typeface="Calibri" pitchFamily="34" charset="0"/>
                          <a:ea typeface="Calibri" pitchFamily="34" charset="-122"/>
                          <a:cs typeface="Calibri" pitchFamily="34" charset="-120"/>
                        </a:rPr>
                        <a:t>+6.2 pp</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C8553D"/>
                          </a:solidFill>
                          <a:latin typeface="Calibri" pitchFamily="34" charset="0"/>
                          <a:ea typeface="Calibri" pitchFamily="34" charset="-122"/>
                          <a:cs typeface="Calibri" pitchFamily="34" charset="-120"/>
                        </a:rPr>
                        <a:t>-1.1 pp</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0B981"/>
                          </a:solidFill>
                          <a:latin typeface="Calibri" pitchFamily="34" charset="0"/>
                          <a:ea typeface="Calibri" pitchFamily="34" charset="-122"/>
                          <a:cs typeface="Calibri" pitchFamily="34" charset="-120"/>
                        </a:rPr>
                        <a:t>+7.0 pp</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Minimum DSCR at the size asked</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1.49×</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1.48×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Assets a lender can charge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None — ADA owns all</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None — expressly barred</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Yes — E-O-D owns fit-out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Equity IRR at project level</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0A1426"/>
                          </a:solidFill>
                          <a:latin typeface="Calibri" pitchFamily="34" charset="0"/>
                          <a:ea typeface="Calibri" pitchFamily="34" charset="-122"/>
                          <a:cs typeface="Calibri" pitchFamily="34" charset="-120"/>
                        </a:rPr>
                        <a:t>Recommended instrument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CGTMSE debt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CGTMSE debt, at reserve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CGTMSE debt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bl>
          </a:graphicData>
        </a:graphic>
      </p:graphicFrame>
      <p:sp>
        <p:nvSpPr>
          <p:cNvPr id="7" name="Shape 4"/>
          <p:cNvSpPr/>
          <p:nvPr/>
        </p:nvSpPr>
        <p:spPr>
          <a:xfrm>
            <a:off x="566928" y="5095748"/>
            <a:ext cx="11057839" cy="1267684"/>
          </a:xfrm>
          <a:prstGeom prst="roundRect">
            <a:avLst>
              <a:gd name="adj" fmla="val 3607"/>
            </a:avLst>
          </a:prstGeom>
          <a:solidFill>
            <a:srgbClr val="FBEFEC"/>
          </a:solidFill>
          <a:ln w="15875">
            <a:solidFill>
              <a:srgbClr val="C8553D"/>
            </a:solidFill>
            <a:prstDash val="solid"/>
          </a:ln>
        </p:spPr>
      </p:sp>
      <p:sp>
        <p:nvSpPr>
          <p:cNvPr id="8" name="Text 5"/>
          <p:cNvSpPr/>
          <p:nvPr/>
        </p:nvSpPr>
        <p:spPr>
          <a:xfrm>
            <a:off x="804672" y="5205476"/>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9" name="Text 6"/>
          <p:cNvSpPr/>
          <p:nvPr/>
        </p:nvSpPr>
        <p:spPr>
          <a:xfrm>
            <a:off x="804672" y="5388356"/>
            <a:ext cx="10582351" cy="212649"/>
          </a:xfrm>
          <a:prstGeom prst="rect">
            <a:avLst/>
          </a:prstGeom>
          <a:noFill/>
          <a:ln/>
        </p:spPr>
        <p:txBody>
          <a:bodyPr wrap="square" lIns="0" tIns="0" rIns="0" bIns="0" rtlCol="0" anchor="t"/>
          <a:lstStyle/>
          <a:p>
            <a:pPr indent="0" marL="0">
              <a:lnSpc>
                <a:spcPts val="1610"/>
              </a:lnSpc>
              <a:buNone/>
            </a:pPr>
            <a:r>
              <a:rPr lang="en-US" sz="1400" b="1" dirty="0">
                <a:solidFill>
                  <a:srgbClr val="0A1426"/>
                </a:solidFill>
                <a:latin typeface="Calibri" pitchFamily="34" charset="0"/>
                <a:ea typeface="Calibri" pitchFamily="34" charset="-122"/>
                <a:cs typeface="Calibri" pitchFamily="34" charset="-120"/>
              </a:rPr>
              <a:t>The same conclusion three times, for the same reason</a:t>
            </a:r>
            <a:endParaRPr lang="en-US" sz="1400" dirty="0"/>
          </a:p>
        </p:txBody>
      </p:sp>
      <p:sp>
        <p:nvSpPr>
          <p:cNvPr id="10" name="Text 7"/>
          <p:cNvSpPr/>
          <p:nvPr/>
        </p:nvSpPr>
        <p:spPr>
          <a:xfrm>
            <a:off x="804672" y="5655869"/>
            <a:ext cx="10582351" cy="634411"/>
          </a:xfrm>
          <a:prstGeom prst="rect">
            <a:avLst/>
          </a:prstGeom>
          <a:noFill/>
          <a:ln/>
        </p:spPr>
        <p:txBody>
          <a:bodyPr wrap="square" lIns="0" tIns="0" rIns="0" bIns="0" rtlCol="0" anchor="t"/>
          <a:lstStyle/>
          <a:p>
            <a:pPr indent="0" marL="0">
              <a:lnSpc>
                <a:spcPts val="1278"/>
              </a:lnSpc>
              <a:buNone/>
            </a:pPr>
            <a:r>
              <a:rPr lang="en-US" sz="900" dirty="0">
                <a:solidFill>
                  <a:srgbClr val="3B4660"/>
                </a:solidFill>
                <a:latin typeface="Calibri" pitchFamily="34" charset="0"/>
                <a:ea typeface="Calibri" pitchFamily="34" charset="-122"/>
                <a:cs typeface="Calibri" pitchFamily="34" charset="-120"/>
              </a:rPr>
              <a:t>None of the three clears an equity hurdle at project level, and it is not because any is a bad project. A single park generating ₹1–2.5 crore of mature EBITDA cannot pay a 22% return on the capital it needs and leave an operator's margin. Equity works on a portfolio and a brand; it does not work one licence at a time. Two of the three out-earn guaranteed debt comfortably — fund them with it and keep the spread.</a:t>
            </a:r>
            <a:endParaRPr lang="en-US" sz="900" dirty="0"/>
          </a:p>
        </p:txBody>
      </p:sp>
      <p:sp>
        <p:nvSpPr>
          <p:cNvPr id="11"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E-O-D Parks · Project finance portfolio</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The CGTMSE framework</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Every debt structure in this pack rests on the Credit Guarantee Fund Trust for Micro and Small Enterprises. The scheme changed materially on 1 April 2025, and the change is what makes this pack possible.</a:t>
            </a:r>
            <a:endParaRPr lang="en-US" sz="1250" dirty="0"/>
          </a:p>
        </p:txBody>
      </p:sp>
      <p:sp>
        <p:nvSpPr>
          <p:cNvPr id="6" name="Shape 4"/>
          <p:cNvSpPr/>
          <p:nvPr/>
        </p:nvSpPr>
        <p:spPr>
          <a:xfrm>
            <a:off x="566928" y="1541272"/>
            <a:ext cx="3539642" cy="1225296"/>
          </a:xfrm>
          <a:prstGeom prst="roundRect">
            <a:avLst>
              <a:gd name="adj" fmla="val 4478"/>
            </a:avLst>
          </a:prstGeom>
          <a:solidFill>
            <a:srgbClr val="EDFAF4"/>
          </a:solidFill>
          <a:ln w="12700">
            <a:solidFill>
              <a:srgbClr val="10B981"/>
            </a:solidFill>
            <a:prstDash val="solid"/>
          </a:ln>
        </p:spPr>
      </p:sp>
      <p:sp>
        <p:nvSpPr>
          <p:cNvPr id="7" name="Text 5"/>
          <p:cNvSpPr/>
          <p:nvPr/>
        </p:nvSpPr>
        <p:spPr>
          <a:xfrm>
            <a:off x="749808" y="1660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GUARANTEE CEILING</a:t>
            </a:r>
            <a:endParaRPr lang="en-US" sz="850" dirty="0"/>
          </a:p>
        </p:txBody>
      </p:sp>
      <p:sp>
        <p:nvSpPr>
          <p:cNvPr id="8" name="Text 6"/>
          <p:cNvSpPr/>
          <p:nvPr/>
        </p:nvSpPr>
        <p:spPr>
          <a:xfrm>
            <a:off x="749808" y="1907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₹10 Cr</a:t>
            </a:r>
            <a:endParaRPr lang="en-US" sz="2600" dirty="0"/>
          </a:p>
        </p:txBody>
      </p:sp>
      <p:sp>
        <p:nvSpPr>
          <p:cNvPr id="9" name="Text 7"/>
          <p:cNvSpPr/>
          <p:nvPr/>
        </p:nvSpPr>
        <p:spPr>
          <a:xfrm>
            <a:off x="749808" y="2382520"/>
            <a:ext cx="3173882" cy="310896"/>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Doubled from ₹5 Cr on 1 April 2025. Per borrower, aggregated across all lenders</a:t>
            </a:r>
            <a:endParaRPr lang="en-US" sz="950" dirty="0"/>
          </a:p>
        </p:txBody>
      </p:sp>
      <p:sp>
        <p:nvSpPr>
          <p:cNvPr id="10" name="Shape 8"/>
          <p:cNvSpPr/>
          <p:nvPr/>
        </p:nvSpPr>
        <p:spPr>
          <a:xfrm>
            <a:off x="4326026" y="1541272"/>
            <a:ext cx="3539642" cy="1225296"/>
          </a:xfrm>
          <a:prstGeom prst="roundRect">
            <a:avLst>
              <a:gd name="adj" fmla="val 4478"/>
            </a:avLst>
          </a:prstGeom>
          <a:solidFill>
            <a:srgbClr val="F5F6F8"/>
          </a:solidFill>
          <a:ln w="12700">
            <a:solidFill>
              <a:srgbClr val="E2E4EA"/>
            </a:solidFill>
            <a:prstDash val="solid"/>
          </a:ln>
        </p:spPr>
      </p:sp>
      <p:sp>
        <p:nvSpPr>
          <p:cNvPr id="11" name="Text 9"/>
          <p:cNvSpPr/>
          <p:nvPr/>
        </p:nvSpPr>
        <p:spPr>
          <a:xfrm>
            <a:off x="4508906" y="1660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COVERAGE FOR A SMALL ENTERPRISE</a:t>
            </a:r>
            <a:endParaRPr lang="en-US" sz="850" dirty="0"/>
          </a:p>
        </p:txBody>
      </p:sp>
      <p:sp>
        <p:nvSpPr>
          <p:cNvPr id="12" name="Text 10"/>
          <p:cNvSpPr/>
          <p:nvPr/>
        </p:nvSpPr>
        <p:spPr>
          <a:xfrm>
            <a:off x="4508906" y="1907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75%</a:t>
            </a:r>
            <a:endParaRPr lang="en-US" sz="2600" dirty="0"/>
          </a:p>
        </p:txBody>
      </p:sp>
      <p:sp>
        <p:nvSpPr>
          <p:cNvPr id="13" name="Text 11"/>
          <p:cNvSpPr/>
          <p:nvPr/>
        </p:nvSpPr>
        <p:spPr>
          <a:xfrm>
            <a:off x="4508906" y="2382520"/>
            <a:ext cx="3173882" cy="310896"/>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Up to 85% for micro, women-owned, NER and ZED units</a:t>
            </a:r>
            <a:endParaRPr lang="en-US" sz="950" dirty="0"/>
          </a:p>
        </p:txBody>
      </p:sp>
      <p:sp>
        <p:nvSpPr>
          <p:cNvPr id="14" name="Shape 12"/>
          <p:cNvSpPr/>
          <p:nvPr/>
        </p:nvSpPr>
        <p:spPr>
          <a:xfrm>
            <a:off x="8085125" y="1541272"/>
            <a:ext cx="3539642" cy="1225296"/>
          </a:xfrm>
          <a:prstGeom prst="roundRect">
            <a:avLst>
              <a:gd name="adj" fmla="val 4478"/>
            </a:avLst>
          </a:prstGeom>
          <a:solidFill>
            <a:srgbClr val="F5F6F8"/>
          </a:solidFill>
          <a:ln w="12700">
            <a:solidFill>
              <a:srgbClr val="E2E4EA"/>
            </a:solidFill>
            <a:prstDash val="solid"/>
          </a:ln>
        </p:spPr>
      </p:sp>
      <p:sp>
        <p:nvSpPr>
          <p:cNvPr id="15" name="Text 13"/>
          <p:cNvSpPr/>
          <p:nvPr/>
        </p:nvSpPr>
        <p:spPr>
          <a:xfrm>
            <a:off x="8268005" y="1660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COLLATERAL REQUIRED</a:t>
            </a:r>
            <a:endParaRPr lang="en-US" sz="850" dirty="0"/>
          </a:p>
        </p:txBody>
      </p:sp>
      <p:sp>
        <p:nvSpPr>
          <p:cNvPr id="16" name="Text 14"/>
          <p:cNvSpPr/>
          <p:nvPr/>
        </p:nvSpPr>
        <p:spPr>
          <a:xfrm>
            <a:off x="8268005" y="1907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Nil</a:t>
            </a:r>
            <a:endParaRPr lang="en-US" sz="2600" dirty="0"/>
          </a:p>
        </p:txBody>
      </p:sp>
      <p:sp>
        <p:nvSpPr>
          <p:cNvPr id="17" name="Text 15"/>
          <p:cNvSpPr/>
          <p:nvPr/>
        </p:nvSpPr>
        <p:spPr>
          <a:xfrm>
            <a:off x="8268005" y="2382520"/>
            <a:ext cx="3173882" cy="310896"/>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On the guaranteed portion. Third-party guarantee not permitted; director personal guarantee is</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3004312"/>
          <a:ext cx="11057839" cy="914400"/>
        </p:xfrm>
        <a:graphic>
          <a:graphicData uri="http://schemas.openxmlformats.org/drawingml/2006/table">
            <a:tbl>
              <a:tblPr/>
              <a:tblGrid>
                <a:gridCol w="2651760"/>
                <a:gridCol w="8406079"/>
              </a:tblGrid>
              <a:tr h="347472">
                <a:tc>
                  <a:txBody>
                    <a:bodyPr/>
                    <a:lstStyle/>
                    <a:p>
                      <a:pPr algn="l" indent="0" marL="0">
                        <a:buNone/>
                      </a:pPr>
                      <a:r>
                        <a:rPr lang="en-US" sz="950" b="1" spc="100" kern="0" dirty="0">
                          <a:solidFill>
                            <a:srgbClr val="6E7689"/>
                          </a:solidFill>
                          <a:latin typeface="Calibri" pitchFamily="34" charset="0"/>
                          <a:ea typeface="Calibri" pitchFamily="34" charset="-122"/>
                          <a:cs typeface="Calibri" pitchFamily="34" charset="-120"/>
                        </a:rPr>
                        <a:t>Parameter</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Position</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Eligible borrowers</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Micro and small enterprises with a live Udyam registration. Amusement and recreation is a covered service activity</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Ceiling basis</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Per borrower, across all member lending institutions — four sanctions from four banks still share one ceiling</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Hybrid security</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Permitted — collateral on part of a facility with the remainder guaranteed. The route for exposure above the ceiling</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Interest rate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MLI rate not to exceed ~3% over its EBLR or MCLR. NBFC pricing for the same borrower runs 14–22%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Guarantee fee basis</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On the sanctioned amount in year 1; on the outstanding thereafter — an over-sanctioned, undrawn limit is expensive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bl>
          </a:graphicData>
        </a:graphic>
      </p:graphicFrame>
      <p:sp>
        <p:nvSpPr>
          <p:cNvPr id="19" name="Shape 16"/>
          <p:cNvSpPr/>
          <p:nvPr/>
        </p:nvSpPr>
        <p:spPr>
          <a:xfrm>
            <a:off x="566928" y="5253736"/>
            <a:ext cx="11057839" cy="1098885"/>
          </a:xfrm>
          <a:prstGeom prst="roundRect">
            <a:avLst>
              <a:gd name="adj" fmla="val 4161"/>
            </a:avLst>
          </a:prstGeom>
          <a:solidFill>
            <a:srgbClr val="FDF6EC"/>
          </a:solidFill>
          <a:ln w="15875">
            <a:solidFill>
              <a:srgbClr val="D97706"/>
            </a:solidFill>
            <a:prstDash val="solid"/>
          </a:ln>
        </p:spPr>
      </p:sp>
      <p:sp>
        <p:nvSpPr>
          <p:cNvPr id="20" name="Text 17"/>
          <p:cNvSpPr/>
          <p:nvPr/>
        </p:nvSpPr>
        <p:spPr>
          <a:xfrm>
            <a:off x="804672" y="5363464"/>
            <a:ext cx="2743200" cy="182880"/>
          </a:xfrm>
          <a:prstGeom prst="rect">
            <a:avLst/>
          </a:prstGeom>
          <a:noFill/>
          <a:ln/>
        </p:spPr>
        <p:txBody>
          <a:bodyPr wrap="square" lIns="0" tIns="0" rIns="0" bIns="0" rtlCol="0" anchor="ctr"/>
          <a:lstStyle/>
          <a:p>
            <a:pPr indent="0" marL="0">
              <a:buNone/>
            </a:pPr>
            <a:r>
              <a:rPr lang="en-US" sz="850" b="1" spc="160" kern="0" dirty="0">
                <a:solidFill>
                  <a:srgbClr val="D97706"/>
                </a:solidFill>
                <a:latin typeface="Calibri" pitchFamily="34" charset="0"/>
                <a:ea typeface="Calibri" pitchFamily="34" charset="-122"/>
                <a:cs typeface="Calibri" pitchFamily="34" charset="-120"/>
              </a:rPr>
              <a:t>VERDICT</a:t>
            </a:r>
            <a:endParaRPr lang="en-US" sz="850" dirty="0"/>
          </a:p>
        </p:txBody>
      </p:sp>
      <p:sp>
        <p:nvSpPr>
          <p:cNvPr id="21" name="Text 18"/>
          <p:cNvSpPr/>
          <p:nvPr/>
        </p:nvSpPr>
        <p:spPr>
          <a:xfrm>
            <a:off x="804672" y="5546344"/>
            <a:ext cx="10582351" cy="212649"/>
          </a:xfrm>
          <a:prstGeom prst="rect">
            <a:avLst/>
          </a:prstGeom>
          <a:noFill/>
          <a:ln/>
        </p:spPr>
        <p:txBody>
          <a:bodyPr wrap="square" lIns="0" tIns="0" rIns="0" bIns="0" rtlCol="0" anchor="t"/>
          <a:lstStyle/>
          <a:p>
            <a:pPr indent="0" marL="0">
              <a:lnSpc>
                <a:spcPts val="1610"/>
              </a:lnSpc>
              <a:buNone/>
            </a:pPr>
            <a:r>
              <a:rPr lang="en-US" sz="1400" b="1" dirty="0">
                <a:solidFill>
                  <a:srgbClr val="0A1426"/>
                </a:solidFill>
                <a:latin typeface="Calibri" pitchFamily="34" charset="0"/>
                <a:ea typeface="Calibri" pitchFamily="34" charset="-122"/>
                <a:cs typeface="Calibri" pitchFamily="34" charset="-120"/>
              </a:rPr>
              <a:t>Verify before you apply, not after</a:t>
            </a:r>
            <a:endParaRPr lang="en-US" sz="1400" dirty="0"/>
          </a:p>
        </p:txBody>
      </p:sp>
      <p:sp>
        <p:nvSpPr>
          <p:cNvPr id="22" name="Text 19"/>
          <p:cNvSpPr/>
          <p:nvPr/>
        </p:nvSpPr>
        <p:spPr>
          <a:xfrm>
            <a:off x="804672" y="5813857"/>
            <a:ext cx="10582351" cy="465612"/>
          </a:xfrm>
          <a:prstGeom prst="rect">
            <a:avLst/>
          </a:prstGeom>
          <a:noFill/>
          <a:ln/>
        </p:spPr>
        <p:txBody>
          <a:bodyPr wrap="square" lIns="0" tIns="0" rIns="0" bIns="0" rtlCol="0" anchor="t"/>
          <a:lstStyle/>
          <a:p>
            <a:pPr indent="0" marL="0">
              <a:lnSpc>
                <a:spcPts val="1278"/>
              </a:lnSpc>
              <a:buNone/>
            </a:pPr>
            <a:r>
              <a:rPr lang="en-US" sz="900" dirty="0">
                <a:solidFill>
                  <a:srgbClr val="3B4660"/>
                </a:solidFill>
                <a:latin typeface="Calibri" pitchFamily="34" charset="0"/>
                <a:ea typeface="Calibri" pitchFamily="34" charset="-122"/>
                <a:cs typeface="Calibri" pitchFamily="34" charset="-120"/>
              </a:rPr>
              <a:t>CGTMSE parameters are revised by circular and vary between lending institutions. These reflect the April 2025 revisions, checked against public sources in August 2026. Confirm the operative circular with the lender before relying on any number here.</a:t>
            </a:r>
            <a:endParaRPr lang="en-US" sz="900" dirty="0"/>
          </a:p>
        </p:txBody>
      </p:sp>
      <p:sp>
        <p:nvSpPr>
          <p:cNvPr id="23" name="Text 20"/>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E-O-D Parks · Project finance portfolio</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The ceiling problem</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The single most important structural fact in the pack, and easy to miss: the ₹10 crore ceiling is per borrower — not per project, per facility or per lender.</a:t>
            </a:r>
            <a:endParaRPr lang="en-US" sz="1250" dirty="0"/>
          </a:p>
        </p:txBody>
      </p:sp>
      <p:graphicFrame>
        <p:nvGraphicFramePr>
          <p:cNvPr id="6" name="Chart 0" descr=""/>
          <p:cNvGraphicFramePr/>
          <p:nvPr/>
        </p:nvGraphicFramePr>
        <p:xfrm>
          <a:off x="566928" y="1541272"/>
          <a:ext cx="11057839" cy="2057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3827272"/>
            <a:ext cx="3539642" cy="1170432"/>
          </a:xfrm>
          <a:prstGeom prst="roundRect">
            <a:avLst>
              <a:gd name="adj" fmla="val 4688"/>
            </a:avLst>
          </a:prstGeom>
          <a:solidFill>
            <a:srgbClr val="F5F6F8"/>
          </a:solidFill>
          <a:ln w="12700">
            <a:solidFill>
              <a:srgbClr val="E2E4EA"/>
            </a:solidFill>
            <a:prstDash val="solid"/>
          </a:ln>
        </p:spPr>
      </p:sp>
      <p:sp>
        <p:nvSpPr>
          <p:cNvPr id="8" name="Text 5"/>
          <p:cNvSpPr/>
          <p:nvPr/>
        </p:nvSpPr>
        <p:spPr>
          <a:xfrm>
            <a:off x="749808" y="3946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GROSS DEMAND</a:t>
            </a:r>
            <a:endParaRPr lang="en-US" sz="850" dirty="0"/>
          </a:p>
        </p:txBody>
      </p:sp>
      <p:sp>
        <p:nvSpPr>
          <p:cNvPr id="9" name="Text 6"/>
          <p:cNvSpPr/>
          <p:nvPr/>
        </p:nvSpPr>
        <p:spPr>
          <a:xfrm>
            <a:off x="749808" y="4193032"/>
            <a:ext cx="3173882" cy="457200"/>
          </a:xfrm>
          <a:prstGeom prst="rect">
            <a:avLst/>
          </a:prstGeom>
          <a:noFill/>
          <a:ln/>
        </p:spPr>
        <p:txBody>
          <a:bodyPr wrap="square" lIns="0" tIns="0" rIns="0" bIns="0" rtlCol="0" anchor="t">
            <a:normAutofit/>
          </a:bodyPr>
          <a:lstStyle/>
          <a:p>
            <a:pPr indent="0" marL="0">
              <a:buNone/>
            </a:pPr>
            <a:r>
              <a:rPr lang="en-US" sz="2600" b="1" dirty="0">
                <a:solidFill>
                  <a:srgbClr val="C8553D"/>
                </a:solidFill>
                <a:latin typeface="Calibri" pitchFamily="34" charset="0"/>
                <a:ea typeface="Calibri" pitchFamily="34" charset="-122"/>
                <a:cs typeface="Calibri" pitchFamily="34" charset="-120"/>
              </a:rPr>
              <a:t>₹14.5 Cr</a:t>
            </a:r>
            <a:endParaRPr lang="en-US" sz="2600" dirty="0"/>
          </a:p>
        </p:txBody>
      </p:sp>
      <p:sp>
        <p:nvSpPr>
          <p:cNvPr id="10" name="Text 7"/>
          <p:cNvSpPr/>
          <p:nvPr/>
        </p:nvSpPr>
        <p:spPr>
          <a:xfrm>
            <a:off x="749808" y="4668520"/>
            <a:ext cx="3173882" cy="256032"/>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Adding the composite facilities from each deck plus company working capital</a:t>
            </a:r>
            <a:endParaRPr lang="en-US" sz="950" dirty="0"/>
          </a:p>
        </p:txBody>
      </p:sp>
      <p:sp>
        <p:nvSpPr>
          <p:cNvPr id="11" name="Shape 8"/>
          <p:cNvSpPr/>
          <p:nvPr/>
        </p:nvSpPr>
        <p:spPr>
          <a:xfrm>
            <a:off x="4326026" y="3827272"/>
            <a:ext cx="3539642" cy="1170432"/>
          </a:xfrm>
          <a:prstGeom prst="roundRect">
            <a:avLst>
              <a:gd name="adj" fmla="val 4688"/>
            </a:avLst>
          </a:prstGeom>
          <a:solidFill>
            <a:srgbClr val="F5F6F8"/>
          </a:solidFill>
          <a:ln w="12700">
            <a:solidFill>
              <a:srgbClr val="E2E4EA"/>
            </a:solidFill>
            <a:prstDash val="solid"/>
          </a:ln>
        </p:spPr>
      </p:sp>
      <p:sp>
        <p:nvSpPr>
          <p:cNvPr id="12" name="Text 9"/>
          <p:cNvSpPr/>
          <p:nvPr/>
        </p:nvSpPr>
        <p:spPr>
          <a:xfrm>
            <a:off x="4508906" y="3946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CGTMSE CEILING</a:t>
            </a:r>
            <a:endParaRPr lang="en-US" sz="850" dirty="0"/>
          </a:p>
        </p:txBody>
      </p:sp>
      <p:sp>
        <p:nvSpPr>
          <p:cNvPr id="13" name="Text 10"/>
          <p:cNvSpPr/>
          <p:nvPr/>
        </p:nvSpPr>
        <p:spPr>
          <a:xfrm>
            <a:off x="4508906" y="4193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₹10 Cr</a:t>
            </a:r>
            <a:endParaRPr lang="en-US" sz="2600" dirty="0"/>
          </a:p>
        </p:txBody>
      </p:sp>
      <p:sp>
        <p:nvSpPr>
          <p:cNvPr id="14" name="Text 11"/>
          <p:cNvSpPr/>
          <p:nvPr/>
        </p:nvSpPr>
        <p:spPr>
          <a:xfrm>
            <a:off x="4508906" y="4668520"/>
            <a:ext cx="3173882" cy="256032"/>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Per borrower, across all member lending institutions</a:t>
            </a:r>
            <a:endParaRPr lang="en-US" sz="950" dirty="0"/>
          </a:p>
        </p:txBody>
      </p:sp>
      <p:sp>
        <p:nvSpPr>
          <p:cNvPr id="15" name="Shape 12"/>
          <p:cNvSpPr/>
          <p:nvPr/>
        </p:nvSpPr>
        <p:spPr>
          <a:xfrm>
            <a:off x="8085125" y="3827272"/>
            <a:ext cx="3539642" cy="1170432"/>
          </a:xfrm>
          <a:prstGeom prst="roundRect">
            <a:avLst>
              <a:gd name="adj" fmla="val 4688"/>
            </a:avLst>
          </a:prstGeom>
          <a:solidFill>
            <a:srgbClr val="FBF1EE"/>
          </a:solidFill>
          <a:ln w="12700">
            <a:solidFill>
              <a:srgbClr val="C8553D"/>
            </a:solidFill>
            <a:prstDash val="solid"/>
          </a:ln>
        </p:spPr>
      </p:sp>
      <p:sp>
        <p:nvSpPr>
          <p:cNvPr id="16" name="Text 13"/>
          <p:cNvSpPr/>
          <p:nvPr/>
        </p:nvSpPr>
        <p:spPr>
          <a:xfrm>
            <a:off x="8268005" y="3946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TO FUND ANOTHER WAY</a:t>
            </a:r>
            <a:endParaRPr lang="en-US" sz="850" dirty="0"/>
          </a:p>
        </p:txBody>
      </p:sp>
      <p:sp>
        <p:nvSpPr>
          <p:cNvPr id="17" name="Text 14"/>
          <p:cNvSpPr/>
          <p:nvPr/>
        </p:nvSpPr>
        <p:spPr>
          <a:xfrm>
            <a:off x="8268005" y="4193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₹4.5 Cr</a:t>
            </a:r>
            <a:endParaRPr lang="en-US" sz="2600" dirty="0"/>
          </a:p>
        </p:txBody>
      </p:sp>
      <p:sp>
        <p:nvSpPr>
          <p:cNvPr id="18" name="Text 15"/>
          <p:cNvSpPr/>
          <p:nvPr/>
        </p:nvSpPr>
        <p:spPr>
          <a:xfrm>
            <a:off x="8268005" y="4668520"/>
            <a:ext cx="3173882" cy="256032"/>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Hybrid security, or the company-level equity round</a:t>
            </a:r>
            <a:endParaRPr lang="en-US" sz="950" dirty="0"/>
          </a:p>
        </p:txBody>
      </p:sp>
      <p:sp>
        <p:nvSpPr>
          <p:cNvPr id="19" name="Shape 16"/>
          <p:cNvSpPr/>
          <p:nvPr/>
        </p:nvSpPr>
        <p:spPr>
          <a:xfrm>
            <a:off x="566928" y="5253736"/>
            <a:ext cx="11057839" cy="1098885"/>
          </a:xfrm>
          <a:prstGeom prst="roundRect">
            <a:avLst>
              <a:gd name="adj" fmla="val 4161"/>
            </a:avLst>
          </a:prstGeom>
          <a:solidFill>
            <a:srgbClr val="F1F5FE"/>
          </a:solidFill>
          <a:ln w="15875">
            <a:solidFill>
              <a:srgbClr val="2B66EA"/>
            </a:solidFill>
            <a:prstDash val="solid"/>
          </a:ln>
        </p:spPr>
      </p:sp>
      <p:sp>
        <p:nvSpPr>
          <p:cNvPr id="20" name="Text 17"/>
          <p:cNvSpPr/>
          <p:nvPr/>
        </p:nvSpPr>
        <p:spPr>
          <a:xfrm>
            <a:off x="804672" y="5363464"/>
            <a:ext cx="2743200" cy="182880"/>
          </a:xfrm>
          <a:prstGeom prst="rect">
            <a:avLst/>
          </a:prstGeom>
          <a:noFill/>
          <a:ln/>
        </p:spPr>
        <p:txBody>
          <a:bodyPr wrap="square" lIns="0" tIns="0" rIns="0" bIns="0" rtlCol="0" anchor="ctr"/>
          <a:lstStyle/>
          <a:p>
            <a:pPr indent="0" marL="0">
              <a:buNone/>
            </a:pPr>
            <a:r>
              <a:rPr lang="en-US" sz="850" b="1" spc="160" kern="0" dirty="0">
                <a:solidFill>
                  <a:srgbClr val="2A51A3"/>
                </a:solidFill>
                <a:latin typeface="Calibri" pitchFamily="34" charset="0"/>
                <a:ea typeface="Calibri" pitchFamily="34" charset="-122"/>
                <a:cs typeface="Calibri" pitchFamily="34" charset="-120"/>
              </a:rPr>
              <a:t>NOTE</a:t>
            </a:r>
            <a:endParaRPr lang="en-US" sz="850" dirty="0"/>
          </a:p>
        </p:txBody>
      </p:sp>
      <p:sp>
        <p:nvSpPr>
          <p:cNvPr id="21" name="Text 18"/>
          <p:cNvSpPr/>
          <p:nvPr/>
        </p:nvSpPr>
        <p:spPr>
          <a:xfrm>
            <a:off x="804672" y="5546344"/>
            <a:ext cx="10582351" cy="212649"/>
          </a:xfrm>
          <a:prstGeom prst="rect">
            <a:avLst/>
          </a:prstGeom>
          <a:noFill/>
          <a:ln/>
        </p:spPr>
        <p:txBody>
          <a:bodyPr wrap="square" lIns="0" tIns="0" rIns="0" bIns="0" rtlCol="0" anchor="t"/>
          <a:lstStyle/>
          <a:p>
            <a:pPr indent="0" marL="0">
              <a:lnSpc>
                <a:spcPts val="1610"/>
              </a:lnSpc>
              <a:buNone/>
            </a:pPr>
            <a:r>
              <a:rPr lang="en-US" sz="1400" b="1" dirty="0">
                <a:solidFill>
                  <a:srgbClr val="0A1426"/>
                </a:solidFill>
                <a:latin typeface="Calibri" pitchFamily="34" charset="0"/>
                <a:ea typeface="Calibri" pitchFamily="34" charset="-122"/>
                <a:cs typeface="Calibri" pitchFamily="34" charset="-120"/>
              </a:rPr>
              <a:t>Routes for the residual</a:t>
            </a:r>
            <a:endParaRPr lang="en-US" sz="1400" dirty="0"/>
          </a:p>
        </p:txBody>
      </p:sp>
      <p:sp>
        <p:nvSpPr>
          <p:cNvPr id="22" name="Text 19"/>
          <p:cNvSpPr/>
          <p:nvPr/>
        </p:nvSpPr>
        <p:spPr>
          <a:xfrm>
            <a:off x="804672" y="5813857"/>
            <a:ext cx="10582351" cy="465612"/>
          </a:xfrm>
          <a:prstGeom prst="rect">
            <a:avLst/>
          </a:prstGeom>
          <a:noFill/>
          <a:ln/>
        </p:spPr>
        <p:txBody>
          <a:bodyPr wrap="square" lIns="0" tIns="0" rIns="0" bIns="0" rtlCol="0" anchor="t"/>
          <a:lstStyle/>
          <a:p>
            <a:pPr indent="0" marL="0">
              <a:lnSpc>
                <a:spcPts val="1278"/>
              </a:lnSpc>
              <a:buNone/>
            </a:pPr>
            <a:r>
              <a:rPr lang="en-US" sz="900" dirty="0">
                <a:solidFill>
                  <a:srgbClr val="3B4660"/>
                </a:solidFill>
                <a:latin typeface="Calibri" pitchFamily="34" charset="0"/>
                <a:ea typeface="Calibri" pitchFamily="34" charset="-122"/>
                <a:cs typeface="Calibri" pitchFamily="34" charset="-120"/>
              </a:rPr>
              <a:t>Hybrid security is preferred — CGTMSE permits collateral on part of a facility with the balance guaranteed, needing no new entity and no consent. The company-level round covers the rest. Separate SPVs are legally available but fail the eligibility tests in both RFPs.</a:t>
            </a:r>
            <a:endParaRPr lang="en-US" sz="900" dirty="0"/>
          </a:p>
        </p:txBody>
      </p:sp>
      <p:sp>
        <p:nvSpPr>
          <p:cNvPr id="23" name="Text 20"/>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E-O-D Parks · Project finance portfolio</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426"/>
        </a:solidFill>
      </p:bgPr>
    </p:bg>
    <p:spTree>
      <p:nvGrpSpPr>
        <p:cNvPr id="1" name=""/>
        <p:cNvGrpSpPr/>
        <p:nvPr/>
      </p:nvGrpSpPr>
      <p:grpSpPr>
        <a:xfrm>
          <a:off x="0" y="0"/>
          <a:ext cx="0" cy="0"/>
          <a:chOff x="0" y="0"/>
          <a:chExt cx="0" cy="0"/>
        </a:xfrm>
      </p:grpSpPr>
      <p:sp>
        <p:nvSpPr>
          <p:cNvPr id="2" name="Text 0"/>
          <p:cNvSpPr/>
          <p:nvPr/>
        </p:nvSpPr>
        <p:spPr>
          <a:xfrm>
            <a:off x="566928" y="548640"/>
            <a:ext cx="7315200" cy="256032"/>
          </a:xfrm>
          <a:prstGeom prst="rect">
            <a:avLst/>
          </a:prstGeom>
          <a:noFill/>
          <a:ln/>
        </p:spPr>
        <p:txBody>
          <a:bodyPr wrap="square" lIns="0" tIns="0" rIns="0" bIns="0" rtlCol="0" anchor="ctr"/>
          <a:lstStyle/>
          <a:p>
            <a:pPr indent="0" marL="0">
              <a:buNone/>
            </a:pPr>
            <a:r>
              <a:rPr lang="en-US" sz="1100" b="1" spc="220" kern="0" dirty="0">
                <a:solidFill>
                  <a:srgbClr val="10B981"/>
                </a:solidFill>
                <a:latin typeface="Calibri" pitchFamily="34" charset="0"/>
                <a:ea typeface="Calibri" pitchFamily="34" charset="-122"/>
                <a:cs typeface="Calibri" pitchFamily="34" charset="-120"/>
              </a:rPr>
              <a:t>THE RECOMMENDED SEQUENCE</a:t>
            </a:r>
            <a:endParaRPr lang="en-US" sz="1100" dirty="0"/>
          </a:p>
        </p:txBody>
      </p:sp>
      <p:sp>
        <p:nvSpPr>
          <p:cNvPr id="3" name="Text 1"/>
          <p:cNvSpPr/>
          <p:nvPr/>
        </p:nvSpPr>
        <p:spPr>
          <a:xfrm>
            <a:off x="566928" y="896112"/>
            <a:ext cx="11057839" cy="914400"/>
          </a:xfrm>
          <a:prstGeom prst="rect">
            <a:avLst/>
          </a:prstGeom>
          <a:noFill/>
          <a:ln/>
        </p:spPr>
        <p:txBody>
          <a:bodyPr wrap="square" lIns="0" tIns="0" rIns="0" bIns="0" rtlCol="0" anchor="t"/>
          <a:lstStyle/>
          <a:p>
            <a:pPr indent="0" marL="0">
              <a:lnSpc>
                <a:spcPts val="3800"/>
              </a:lnSpc>
              <a:buNone/>
            </a:pPr>
            <a:r>
              <a:rPr lang="en-US" sz="3400" b="1" dirty="0">
                <a:solidFill>
                  <a:srgbClr val="FFFFFF"/>
                </a:solidFill>
                <a:latin typeface="Calibri" pitchFamily="34" charset="0"/>
                <a:ea typeface="Calibri" pitchFamily="34" charset="-122"/>
                <a:cs typeface="Calibri" pitchFamily="34" charset="-120"/>
              </a:rPr>
              <a:t>Debt is the cheap capital, and it only just became available</a:t>
            </a:r>
            <a:endParaRPr lang="en-US" sz="3400" dirty="0"/>
          </a:p>
        </p:txBody>
      </p:sp>
      <p:sp>
        <p:nvSpPr>
          <p:cNvPr id="4" name="Text 2"/>
          <p:cNvSpPr/>
          <p:nvPr/>
        </p:nvSpPr>
        <p:spPr>
          <a:xfrm>
            <a:off x="566928" y="1920240"/>
            <a:ext cx="11057839" cy="1371600"/>
          </a:xfrm>
          <a:prstGeom prst="rect">
            <a:avLst/>
          </a:prstGeom>
          <a:noFill/>
          <a:ln/>
        </p:spPr>
        <p:txBody>
          <a:bodyPr wrap="square" lIns="0" tIns="0" rIns="0" bIns="0" rtlCol="0" anchor="t"/>
          <a:lstStyle/>
          <a:p>
            <a:pPr indent="0" marL="0">
              <a:lnSpc>
                <a:spcPts val="2000"/>
              </a:lnSpc>
              <a:buNone/>
            </a:pPr>
            <a:r>
              <a:rPr lang="en-US" sz="1350" dirty="0">
                <a:solidFill>
                  <a:srgbClr val="C9D0DE"/>
                </a:solidFill>
                <a:latin typeface="Calibri" pitchFamily="34" charset="0"/>
                <a:ea typeface="Calibri" pitchFamily="34" charset="-122"/>
                <a:cs typeface="Calibri" pitchFamily="34" charset="-120"/>
              </a:rPr>
              <a:t>The ₹10 crore equity round was designed before the CGTMSE ceiling doubled and the MSME thresholds were raised, both on 1 April 2025. VAPPL is a Small Enterprise with ₹18.9 crore of investment headroom and ₹83.7 crore of turnover headroom, and can now access ₹10 Cr of collateral-free guaranteed debt at 12.70% all-in. Two of the three new projects out-earn that cost by six to seven percentage points; none out-earns an equity hurdle.</a:t>
            </a:r>
            <a:endParaRPr lang="en-US" sz="1350" dirty="0"/>
          </a:p>
        </p:txBody>
      </p:sp>
      <p:sp>
        <p:nvSpPr>
          <p:cNvPr id="5" name="Shape 3"/>
          <p:cNvSpPr/>
          <p:nvPr/>
        </p:nvSpPr>
        <p:spPr>
          <a:xfrm>
            <a:off x="566928" y="3520440"/>
            <a:ext cx="2586152" cy="2377440"/>
          </a:xfrm>
          <a:prstGeom prst="roundRect">
            <a:avLst>
              <a:gd name="adj" fmla="val 2308"/>
            </a:avLst>
          </a:prstGeom>
          <a:solidFill>
            <a:srgbClr val="141D33"/>
          </a:solidFill>
          <a:ln w="12700">
            <a:solidFill>
              <a:srgbClr val="2A3247"/>
            </a:solidFill>
            <a:prstDash val="solid"/>
          </a:ln>
        </p:spPr>
      </p:sp>
      <p:sp>
        <p:nvSpPr>
          <p:cNvPr id="6" name="Shape 4"/>
          <p:cNvSpPr/>
          <p:nvPr/>
        </p:nvSpPr>
        <p:spPr>
          <a:xfrm>
            <a:off x="768096" y="3703320"/>
            <a:ext cx="365760" cy="365760"/>
          </a:xfrm>
          <a:prstGeom prst="ellipse">
            <a:avLst/>
          </a:prstGeom>
          <a:solidFill>
            <a:srgbClr val="C8553D"/>
          </a:solidFill>
          <a:ln/>
        </p:spPr>
      </p:sp>
      <p:sp>
        <p:nvSpPr>
          <p:cNvPr id="7" name="Text 5"/>
          <p:cNvSpPr/>
          <p:nvPr/>
        </p:nvSpPr>
        <p:spPr>
          <a:xfrm>
            <a:off x="768096"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68096" y="4169664"/>
            <a:ext cx="2183816" cy="475488"/>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Convert the promoter debt</a:t>
            </a:r>
            <a:endParaRPr lang="en-US" sz="1400" dirty="0"/>
          </a:p>
        </p:txBody>
      </p:sp>
      <p:sp>
        <p:nvSpPr>
          <p:cNvPr id="9" name="Text 7"/>
          <p:cNvSpPr/>
          <p:nvPr/>
        </p:nvSpPr>
        <p:spPr>
          <a:xfrm>
            <a:off x="768096" y="4681728"/>
            <a:ext cx="2183816" cy="1097280"/>
          </a:xfrm>
          <a:prstGeom prst="rect">
            <a:avLst/>
          </a:prstGeom>
          <a:noFill/>
          <a:ln/>
        </p:spPr>
        <p:txBody>
          <a:bodyPr wrap="square" lIns="0" tIns="0" rIns="0" bIns="0" rtlCol="0" anchor="t"/>
          <a:lstStyle/>
          <a:p>
            <a:pPr indent="0" marL="0">
              <a:lnSpc>
                <a:spcPts val="1400"/>
              </a:lnSpc>
              <a:buNone/>
            </a:pPr>
            <a:r>
              <a:rPr lang="en-US" sz="1050" dirty="0">
                <a:solidFill>
                  <a:srgbClr val="9AA3B6"/>
                </a:solidFill>
                <a:latin typeface="Calibri" pitchFamily="34" charset="0"/>
                <a:ea typeface="Calibri" pitchFamily="34" charset="-122"/>
                <a:cs typeface="Calibri" pitchFamily="34" charset="-120"/>
              </a:rPr>
              <a:t>All ₹4.09 Cr of related-party and promoter debt to equity. Gearing 3.04× → 0.56×. No cash, no third party, no permission. Without it a 2.0× covenant caps the facility at ₹0.31 Cr.</a:t>
            </a:r>
            <a:endParaRPr lang="en-US" sz="1050" dirty="0"/>
          </a:p>
        </p:txBody>
      </p:sp>
      <p:sp>
        <p:nvSpPr>
          <p:cNvPr id="10" name="Shape 8"/>
          <p:cNvSpPr/>
          <p:nvPr/>
        </p:nvSpPr>
        <p:spPr>
          <a:xfrm>
            <a:off x="3390824" y="3520440"/>
            <a:ext cx="2586152" cy="2377440"/>
          </a:xfrm>
          <a:prstGeom prst="roundRect">
            <a:avLst>
              <a:gd name="adj" fmla="val 2308"/>
            </a:avLst>
          </a:prstGeom>
          <a:solidFill>
            <a:srgbClr val="141D33"/>
          </a:solidFill>
          <a:ln w="12700">
            <a:solidFill>
              <a:srgbClr val="2A3247"/>
            </a:solidFill>
            <a:prstDash val="solid"/>
          </a:ln>
        </p:spPr>
      </p:sp>
      <p:sp>
        <p:nvSpPr>
          <p:cNvPr id="11" name="Shape 9"/>
          <p:cNvSpPr/>
          <p:nvPr/>
        </p:nvSpPr>
        <p:spPr>
          <a:xfrm>
            <a:off x="3591992" y="3703320"/>
            <a:ext cx="365760" cy="365760"/>
          </a:xfrm>
          <a:prstGeom prst="ellipse">
            <a:avLst/>
          </a:prstGeom>
          <a:solidFill>
            <a:srgbClr val="2B66EA"/>
          </a:solidFill>
          <a:ln/>
        </p:spPr>
      </p:sp>
      <p:sp>
        <p:nvSpPr>
          <p:cNvPr id="12" name="Text 10"/>
          <p:cNvSpPr/>
          <p:nvPr/>
        </p:nvSpPr>
        <p:spPr>
          <a:xfrm>
            <a:off x="3591992"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591992" y="4169664"/>
            <a:ext cx="2183816" cy="475488"/>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Bank Karnal first</a:t>
            </a:r>
            <a:endParaRPr lang="en-US" sz="1400" dirty="0"/>
          </a:p>
        </p:txBody>
      </p:sp>
      <p:sp>
        <p:nvSpPr>
          <p:cNvPr id="14" name="Text 12"/>
          <p:cNvSpPr/>
          <p:nvPr/>
        </p:nvSpPr>
        <p:spPr>
          <a:xfrm>
            <a:off x="3591992" y="4681728"/>
            <a:ext cx="2183816" cy="1097280"/>
          </a:xfrm>
          <a:prstGeom prst="rect">
            <a:avLst/>
          </a:prstGeom>
          <a:noFill/>
          <a:ln/>
        </p:spPr>
        <p:txBody>
          <a:bodyPr wrap="square" lIns="0" tIns="0" rIns="0" bIns="0" rtlCol="0" anchor="t"/>
          <a:lstStyle/>
          <a:p>
            <a:pPr indent="0" marL="0">
              <a:lnSpc>
                <a:spcPts val="1400"/>
              </a:lnSpc>
              <a:buNone/>
            </a:pPr>
            <a:r>
              <a:rPr lang="en-US" sz="1050" dirty="0">
                <a:solidFill>
                  <a:srgbClr val="9AA3B6"/>
                </a:solidFill>
                <a:latin typeface="Calibri" pitchFamily="34" charset="0"/>
                <a:ea typeface="Calibri" pitchFamily="34" charset="-122"/>
                <a:cs typeface="Calibri" pitchFamily="34" charset="-120"/>
              </a:rPr>
              <a:t>A ₹3.00 Cr CGTMSE term loan. The cleanest credit in the pack, and the sanction that establishes the track record the two concession facilities will need.</a:t>
            </a:r>
            <a:endParaRPr lang="en-US" sz="1050" dirty="0"/>
          </a:p>
        </p:txBody>
      </p:sp>
      <p:sp>
        <p:nvSpPr>
          <p:cNvPr id="15" name="Shape 13"/>
          <p:cNvSpPr/>
          <p:nvPr/>
        </p:nvSpPr>
        <p:spPr>
          <a:xfrm>
            <a:off x="6214720" y="3520440"/>
            <a:ext cx="2586152" cy="2377440"/>
          </a:xfrm>
          <a:prstGeom prst="roundRect">
            <a:avLst>
              <a:gd name="adj" fmla="val 2308"/>
            </a:avLst>
          </a:prstGeom>
          <a:solidFill>
            <a:srgbClr val="141D33"/>
          </a:solidFill>
          <a:ln w="12700">
            <a:solidFill>
              <a:srgbClr val="2A3247"/>
            </a:solidFill>
            <a:prstDash val="solid"/>
          </a:ln>
        </p:spPr>
      </p:sp>
      <p:sp>
        <p:nvSpPr>
          <p:cNvPr id="16" name="Shape 14"/>
          <p:cNvSpPr/>
          <p:nvPr/>
        </p:nvSpPr>
        <p:spPr>
          <a:xfrm>
            <a:off x="6415888" y="3703320"/>
            <a:ext cx="365760" cy="365760"/>
          </a:xfrm>
          <a:prstGeom prst="ellipse">
            <a:avLst/>
          </a:prstGeom>
          <a:solidFill>
            <a:srgbClr val="D97706"/>
          </a:solidFill>
          <a:ln/>
        </p:spPr>
      </p:sp>
      <p:sp>
        <p:nvSpPr>
          <p:cNvPr id="17" name="Text 15"/>
          <p:cNvSpPr/>
          <p:nvPr/>
        </p:nvSpPr>
        <p:spPr>
          <a:xfrm>
            <a:off x="6415888"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15888" y="4169664"/>
            <a:ext cx="2183816" cy="475488"/>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Bid the two concessions</a:t>
            </a:r>
            <a:endParaRPr lang="en-US" sz="1400" dirty="0"/>
          </a:p>
        </p:txBody>
      </p:sp>
      <p:sp>
        <p:nvSpPr>
          <p:cNvPr id="19" name="Text 17"/>
          <p:cNvSpPr/>
          <p:nvPr/>
        </p:nvSpPr>
        <p:spPr>
          <a:xfrm>
            <a:off x="6415888" y="4681728"/>
            <a:ext cx="2183816" cy="1097280"/>
          </a:xfrm>
          <a:prstGeom prst="rect">
            <a:avLst/>
          </a:prstGeom>
          <a:noFill/>
          <a:ln/>
        </p:spPr>
        <p:txBody>
          <a:bodyPr wrap="square" lIns="0" tIns="0" rIns="0" bIns="0" rtlCol="0" anchor="t"/>
          <a:lstStyle/>
          <a:p>
            <a:pPr indent="0" marL="0">
              <a:lnSpc>
                <a:spcPts val="1400"/>
              </a:lnSpc>
              <a:buNone/>
            </a:pPr>
            <a:r>
              <a:rPr lang="en-US" sz="1050" dirty="0">
                <a:solidFill>
                  <a:srgbClr val="9AA3B6"/>
                </a:solidFill>
                <a:latin typeface="Calibri" pitchFamily="34" charset="0"/>
                <a:ea typeface="Calibri" pitchFamily="34" charset="-122"/>
                <a:cs typeface="Calibri" pitchFamily="34" charset="-120"/>
              </a:rPr>
              <a:t>Only if each clears its walk-away price: ₹45.1 L a year at Geeta Govind Vatika, ₹35.5 L at Ramayan Vatika. Winning at the wrong price is worse than losing.</a:t>
            </a:r>
            <a:endParaRPr lang="en-US" sz="1050" dirty="0"/>
          </a:p>
        </p:txBody>
      </p:sp>
      <p:sp>
        <p:nvSpPr>
          <p:cNvPr id="20" name="Shape 18"/>
          <p:cNvSpPr/>
          <p:nvPr/>
        </p:nvSpPr>
        <p:spPr>
          <a:xfrm>
            <a:off x="9038615" y="3520440"/>
            <a:ext cx="2586152" cy="2377440"/>
          </a:xfrm>
          <a:prstGeom prst="roundRect">
            <a:avLst>
              <a:gd name="adj" fmla="val 2308"/>
            </a:avLst>
          </a:prstGeom>
          <a:solidFill>
            <a:srgbClr val="141D33"/>
          </a:solidFill>
          <a:ln w="12700">
            <a:solidFill>
              <a:srgbClr val="2A3247"/>
            </a:solidFill>
            <a:prstDash val="solid"/>
          </a:ln>
        </p:spPr>
      </p:sp>
      <p:sp>
        <p:nvSpPr>
          <p:cNvPr id="21" name="Shape 19"/>
          <p:cNvSpPr/>
          <p:nvPr/>
        </p:nvSpPr>
        <p:spPr>
          <a:xfrm>
            <a:off x="9239783" y="3703320"/>
            <a:ext cx="365760" cy="365760"/>
          </a:xfrm>
          <a:prstGeom prst="ellipse">
            <a:avLst/>
          </a:prstGeom>
          <a:solidFill>
            <a:srgbClr val="10B981"/>
          </a:solidFill>
          <a:ln/>
        </p:spPr>
      </p:sp>
      <p:sp>
        <p:nvSpPr>
          <p:cNvPr id="22" name="Text 20"/>
          <p:cNvSpPr/>
          <p:nvPr/>
        </p:nvSpPr>
        <p:spPr>
          <a:xfrm>
            <a:off x="9239783"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39783" y="4169664"/>
            <a:ext cx="2183816" cy="475488"/>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Raise the equity, smaller</a:t>
            </a:r>
            <a:endParaRPr lang="en-US" sz="1400" dirty="0"/>
          </a:p>
        </p:txBody>
      </p:sp>
      <p:sp>
        <p:nvSpPr>
          <p:cNvPr id="24" name="Text 22"/>
          <p:cNvSpPr/>
          <p:nvPr/>
        </p:nvSpPr>
        <p:spPr>
          <a:xfrm>
            <a:off x="9239783" y="4681728"/>
            <a:ext cx="2183816" cy="1097280"/>
          </a:xfrm>
          <a:prstGeom prst="rect">
            <a:avLst/>
          </a:prstGeom>
          <a:noFill/>
          <a:ln/>
        </p:spPr>
        <p:txBody>
          <a:bodyPr wrap="square" lIns="0" tIns="0" rIns="0" bIns="0" rtlCol="0" anchor="t"/>
          <a:lstStyle/>
          <a:p>
            <a:pPr indent="0" marL="0">
              <a:lnSpc>
                <a:spcPts val="1400"/>
              </a:lnSpc>
              <a:buNone/>
            </a:pPr>
            <a:r>
              <a:rPr lang="en-US" sz="1050" dirty="0">
                <a:solidFill>
                  <a:srgbClr val="9AA3B6"/>
                </a:solidFill>
                <a:latin typeface="Calibri" pitchFamily="34" charset="0"/>
                <a:ea typeface="Calibri" pitchFamily="34" charset="-122"/>
                <a:cs typeface="Calibri" pitchFamily="34" charset="-120"/>
              </a:rPr>
              <a:t>With ₹10 Cr of guaranteed debt in place the round need not be ₹16 crore. ₹6–8 crore covers what debt cannot reach, at roughly half the dilution — or a CCD at 21.3% without repricing the company.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What still has to be verified</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These decks are a model, not a due-diligence report. Everything below is unknown, inconsistent in the source documents, or dependent on a third party — and each moves numbers.</a:t>
            </a:r>
            <a:endParaRPr lang="en-US" sz="1250" dirty="0"/>
          </a:p>
        </p:txBody>
      </p:sp>
      <p:sp>
        <p:nvSpPr>
          <p:cNvPr id="6" name="Shape 4"/>
          <p:cNvSpPr/>
          <p:nvPr/>
        </p:nvSpPr>
        <p:spPr>
          <a:xfrm>
            <a:off x="566928" y="1577848"/>
            <a:ext cx="182880" cy="182880"/>
          </a:xfrm>
          <a:prstGeom prst="ellipse">
            <a:avLst/>
          </a:prstGeom>
          <a:solidFill>
            <a:srgbClr val="C8553D"/>
          </a:solidFill>
          <a:ln/>
        </p:spPr>
      </p:sp>
      <p:sp>
        <p:nvSpPr>
          <p:cNvPr id="7" name="Text 5"/>
          <p:cNvSpPr/>
          <p:nvPr/>
        </p:nvSpPr>
        <p:spPr>
          <a:xfrm>
            <a:off x="859536" y="1541272"/>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Karnal footprint</a:t>
            </a:r>
            <a:endParaRPr lang="en-US" sz="1250" dirty="0"/>
          </a:p>
        </p:txBody>
      </p:sp>
      <p:sp>
        <p:nvSpPr>
          <p:cNvPr id="8" name="Text 6"/>
          <p:cNvSpPr/>
          <p:nvPr/>
        </p:nvSpPr>
        <p:spPr>
          <a:xfrm>
            <a:off x="859536" y="1788160"/>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22,000 sq ft in index.html against ~6 acres in financials.html. Sizes the entire Karnal revenue thesis. Answer: the executed sub-lease.</a:t>
            </a:r>
            <a:endParaRPr lang="en-US" sz="1050" dirty="0"/>
          </a:p>
        </p:txBody>
      </p:sp>
      <p:sp>
        <p:nvSpPr>
          <p:cNvPr id="9" name="Shape 7"/>
          <p:cNvSpPr/>
          <p:nvPr/>
        </p:nvSpPr>
        <p:spPr>
          <a:xfrm>
            <a:off x="566928" y="2729992"/>
            <a:ext cx="182880" cy="182880"/>
          </a:xfrm>
          <a:prstGeom prst="ellipse">
            <a:avLst/>
          </a:prstGeom>
          <a:solidFill>
            <a:srgbClr val="C8553D"/>
          </a:solidFill>
          <a:ln/>
        </p:spPr>
      </p:sp>
      <p:sp>
        <p:nvSpPr>
          <p:cNvPr id="10" name="Text 8"/>
          <p:cNvSpPr/>
          <p:nvPr/>
        </p:nvSpPr>
        <p:spPr>
          <a:xfrm>
            <a:off x="859536" y="2693416"/>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Ramayan Vatika show conversion</a:t>
            </a:r>
            <a:endParaRPr lang="en-US" sz="1250" dirty="0"/>
          </a:p>
        </p:txBody>
      </p:sp>
      <p:sp>
        <p:nvSpPr>
          <p:cNvPr id="11" name="Text 9"/>
          <p:cNvSpPr/>
          <p:nvPr/>
        </p:nvSpPr>
        <p:spPr>
          <a:xfrm>
            <a:off x="859536" y="2940304"/>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42% assumed here against BDA's 60% — the difference between 11.4% and 36.1%. Answer: BDA, on slot capacity and soft-launch footfall.</a:t>
            </a:r>
            <a:endParaRPr lang="en-US" sz="1050" dirty="0"/>
          </a:p>
        </p:txBody>
      </p:sp>
      <p:sp>
        <p:nvSpPr>
          <p:cNvPr id="12" name="Shape 10"/>
          <p:cNvSpPr/>
          <p:nvPr/>
        </p:nvSpPr>
        <p:spPr>
          <a:xfrm>
            <a:off x="566928" y="3882136"/>
            <a:ext cx="182880" cy="182880"/>
          </a:xfrm>
          <a:prstGeom prst="ellipse">
            <a:avLst/>
          </a:prstGeom>
          <a:solidFill>
            <a:srgbClr val="D97706"/>
          </a:solidFill>
          <a:ln/>
        </p:spPr>
      </p:sp>
      <p:sp>
        <p:nvSpPr>
          <p:cNvPr id="13" name="Text 11"/>
          <p:cNvSpPr/>
          <p:nvPr/>
        </p:nvSpPr>
        <p:spPr>
          <a:xfrm>
            <a:off x="859536" y="3845560"/>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Ramayan Vatika lock-in</a:t>
            </a:r>
            <a:endParaRPr lang="en-US" sz="1250" dirty="0"/>
          </a:p>
        </p:txBody>
      </p:sp>
      <p:sp>
        <p:nvSpPr>
          <p:cNvPr id="14" name="Text 12"/>
          <p:cNvSpPr/>
          <p:nvPr/>
        </p:nvSpPr>
        <p:spPr>
          <a:xfrm>
            <a:off x="859536" y="4092448"/>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Seven years in clause 9 against five in clause 14. A seven-year lock-in on a seven-year payback changes the risk materially. Answer: pre-bid clarification.</a:t>
            </a:r>
            <a:endParaRPr lang="en-US" sz="1050" dirty="0"/>
          </a:p>
        </p:txBody>
      </p:sp>
      <p:sp>
        <p:nvSpPr>
          <p:cNvPr id="15" name="Shape 13"/>
          <p:cNvSpPr/>
          <p:nvPr/>
        </p:nvSpPr>
        <p:spPr>
          <a:xfrm>
            <a:off x="6278728" y="1577848"/>
            <a:ext cx="182880" cy="182880"/>
          </a:xfrm>
          <a:prstGeom prst="ellipse">
            <a:avLst/>
          </a:prstGeom>
          <a:solidFill>
            <a:srgbClr val="D97706"/>
          </a:solidFill>
          <a:ln/>
        </p:spPr>
      </p:sp>
      <p:sp>
        <p:nvSpPr>
          <p:cNvPr id="16" name="Text 14"/>
          <p:cNvSpPr/>
          <p:nvPr/>
        </p:nvSpPr>
        <p:spPr>
          <a:xfrm>
            <a:off x="6571336" y="1541272"/>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Geeta Govind Vatika show tariff</a:t>
            </a:r>
            <a:endParaRPr lang="en-US" sz="1250" dirty="0"/>
          </a:p>
        </p:txBody>
      </p:sp>
      <p:sp>
        <p:nvSpPr>
          <p:cNvPr id="17" name="Text 15"/>
          <p:cNvSpPr/>
          <p:nvPr/>
        </p:nvSpPr>
        <p:spPr>
          <a:xfrm>
            <a:off x="6571336" y="1788160"/>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Not set in the RFP — left to be agreed with ADA. Roughly a third of GGV's revenue rests on a rate E-O-D does not control.</a:t>
            </a:r>
            <a:endParaRPr lang="en-US" sz="1050" dirty="0"/>
          </a:p>
        </p:txBody>
      </p:sp>
      <p:sp>
        <p:nvSpPr>
          <p:cNvPr id="18" name="Shape 16"/>
          <p:cNvSpPr/>
          <p:nvPr/>
        </p:nvSpPr>
        <p:spPr>
          <a:xfrm>
            <a:off x="6278728" y="2729992"/>
            <a:ext cx="182880" cy="182880"/>
          </a:xfrm>
          <a:prstGeom prst="ellipse">
            <a:avLst/>
          </a:prstGeom>
          <a:solidFill>
            <a:srgbClr val="2B66EA"/>
          </a:solidFill>
          <a:ln/>
        </p:spPr>
      </p:sp>
      <p:sp>
        <p:nvSpPr>
          <p:cNvPr id="19" name="Text 17"/>
          <p:cNvSpPr/>
          <p:nvPr/>
        </p:nvSpPr>
        <p:spPr>
          <a:xfrm>
            <a:off x="6571336" y="2693416"/>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Winning licence fees</a:t>
            </a:r>
            <a:endParaRPr lang="en-US" sz="1250" dirty="0"/>
          </a:p>
        </p:txBody>
      </p:sp>
      <p:sp>
        <p:nvSpPr>
          <p:cNvPr id="20" name="Text 18"/>
          <p:cNvSpPr/>
          <p:nvPr/>
        </p:nvSpPr>
        <p:spPr>
          <a:xfrm>
            <a:off x="6571336" y="2940304"/>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Both are competitive processes with no cap. Both models are built on assumed bids and must be re-run on award.</a:t>
            </a:r>
            <a:endParaRPr lang="en-US" sz="1050" dirty="0"/>
          </a:p>
        </p:txBody>
      </p:sp>
      <p:sp>
        <p:nvSpPr>
          <p:cNvPr id="21" name="Shape 19"/>
          <p:cNvSpPr/>
          <p:nvPr/>
        </p:nvSpPr>
        <p:spPr>
          <a:xfrm>
            <a:off x="6278728" y="3882136"/>
            <a:ext cx="182880" cy="182880"/>
          </a:xfrm>
          <a:prstGeom prst="ellipse">
            <a:avLst/>
          </a:prstGeom>
          <a:solidFill>
            <a:srgbClr val="2B66EA"/>
          </a:solidFill>
          <a:ln/>
        </p:spPr>
      </p:sp>
      <p:sp>
        <p:nvSpPr>
          <p:cNvPr id="22" name="Text 20"/>
          <p:cNvSpPr/>
          <p:nvPr/>
        </p:nvSpPr>
        <p:spPr>
          <a:xfrm>
            <a:off x="6571336" y="3845560"/>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CGTMSE current circular</a:t>
            </a:r>
            <a:endParaRPr lang="en-US" sz="1250" dirty="0"/>
          </a:p>
        </p:txBody>
      </p:sp>
      <p:sp>
        <p:nvSpPr>
          <p:cNvPr id="23" name="Text 21"/>
          <p:cNvSpPr/>
          <p:nvPr/>
        </p:nvSpPr>
        <p:spPr>
          <a:xfrm>
            <a:off x="6571336" y="4092448"/>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Fee slabs, coverage and ceiling as published April 2025. Confirm with the lending bank's MSME desk before relying on the basis points.</a:t>
            </a:r>
            <a:endParaRPr lang="en-US" sz="1050" dirty="0"/>
          </a:p>
        </p:txBody>
      </p:sp>
      <p:sp>
        <p:nvSpPr>
          <p:cNvPr id="24" name="Text 22"/>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E-O-D Parks · Project finance portfolio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E-O-D Parks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E-O-D Project Finance — Portfolio</dc:title>
  <dc:subject>Three projects, one balance sheet</dc:subject>
  <dc:creator>Vision Amusement Park Pvt. Ltd.</dc:creator>
  <cp:lastModifiedBy>Vision Amusement Park Pvt. Ltd.</cp:lastModifiedBy>
  <cp:revision>1</cp:revision>
  <dcterms:created xsi:type="dcterms:W3CDTF">2026-08-23T14:34:47Z</dcterms:created>
  <dcterms:modified xsi:type="dcterms:W3CDTF">2026-08-23T14:34:47Z</dcterms:modified>
</cp:coreProperties>
</file>