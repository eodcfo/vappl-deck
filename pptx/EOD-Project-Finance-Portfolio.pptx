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3.37</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28878"/>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81806"/>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₹11.5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₹14.5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7C889B"/>
                </a:solidFill>
                <a:latin typeface="Calibri" pitchFamily="34" charset="0"/>
                <a:ea typeface="Calibri" pitchFamily="34" charset="-122"/>
                <a:cs typeface="Calibri" pitchFamily="34" charset="-120"/>
              </a:rPr>
              <a:t>₹4.5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 same analysis run three times. What differs is not the method — it is how much capital each genuinely consumes, and what it earns on it.</a:t>
            </a:r>
            <a:endParaRPr lang="en-US" sz="13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7839" cy="914400"/>
        </p:xfrm>
        <a:graphic>
          <a:graphicData uri="http://schemas.openxmlformats.org/drawingml/2006/table">
            <a:tbl>
              <a:tblPr/>
              <a:tblGrid>
                <a:gridCol w="3657600"/>
                <a:gridCol w="2466746"/>
                <a:gridCol w="2466746"/>
                <a:gridCol w="2466746"/>
              </a:tblGrid>
              <a:tr h="30175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₹3.35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₹1.39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18.7%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+6.2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445728"/>
            <a:ext cx="11057839" cy="845344"/>
          </a:xfrm>
          <a:prstGeom prst="roundRect">
            <a:avLst>
              <a:gd name="adj" fmla="val 5408"/>
            </a:avLst>
          </a:prstGeom>
          <a:solidFill>
            <a:srgbClr val="FBEFEC"/>
          </a:solidFill>
          <a:ln w="15875">
            <a:solidFill>
              <a:srgbClr val="C8553D"/>
            </a:solidFill>
            <a:prstDash val="solid"/>
          </a:ln>
        </p:spPr>
      </p:sp>
      <p:sp>
        <p:nvSpPr>
          <p:cNvPr id="8" name="Text 5"/>
          <p:cNvSpPr/>
          <p:nvPr/>
        </p:nvSpPr>
        <p:spPr>
          <a:xfrm>
            <a:off x="804672" y="5592032"/>
            <a:ext cx="2743200" cy="201168"/>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793200"/>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same conclusion three times, for the same reason</a:t>
            </a:r>
            <a:endParaRPr lang="en-US" sz="1500" dirty="0"/>
          </a:p>
        </p:txBody>
      </p:sp>
      <p:sp>
        <p:nvSpPr>
          <p:cNvPr id="10" name="Text 7"/>
          <p:cNvSpPr/>
          <p:nvPr/>
        </p:nvSpPr>
        <p:spPr>
          <a:xfrm>
            <a:off x="804672" y="6098572"/>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None of the three clears an equity hurdle at project level, and it is not because any is a bad project. A single park generating ₹1–2.5 crore of mature EBITDA cannot pay a 22% return on the capital it needs and leave an operator's margin. Equity works on a portfolio and a brand; it does not work one licence at a time. Two of the three out-earn guaranteed debt comfortably — fund them with it and keep the spread.</a:t>
            </a:r>
            <a:endParaRPr lang="en-US" sz="8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350" dirty="0"/>
          </a:p>
        </p:txBody>
      </p:sp>
      <p:sp>
        <p:nvSpPr>
          <p:cNvPr id="6" name="Shape 4"/>
          <p:cNvSpPr/>
          <p:nvPr/>
        </p:nvSpPr>
        <p:spPr>
          <a:xfrm>
            <a:off x="566928" y="1627632"/>
            <a:ext cx="3539642" cy="1298448"/>
          </a:xfrm>
          <a:prstGeom prst="roundRect">
            <a:avLst>
              <a:gd name="adj" fmla="val 4225"/>
            </a:avLst>
          </a:prstGeom>
          <a:solidFill>
            <a:srgbClr val="EDFAF4"/>
          </a:solidFill>
          <a:ln w="12700">
            <a:solidFill>
              <a:srgbClr val="10B981"/>
            </a:solidFill>
            <a:prstDash val="solid"/>
          </a:ln>
        </p:spPr>
      </p:sp>
      <p:sp>
        <p:nvSpPr>
          <p:cNvPr id="7" name="Text 5"/>
          <p:cNvSpPr/>
          <p:nvPr/>
        </p:nvSpPr>
        <p:spPr>
          <a:xfrm>
            <a:off x="749808"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GUARANTEE CEILING</a:t>
            </a:r>
            <a:endParaRPr lang="en-US" sz="900" dirty="0"/>
          </a:p>
        </p:txBody>
      </p:sp>
      <p:sp>
        <p:nvSpPr>
          <p:cNvPr id="8" name="Text 6"/>
          <p:cNvSpPr/>
          <p:nvPr/>
        </p:nvSpPr>
        <p:spPr>
          <a:xfrm>
            <a:off x="749808"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468880"/>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627632"/>
            <a:ext cx="3539642" cy="1298448"/>
          </a:xfrm>
          <a:prstGeom prst="roundRect">
            <a:avLst>
              <a:gd name="adj" fmla="val 4225"/>
            </a:avLst>
          </a:prstGeom>
          <a:solidFill>
            <a:srgbClr val="F5F6F8"/>
          </a:solidFill>
          <a:ln w="12700">
            <a:solidFill>
              <a:srgbClr val="E2E4EA"/>
            </a:solidFill>
            <a:prstDash val="solid"/>
          </a:ln>
        </p:spPr>
      </p:sp>
      <p:sp>
        <p:nvSpPr>
          <p:cNvPr id="11" name="Text 9"/>
          <p:cNvSpPr/>
          <p:nvPr/>
        </p:nvSpPr>
        <p:spPr>
          <a:xfrm>
            <a:off x="4508906"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COVERAGE FOR A SMALL ENTERPRISE</a:t>
            </a:r>
            <a:endParaRPr lang="en-US" sz="900" dirty="0"/>
          </a:p>
        </p:txBody>
      </p:sp>
      <p:sp>
        <p:nvSpPr>
          <p:cNvPr id="12" name="Text 10"/>
          <p:cNvSpPr/>
          <p:nvPr/>
        </p:nvSpPr>
        <p:spPr>
          <a:xfrm>
            <a:off x="4508906"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468880"/>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627632"/>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176479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COLLATERAL REQUIRED</a:t>
            </a:r>
            <a:endParaRPr lang="en-US" sz="900" dirty="0"/>
          </a:p>
        </p:txBody>
      </p:sp>
      <p:sp>
        <p:nvSpPr>
          <p:cNvPr id="16" name="Text 14"/>
          <p:cNvSpPr/>
          <p:nvPr/>
        </p:nvSpPr>
        <p:spPr>
          <a:xfrm>
            <a:off x="8268005" y="199339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468880"/>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163824"/>
          <a:ext cx="11057839" cy="914400"/>
        </p:xfrm>
        <a:graphic>
          <a:graphicData uri="http://schemas.openxmlformats.org/drawingml/2006/table">
            <a:tbl>
              <a:tblPr/>
              <a:tblGrid>
                <a:gridCol w="2651760"/>
                <a:gridCol w="8406079"/>
              </a:tblGrid>
              <a:tr h="38404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aggregated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Collateral may be taken on part of a facility with the remainder guaranteed —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which is why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Fee concession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for women, SC/ST, differently-abled, Agniveer and transgender borrowers, and for NER, J&amp;K, Aspirational District or ZED units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6016752"/>
            <a:ext cx="11057839" cy="731520"/>
          </a:xfrm>
          <a:prstGeom prst="roundRect">
            <a:avLst>
              <a:gd name="adj" fmla="val 6250"/>
            </a:avLst>
          </a:prstGeom>
          <a:solidFill>
            <a:srgbClr val="FDF6EC"/>
          </a:solidFill>
          <a:ln w="15875">
            <a:solidFill>
              <a:srgbClr val="D97706"/>
            </a:solidFill>
            <a:prstDash val="solid"/>
          </a:ln>
        </p:spPr>
      </p:sp>
      <p:sp>
        <p:nvSpPr>
          <p:cNvPr id="20" name="Text 17"/>
          <p:cNvSpPr/>
          <p:nvPr/>
        </p:nvSpPr>
        <p:spPr>
          <a:xfrm>
            <a:off x="804672" y="6163056"/>
            <a:ext cx="2743200" cy="201168"/>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6364224"/>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Verify before you apply, not after</a:t>
            </a:r>
            <a:endParaRPr lang="en-US" sz="1500" dirty="0"/>
          </a:p>
        </p:txBody>
      </p:sp>
      <p:sp>
        <p:nvSpPr>
          <p:cNvPr id="22" name="Text 19"/>
          <p:cNvSpPr/>
          <p:nvPr/>
        </p:nvSpPr>
        <p:spPr>
          <a:xfrm>
            <a:off x="804672" y="6669596"/>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CGTMSE parameters are revised by circular and vary between member lending institutions. These reflect the position published after the April 2025 revisions, checked against public sources in August 2026. Confirm the current operative circular and the fee applicable to the specific bank with the lender before relying on any number here.</a:t>
            </a:r>
            <a:endParaRPr lang="en-US" sz="8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350" dirty="0"/>
          </a:p>
        </p:txBody>
      </p:sp>
      <p:graphicFrame>
        <p:nvGraphicFramePr>
          <p:cNvPr id="6" name="Chart 0" descr=""/>
          <p:cNvGraphicFramePr/>
          <p:nvPr/>
        </p:nvGraphicFramePr>
        <p:xfrm>
          <a:off x="566928" y="1627632"/>
          <a:ext cx="11057839"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233672"/>
            <a:ext cx="3539642" cy="1243584"/>
          </a:xfrm>
          <a:prstGeom prst="roundRect">
            <a:avLst>
              <a:gd name="adj" fmla="val 4412"/>
            </a:avLst>
          </a:prstGeom>
          <a:solidFill>
            <a:srgbClr val="F5F6F8"/>
          </a:solidFill>
          <a:ln w="12700">
            <a:solidFill>
              <a:srgbClr val="E2E4EA"/>
            </a:solidFill>
            <a:prstDash val="solid"/>
          </a:ln>
        </p:spPr>
      </p:sp>
      <p:sp>
        <p:nvSpPr>
          <p:cNvPr id="8" name="Text 5"/>
          <p:cNvSpPr/>
          <p:nvPr/>
        </p:nvSpPr>
        <p:spPr>
          <a:xfrm>
            <a:off x="749808" y="437083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GROSS DEMAND</a:t>
            </a:r>
            <a:endParaRPr lang="en-US" sz="900" dirty="0"/>
          </a:p>
        </p:txBody>
      </p:sp>
      <p:sp>
        <p:nvSpPr>
          <p:cNvPr id="9" name="Text 6"/>
          <p:cNvSpPr/>
          <p:nvPr/>
        </p:nvSpPr>
        <p:spPr>
          <a:xfrm>
            <a:off x="749808" y="4599432"/>
            <a:ext cx="3173882" cy="457200"/>
          </a:xfrm>
          <a:prstGeom prst="rect">
            <a:avLst/>
          </a:prstGeom>
          <a:noFill/>
          <a:ln/>
        </p:spPr>
        <p:txBody>
          <a:bodyPr wrap="square" lIns="0" tIns="0" rIns="0" bIns="0" rtlCol="0" anchor="t"/>
          <a:lstStyle/>
          <a:p>
            <a:pPr indent="0" marL="0">
              <a:buNone/>
            </a:pPr>
            <a:r>
              <a:rPr lang="en-US" sz="2600" b="1" dirty="0">
                <a:solidFill>
                  <a:srgbClr val="C8553D"/>
                </a:solidFill>
                <a:latin typeface="Calibri" pitchFamily="34" charset="0"/>
                <a:ea typeface="Calibri" pitchFamily="34" charset="-122"/>
                <a:cs typeface="Calibri" pitchFamily="34" charset="-120"/>
              </a:rPr>
              <a:t>₹14.5 Cr</a:t>
            </a:r>
            <a:endParaRPr lang="en-US" sz="2600" dirty="0"/>
          </a:p>
        </p:txBody>
      </p:sp>
      <p:sp>
        <p:nvSpPr>
          <p:cNvPr id="10" name="Text 7"/>
          <p:cNvSpPr/>
          <p:nvPr/>
        </p:nvSpPr>
        <p:spPr>
          <a:xfrm>
            <a:off x="749808" y="5074920"/>
            <a:ext cx="3173882" cy="32918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4233672"/>
            <a:ext cx="3539642" cy="1243584"/>
          </a:xfrm>
          <a:prstGeom prst="roundRect">
            <a:avLst>
              <a:gd name="adj" fmla="val 4412"/>
            </a:avLst>
          </a:prstGeom>
          <a:solidFill>
            <a:srgbClr val="F5F6F8"/>
          </a:solidFill>
          <a:ln w="12700">
            <a:solidFill>
              <a:srgbClr val="E2E4EA"/>
            </a:solidFill>
            <a:prstDash val="solid"/>
          </a:ln>
        </p:spPr>
      </p:sp>
      <p:sp>
        <p:nvSpPr>
          <p:cNvPr id="12" name="Text 9"/>
          <p:cNvSpPr/>
          <p:nvPr/>
        </p:nvSpPr>
        <p:spPr>
          <a:xfrm>
            <a:off x="4508906" y="437083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CGTMSE CEILING</a:t>
            </a:r>
            <a:endParaRPr lang="en-US" sz="900" dirty="0"/>
          </a:p>
        </p:txBody>
      </p:sp>
      <p:sp>
        <p:nvSpPr>
          <p:cNvPr id="13" name="Text 10"/>
          <p:cNvSpPr/>
          <p:nvPr/>
        </p:nvSpPr>
        <p:spPr>
          <a:xfrm>
            <a:off x="4508906" y="459943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5074920"/>
            <a:ext cx="3173882" cy="32918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4233672"/>
            <a:ext cx="3539642" cy="1243584"/>
          </a:xfrm>
          <a:prstGeom prst="roundRect">
            <a:avLst>
              <a:gd name="adj" fmla="val 4412"/>
            </a:avLst>
          </a:prstGeom>
          <a:solidFill>
            <a:srgbClr val="FBF1EE"/>
          </a:solidFill>
          <a:ln w="12700">
            <a:solidFill>
              <a:srgbClr val="C8553D"/>
            </a:solidFill>
            <a:prstDash val="solid"/>
          </a:ln>
        </p:spPr>
      </p:sp>
      <p:sp>
        <p:nvSpPr>
          <p:cNvPr id="16" name="Text 13"/>
          <p:cNvSpPr/>
          <p:nvPr/>
        </p:nvSpPr>
        <p:spPr>
          <a:xfrm>
            <a:off x="8268005" y="4370832"/>
            <a:ext cx="3173882" cy="219456"/>
          </a:xfrm>
          <a:prstGeom prst="rect">
            <a:avLst/>
          </a:prstGeom>
          <a:noFill/>
          <a:ln/>
        </p:spPr>
        <p:txBody>
          <a:bodyPr wrap="square" lIns="0" tIns="0" rIns="0" bIns="0" rtlCol="0" anchor="ctr"/>
          <a:lstStyle/>
          <a:p>
            <a:pPr indent="0" marL="0">
              <a:buNone/>
            </a:pPr>
            <a:r>
              <a:rPr lang="en-US" sz="900" b="1" spc="120" kern="0" dirty="0">
                <a:solidFill>
                  <a:srgbClr val="6E7689"/>
                </a:solidFill>
                <a:latin typeface="Calibri" pitchFamily="34" charset="0"/>
                <a:ea typeface="Calibri" pitchFamily="34" charset="-122"/>
                <a:cs typeface="Calibri" pitchFamily="34" charset="-120"/>
              </a:rPr>
              <a:t>TO FUND ANOTHER WAY</a:t>
            </a:r>
            <a:endParaRPr lang="en-US" sz="900" dirty="0"/>
          </a:p>
        </p:txBody>
      </p:sp>
      <p:sp>
        <p:nvSpPr>
          <p:cNvPr id="17" name="Text 14"/>
          <p:cNvSpPr/>
          <p:nvPr/>
        </p:nvSpPr>
        <p:spPr>
          <a:xfrm>
            <a:off x="8268005" y="4599432"/>
            <a:ext cx="3173882" cy="457200"/>
          </a:xfrm>
          <a:prstGeom prst="rect">
            <a:avLst/>
          </a:prstGeom>
          <a:noFill/>
          <a:ln/>
        </p:spPr>
        <p:txBody>
          <a:bodyPr wrap="square" lIns="0" tIns="0" rIns="0" bIns="0" rtlCol="0" anchor="t"/>
          <a:lstStyle/>
          <a:p>
            <a:pPr indent="0" marL="0">
              <a:buNone/>
            </a:pPr>
            <a:r>
              <a:rPr lang="en-US" sz="2600" b="1" dirty="0">
                <a:solidFill>
                  <a:srgbClr val="0A1426"/>
                </a:solidFill>
                <a:latin typeface="Calibri" pitchFamily="34" charset="0"/>
                <a:ea typeface="Calibri" pitchFamily="34" charset="-122"/>
                <a:cs typeface="Calibri" pitchFamily="34" charset="-120"/>
              </a:rPr>
              <a:t>₹4.5 Cr</a:t>
            </a:r>
            <a:endParaRPr lang="en-US" sz="2600" dirty="0"/>
          </a:p>
        </p:txBody>
      </p:sp>
      <p:sp>
        <p:nvSpPr>
          <p:cNvPr id="18" name="Text 15"/>
          <p:cNvSpPr/>
          <p:nvPr/>
        </p:nvSpPr>
        <p:spPr>
          <a:xfrm>
            <a:off x="8268005" y="5074920"/>
            <a:ext cx="3173882" cy="32918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733288"/>
            <a:ext cx="11057839" cy="731520"/>
          </a:xfrm>
          <a:prstGeom prst="roundRect">
            <a:avLst>
              <a:gd name="adj" fmla="val 6250"/>
            </a:avLst>
          </a:prstGeom>
          <a:solidFill>
            <a:srgbClr val="F1F5FE"/>
          </a:solidFill>
          <a:ln w="15875">
            <a:solidFill>
              <a:srgbClr val="2B66EA"/>
            </a:solidFill>
            <a:prstDash val="solid"/>
          </a:ln>
        </p:spPr>
      </p:sp>
      <p:sp>
        <p:nvSpPr>
          <p:cNvPr id="20" name="Text 17"/>
          <p:cNvSpPr/>
          <p:nvPr/>
        </p:nvSpPr>
        <p:spPr>
          <a:xfrm>
            <a:off x="804672" y="5879592"/>
            <a:ext cx="2743200" cy="201168"/>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6080760"/>
            <a:ext cx="10582351" cy="232220"/>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Routes for the residual</a:t>
            </a:r>
            <a:endParaRPr lang="en-US" sz="1500" dirty="0"/>
          </a:p>
        </p:txBody>
      </p:sp>
      <p:sp>
        <p:nvSpPr>
          <p:cNvPr id="22" name="Text 19"/>
          <p:cNvSpPr/>
          <p:nvPr/>
        </p:nvSpPr>
        <p:spPr>
          <a:xfrm>
            <a:off x="804672" y="6386132"/>
            <a:ext cx="10582351" cy="182880"/>
          </a:xfrm>
          <a:prstGeom prst="rect">
            <a:avLst/>
          </a:prstGeom>
          <a:noFill/>
          <a:ln/>
        </p:spPr>
        <p:txBody>
          <a:bodyPr wrap="square" lIns="0" tIns="0" rIns="0" bIns="0" rtlCol="0" anchor="t"/>
          <a:lstStyle/>
          <a:p>
            <a:pPr indent="0" marL="0">
              <a:lnSpc>
                <a:spcPts val="1207"/>
              </a:lnSpc>
              <a:buNone/>
            </a:pPr>
            <a:r>
              <a:rPr lang="en-US" sz="850" dirty="0">
                <a:solidFill>
                  <a:srgbClr val="3B4660"/>
                </a:solidFill>
                <a:latin typeface="Calibri" pitchFamily="34" charset="0"/>
                <a:ea typeface="Calibri" pitchFamily="34" charset="-122"/>
                <a:cs typeface="Calibri" pitchFamily="34" charset="-120"/>
              </a:rPr>
              <a:t>Hybrid security is preferred — CGTMSE expressly permits collateral on part of a facility with the balance guaranteed, needing no new entity and no consent. The company-level round covers the rest, which is precisely the ₹6–8 crore the company deck arrives at. Separate SPVs are legally available but practically difficult: a new entity has no turnover history and fails the eligibility tests in both RFPs, and Ramayan Vatika's lock-in bars restructuring without BDA's consent.</a:t>
            </a:r>
            <a:endParaRPr lang="en-US" sz="8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₹45.1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21.3%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1005840"/>
            <a:ext cx="11057839" cy="512064"/>
          </a:xfrm>
          <a:prstGeom prst="rect">
            <a:avLst/>
          </a:prstGeom>
          <a:noFill/>
          <a:ln/>
        </p:spPr>
        <p:txBody>
          <a:bodyPr wrap="square" lIns="0" tIns="0" rIns="0" bIns="0" rtlCol="0" anchor="t"/>
          <a:lstStyle/>
          <a:p>
            <a:pPr indent="0" marL="0">
              <a:lnSpc>
                <a:spcPts val="1900"/>
              </a:lnSpc>
              <a:buNone/>
            </a:pPr>
            <a:r>
              <a:rPr lang="en-US" sz="13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350" dirty="0"/>
          </a:p>
        </p:txBody>
      </p:sp>
      <p:sp>
        <p:nvSpPr>
          <p:cNvPr id="6" name="Shape 4"/>
          <p:cNvSpPr/>
          <p:nvPr/>
        </p:nvSpPr>
        <p:spPr>
          <a:xfrm>
            <a:off x="566928" y="1664208"/>
            <a:ext cx="182880" cy="182880"/>
          </a:xfrm>
          <a:prstGeom prst="ellipse">
            <a:avLst/>
          </a:prstGeom>
          <a:solidFill>
            <a:srgbClr val="C8553D"/>
          </a:solidFill>
          <a:ln/>
        </p:spPr>
      </p:sp>
      <p:sp>
        <p:nvSpPr>
          <p:cNvPr id="7" name="Text 5"/>
          <p:cNvSpPr/>
          <p:nvPr/>
        </p:nvSpPr>
        <p:spPr>
          <a:xfrm>
            <a:off x="859536" y="162763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87452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816352"/>
            <a:ext cx="182880" cy="182880"/>
          </a:xfrm>
          <a:prstGeom prst="ellipse">
            <a:avLst/>
          </a:prstGeom>
          <a:solidFill>
            <a:srgbClr val="C8553D"/>
          </a:solidFill>
          <a:ln/>
        </p:spPr>
      </p:sp>
      <p:sp>
        <p:nvSpPr>
          <p:cNvPr id="10" name="Text 8"/>
          <p:cNvSpPr/>
          <p:nvPr/>
        </p:nvSpPr>
        <p:spPr>
          <a:xfrm>
            <a:off x="859536" y="277977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302666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968496"/>
            <a:ext cx="182880" cy="182880"/>
          </a:xfrm>
          <a:prstGeom prst="ellipse">
            <a:avLst/>
          </a:prstGeom>
          <a:solidFill>
            <a:srgbClr val="D97706"/>
          </a:solidFill>
          <a:ln/>
        </p:spPr>
      </p:sp>
      <p:sp>
        <p:nvSpPr>
          <p:cNvPr id="13" name="Text 11"/>
          <p:cNvSpPr/>
          <p:nvPr/>
        </p:nvSpPr>
        <p:spPr>
          <a:xfrm>
            <a:off x="859536" y="393192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17880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664208"/>
            <a:ext cx="182880" cy="182880"/>
          </a:xfrm>
          <a:prstGeom prst="ellipse">
            <a:avLst/>
          </a:prstGeom>
          <a:solidFill>
            <a:srgbClr val="D97706"/>
          </a:solidFill>
          <a:ln/>
        </p:spPr>
      </p:sp>
      <p:sp>
        <p:nvSpPr>
          <p:cNvPr id="16" name="Text 14"/>
          <p:cNvSpPr/>
          <p:nvPr/>
        </p:nvSpPr>
        <p:spPr>
          <a:xfrm>
            <a:off x="6571336" y="162763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87452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816352"/>
            <a:ext cx="182880" cy="182880"/>
          </a:xfrm>
          <a:prstGeom prst="ellipse">
            <a:avLst/>
          </a:prstGeom>
          <a:solidFill>
            <a:srgbClr val="2B66EA"/>
          </a:solidFill>
          <a:ln/>
        </p:spPr>
      </p:sp>
      <p:sp>
        <p:nvSpPr>
          <p:cNvPr id="19" name="Text 17"/>
          <p:cNvSpPr/>
          <p:nvPr/>
        </p:nvSpPr>
        <p:spPr>
          <a:xfrm>
            <a:off x="6571336" y="277977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302666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968496"/>
            <a:ext cx="182880" cy="182880"/>
          </a:xfrm>
          <a:prstGeom prst="ellipse">
            <a:avLst/>
          </a:prstGeom>
          <a:solidFill>
            <a:srgbClr val="2B66EA"/>
          </a:solidFill>
          <a:ln/>
        </p:spPr>
      </p:sp>
      <p:sp>
        <p:nvSpPr>
          <p:cNvPr id="22" name="Text 20"/>
          <p:cNvSpPr/>
          <p:nvPr/>
        </p:nvSpPr>
        <p:spPr>
          <a:xfrm>
            <a:off x="6571336" y="393192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17880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2026-08-23T14:26:30Z</dcterms:created>
  <dcterms:modified xsi:type="dcterms:W3CDTF">2026-08-23T14:26:30Z</dcterms:modified>
</cp:coreProperties>
</file>