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on guaranteed debt;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840480"/>
                <a:gridCol w="2405786"/>
                <a:gridCol w="2405786"/>
                <a:gridCol w="2405786"/>
              </a:tblGrid>
              <a:tr h="25603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Counterparty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Bareilly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A4A Highway Nest LLP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 / lock-in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+ 4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 + 5 yrs · 5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Funding sought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₹4.17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True capital at risk</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₹2.36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₹4.38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Stabilised EBITDA margin (yr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37.7%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Project IRR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55.5%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19.5%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Spread over guaranteed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+43.4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+7.0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Minimum DSCR at the size asked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Assets a lender can charge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ADA owns all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expressly barred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Yes — E-O-D owns fit-out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Equity IRR at project level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Not offered — debt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Recommended instrument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 at reserve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55032"/>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06476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247640"/>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One instrument, three different routes to it</a:t>
            </a:r>
            <a:endParaRPr lang="en-US" sz="1400" dirty="0"/>
          </a:p>
        </p:txBody>
      </p:sp>
      <p:sp>
        <p:nvSpPr>
          <p:cNvPr id="10" name="Text 7"/>
          <p:cNvSpPr/>
          <p:nvPr/>
        </p:nvSpPr>
        <p:spPr>
          <a:xfrm>
            <a:off x="804672" y="5515153"/>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Geeta Govind Vatika is offered on debt only: a guaranteed facility supplies the whole ₹1.00 Cr at 12.10%, no collateral and no dilution, so there is nothing an equity structure would buy that it does not already provide. Karnal earns 19.5% and Ramayan Vatika 11.4%; neither clears an equity hurdle at project level. A single park generating ₹1–2.5 crore of mature EBITDA cannot pay a 22% return and leave an operator's margin. Equity belongs at company level, where it buys a portfolio rather than one wasting licence.</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on award, and only at a price the board has approved in advance. Both are auctions, both fees escalate for the full term, and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21.5%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2026-08-25T10:39:27Z</dcterms:created>
  <dcterms:modified xsi:type="dcterms:W3CDTF">2026-08-25T10:39:27Z</dcterms:modified>
</cp:coreProperties>
</file>