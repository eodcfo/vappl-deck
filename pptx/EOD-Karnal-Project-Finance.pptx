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9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0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Capex</c:v>
                </c:pt>
              </c:strCache>
            </c:strRef>
          </c:tx>
          <c:spPr>
            <a:solidFill>
              <a:srgbClr val="2B66E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Civil</c:v>
                  </c:pt>
                  <c:pt idx="1">
                    <c:v>Activity equipment</c:v>
                  </c:pt>
                  <c:pt idx="2">
                    <c:v>F&amp;B outlet fit-out and kitchen</c:v>
                  </c:pt>
                  <c:pt idx="3">
                    <c:v>Ticketing</c:v>
                  </c:pt>
                  <c:pt idx="4">
                    <c:v>Highway signage</c:v>
                  </c:pt>
                  <c:pt idx="5">
                    <c:v>Pre-operative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1.3</c:v>
                </c:pt>
                <c:pt idx="1">
                  <c:v>1.9</c:v>
                </c:pt>
                <c:pt idx="2">
                  <c:v>0.35</c:v>
                </c:pt>
                <c:pt idx="3">
                  <c:v>0.15</c:v>
                </c:pt>
                <c:pt idx="4">
                  <c:v>0.12</c:v>
                </c:pt>
                <c:pt idx="5">
                  <c:v>0.18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2B66E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  <c:pt idx="7">
                    <c:v>Yr 8</c:v>
                  </c:pt>
                  <c:pt idx="8">
                    <c:v>Yr 9</c:v>
                  </c:pt>
                  <c:pt idx="9">
                    <c:v>Yr 10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0.75</c:v>
                </c:pt>
                <c:pt idx="1">
                  <c:v>3.25</c:v>
                </c:pt>
                <c:pt idx="2">
                  <c:v>4</c:v>
                </c:pt>
                <c:pt idx="3">
                  <c:v>4.6</c:v>
                </c:pt>
                <c:pt idx="4">
                  <c:v>5.1</c:v>
                </c:pt>
                <c:pt idx="5">
                  <c:v>5.5</c:v>
                </c:pt>
                <c:pt idx="6">
                  <c:v>5.88</c:v>
                </c:pt>
                <c:pt idx="7">
                  <c:v>6.25</c:v>
                </c:pt>
                <c:pt idx="8">
                  <c:v>6.6</c:v>
                </c:pt>
                <c:pt idx="9">
                  <c:v>6.95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EBITDA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  <c:pt idx="7">
                    <c:v>Yr 8</c:v>
                  </c:pt>
                  <c:pt idx="8">
                    <c:v>Yr 9</c:v>
                  </c:pt>
                  <c:pt idx="9">
                    <c:v>Yr 10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-0.38</c:v>
                </c:pt>
                <c:pt idx="1">
                  <c:v>0.73</c:v>
                </c:pt>
                <c:pt idx="2">
                  <c:v>1.25</c:v>
                </c:pt>
                <c:pt idx="3">
                  <c:v>1.64</c:v>
                </c:pt>
                <c:pt idx="4">
                  <c:v>1.92</c:v>
                </c:pt>
                <c:pt idx="5">
                  <c:v>2.11</c:v>
                </c:pt>
                <c:pt idx="6">
                  <c:v>2.27</c:v>
                </c:pt>
                <c:pt idx="7">
                  <c:v>2.4</c:v>
                </c:pt>
                <c:pt idx="8">
                  <c:v>2.51</c:v>
                </c:pt>
                <c:pt idx="9">
                  <c:v>2.6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3B4660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Free cash flow</c:v>
                </c:pt>
              </c:strCache>
            </c:strRef>
          </c:tx>
          <c:spPr>
            <a:solidFill>
              <a:srgbClr val="2B66E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Capital</c:v>
                  </c:pt>
                  <c:pt idx="1">
                    <c:v>Yr 1</c:v>
                  </c:pt>
                  <c:pt idx="2">
                    <c:v>Yr 2</c:v>
                  </c:pt>
                  <c:pt idx="3">
                    <c:v>Yr 3</c:v>
                  </c:pt>
                  <c:pt idx="4">
                    <c:v>Yr 4</c:v>
                  </c:pt>
                  <c:pt idx="5">
                    <c:v>Yr 5</c:v>
                  </c:pt>
                  <c:pt idx="6">
                    <c:v>Yr 6</c:v>
                  </c:pt>
                  <c:pt idx="7">
                    <c:v>Yr 7</c:v>
                  </c:pt>
                  <c:pt idx="8">
                    <c:v>Yr 8</c:v>
                  </c:pt>
                  <c:pt idx="9">
                    <c:v>Yr 9</c:v>
                  </c:pt>
                  <c:pt idx="10">
                    <c:v>Yr 10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-4</c:v>
                </c:pt>
                <c:pt idx="1">
                  <c:v>-0.4</c:v>
                </c:pt>
                <c:pt idx="2">
                  <c:v>0.58</c:v>
                </c:pt>
                <c:pt idx="3">
                  <c:v>0.96</c:v>
                </c:pt>
                <c:pt idx="4">
                  <c:v>1.24</c:v>
                </c:pt>
                <c:pt idx="5">
                  <c:v>1.45</c:v>
                </c:pt>
                <c:pt idx="6">
                  <c:v>1.58</c:v>
                </c:pt>
                <c:pt idx="7">
                  <c:v>1.69</c:v>
                </c:pt>
                <c:pt idx="8">
                  <c:v>1.78</c:v>
                </c:pt>
                <c:pt idx="9">
                  <c:v>1.86</c:v>
                </c:pt>
                <c:pt idx="10">
                  <c:v>1.92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Project IRR</c:v>
                </c:pt>
              </c:strCache>
            </c:strRef>
          </c:tx>
          <c:spPr>
            <a:solidFill>
              <a:srgbClr val="C8553D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8553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B66E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Downside</c:v>
                  </c:pt>
                  <c:pt idx="1">
                    <c:v>Base case</c:v>
                  </c:pt>
                  <c:pt idx="2">
                    <c:v>Upside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-4.6</c:v>
                </c:pt>
                <c:pt idx="1">
                  <c:v>19.5</c:v>
                </c:pt>
                <c:pt idx="2">
                  <c:v>30.7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Project IRR, %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Debt service</c:v>
                </c:pt>
              </c:strCache>
            </c:strRef>
          </c:tx>
          <c:spPr>
            <a:solidFill>
              <a:srgbClr val="C8553D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  <c:pt idx="7">
                    <c:v>Yr 8</c:v>
                  </c:pt>
                  <c:pt idx="8">
                    <c:v>Yr 9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0.41</c:v>
                </c:pt>
                <c:pt idx="1">
                  <c:v>0.42</c:v>
                </c:pt>
                <c:pt idx="2">
                  <c:v>0.85</c:v>
                </c:pt>
                <c:pt idx="3">
                  <c:v>0.79</c:v>
                </c:pt>
                <c:pt idx="4">
                  <c:v>0.73</c:v>
                </c:pt>
                <c:pt idx="5">
                  <c:v>0.67</c:v>
                </c:pt>
                <c:pt idx="6">
                  <c:v>0.61</c:v>
                </c:pt>
                <c:pt idx="7">
                  <c:v>0.55</c:v>
                </c:pt>
                <c:pt idx="8">
                  <c:v>0.49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Cash available (EBITDA)</c:v>
                </c:pt>
              </c:strCache>
            </c:strRef>
          </c:tx>
          <c:spPr>
            <a:solidFill>
              <a:srgbClr val="2B66E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  <c:pt idx="7">
                    <c:v>Yr 8</c:v>
                  </c:pt>
                  <c:pt idx="8">
                    <c:v>Yr 9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-0.38</c:v>
                </c:pt>
                <c:pt idx="1">
                  <c:v>0.73</c:v>
                </c:pt>
                <c:pt idx="2">
                  <c:v>1.25</c:v>
                </c:pt>
                <c:pt idx="3">
                  <c:v>1.64</c:v>
                </c:pt>
                <c:pt idx="4">
                  <c:v>1.92</c:v>
                </c:pt>
                <c:pt idx="5">
                  <c:v>2.11</c:v>
                </c:pt>
                <c:pt idx="6">
                  <c:v>2.27</c:v>
                </c:pt>
                <c:pt idx="7">
                  <c:v>2.4</c:v>
                </c:pt>
                <c:pt idx="8">
                  <c:v>2.51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3B4660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FINANCE · 03 OF 04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960120"/>
            <a:ext cx="85953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2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566928" y="2706624"/>
            <a:ext cx="10241280" cy="911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500" i="1" dirty="0">
                <a:solidFill>
                  <a:srgbClr val="C9D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one of the three that is a build, not a takeover. Fifteen years on India's busiest national highway, a signed sub-lease, a long rent-free construction window — and the only project in the portfolio with assets a lender can take a charge over.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66928" y="3764280"/>
            <a:ext cx="10241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Sub-lease with A4A Highway Nest LLP · NH-1 Milestone 109, Gharaunda · 15-year term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guarantee ₹2–3 lakh a month from opening · Phase 1 build-out ₹4.00 Cr · opening ~September 2027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66928" y="4681728"/>
            <a:ext cx="11057839" cy="10973"/>
          </a:xfrm>
          <a:prstGeom prst="rect">
            <a:avLst/>
          </a:prstGeom>
          <a:solidFill>
            <a:srgbClr val="2A3247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COST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66928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₹4.00 Cr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566928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build-out, as committed in the investor deck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395396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IRR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395396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19.5%</a:t>
            </a:r>
            <a:endParaRPr lang="en-US" sz="2900" dirty="0"/>
          </a:p>
        </p:txBody>
      </p:sp>
      <p:sp>
        <p:nvSpPr>
          <p:cNvPr id="12" name="Text 10"/>
          <p:cNvSpPr/>
          <p:nvPr/>
        </p:nvSpPr>
        <p:spPr>
          <a:xfrm>
            <a:off x="3395396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 5.1 years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223864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DSCR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223864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1.48×</a:t>
            </a:r>
            <a:endParaRPr lang="en-US" sz="2900" dirty="0"/>
          </a:p>
        </p:txBody>
      </p:sp>
      <p:sp>
        <p:nvSpPr>
          <p:cNvPr id="15" name="Text 13"/>
          <p:cNvSpPr/>
          <p:nvPr/>
        </p:nvSpPr>
        <p:spPr>
          <a:xfrm>
            <a:off x="6223864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Comfortably above the 1.30× bank floor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9052331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FULL YEAR EBITDA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9052331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₹0.73 Cr</a:t>
            </a:r>
            <a:endParaRPr lang="en-US" sz="2900" dirty="0"/>
          </a:p>
        </p:txBody>
      </p:sp>
      <p:sp>
        <p:nvSpPr>
          <p:cNvPr id="18" name="Text 16"/>
          <p:cNvSpPr/>
          <p:nvPr/>
        </p:nvSpPr>
        <p:spPr>
          <a:xfrm>
            <a:off x="9052331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22.3% on ₹3.25 Cr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693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replicates the Delhi–Meerut Expressway format on a busier corridor. DME proved the highway-stopover model works and exposed exactly where it fails — indoor-only product against a fixed common-area charge. Karnal is built with the outdoor activity stack from day one.</a:t>
            </a:r>
            <a:endParaRPr lang="en-US" sz="12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72412"/>
          <a:ext cx="11057839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314639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NH-1 Milestone 109, Gharaunda, Karnal (Delhi-Amritsar highway)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Counterparty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Sub-lease with A4A Highway Nest LLP — a private sub-lease, not a government concession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years · minimum guarantee ₹2–3 lakh a month from opening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months · opening September 2027 · long rent-free build period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Asset position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E-O-D owns the activity equipment, fit-out and fixtures — a lender can hypothecate them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094988"/>
            <a:ext cx="11057839" cy="1962556"/>
          </a:xfrm>
          <a:prstGeom prst="roundRect">
            <a:avLst>
              <a:gd name="adj" fmla="val 2330"/>
            </a:avLst>
          </a:prstGeom>
          <a:solidFill>
            <a:srgbClr val="EDFAF4"/>
          </a:solidFill>
          <a:ln w="15875">
            <a:solidFill>
              <a:srgbClr val="10B98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04672" y="42047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804672" y="4387596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strongest of the three — and one fact to settle first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804672" y="4731055"/>
            <a:ext cx="10582351" cy="12533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auction, no authority tariff control, no mandated manpower floor, no restoration obligation over somebody else's bronze statue — and real assets that can secure the facility funding them.</a:t>
            </a:r>
            <a:endParaRPr lang="en-US" sz="1200" dirty="0"/>
          </a:p>
          <a:p>
            <a:pPr indent="0" marL="0">
              <a:lnSpc>
                <a:spcPts val="1704"/>
              </a:lnSpc>
              <a:buNone/>
            </a:pPr>
            <a:endParaRPr lang="en-US" sz="1200" dirty="0"/>
          </a:p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But: index.html records ~22,000 sq ft where financials.html reads ~6 acres. The footprint drives the revenue ceiling. Confirm it against the executed sub-lease before any drawdown.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cost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Unlike the two concessions, every rupee here is capital. There is no revolving working-capital component to separate out — the money buys assets that stay bought.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541272"/>
          <a:ext cx="11057839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373583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385470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COST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49808" y="410159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₹4.00 Cr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49808" y="457708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committed in the ₹10 Cr investor deck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326026" y="373583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8906" y="385470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PROMOTER CONTRIBUTION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4508906" y="410159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₹1.00 Cr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4508906" y="457708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 margin — the standard bank requirement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085125" y="373583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68005" y="385470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LOAN SOUGHT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8268005" y="410159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₹3.00 Cr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8268005" y="457708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the assets financed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66928" y="5107432"/>
            <a:ext cx="11057839" cy="1234664"/>
          </a:xfrm>
          <a:prstGeom prst="roundRect">
            <a:avLst>
              <a:gd name="adj" fmla="val 3703"/>
            </a:avLst>
          </a:prstGeom>
          <a:solidFill>
            <a:srgbClr val="F1F5FE"/>
          </a:solidFill>
          <a:ln w="15875">
            <a:solidFill>
              <a:srgbClr val="2B66E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04672" y="521716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2A5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804672" y="5400040"/>
            <a:ext cx="10582351" cy="273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70"/>
              </a:lnSpc>
              <a:buNone/>
            </a:pPr>
            <a:r>
              <a:rPr lang="en-US" sz="18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already funded in the existing plan — the question is how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804672" y="5728310"/>
            <a:ext cx="10582351" cy="54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2"/>
              </a:lnSpc>
              <a:buNone/>
            </a:pPr>
            <a:r>
              <a:rPr lang="en-US" sz="11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round earmarks ₹4 crore for Karnal. On these numbers that is not the cheapest way: the project earns 19.5% against 12.50% guaranteed debt. Debt-funding it frees that ₹4 crore for the parks with no debt route.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Ten-year projection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follows the range published in the company financial model: ₹0.50–1.00 crore in the FY27-28 stub half-year, ₹3.00–4.00 crore in the first full year. Midpoints used throughout.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541272"/>
          <a:ext cx="11057839" cy="2514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28447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440334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FULL YEAR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49808" y="465023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₹3.25 Cr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49808" y="512572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22.3% EBITDA margin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326026" y="428447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8906" y="440334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AT YEAR 5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4508906" y="465023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37.7%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4508906" y="512572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21.6% at GGV and 20.3% at Ramayan Vatika in the same year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085125" y="428447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68005" y="440334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10 EBITDA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8268005" y="465023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₹2.60 Cr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8268005" y="512572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sub-lease years still to run beyond the model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returns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Unlevered free cash flow to the project. Capital deployed is the true project cost — the revolving opex facility is financing, not project cost, so it is excluded here.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541272"/>
          <a:ext cx="11057839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3964432"/>
            <a:ext cx="2599868" cy="1207008"/>
          </a:xfrm>
          <a:prstGeom prst="roundRect">
            <a:avLst>
              <a:gd name="adj" fmla="val 454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4083304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IRR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49808" y="4330192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19.5%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49808" y="4805680"/>
            <a:ext cx="2234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Unlevered, no extension value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86252" y="3964432"/>
            <a:ext cx="2599868" cy="1207008"/>
          </a:xfrm>
          <a:prstGeom prst="roundRect">
            <a:avLst>
              <a:gd name="adj" fmla="val 454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569132" y="4083304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3569132" y="4330192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5.1 yrs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3569132" y="4805680"/>
            <a:ext cx="2234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first deployment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205576" y="3964432"/>
            <a:ext cx="2599868" cy="1207008"/>
          </a:xfrm>
          <a:prstGeom prst="roundRect">
            <a:avLst>
              <a:gd name="adj" fmla="val 454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88456" y="4083304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ALL-IN COST OF CGTMSE DEBT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6388456" y="4330192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12.50%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6388456" y="4805680"/>
            <a:ext cx="2234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Interest plus guarantee fee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9024899" y="3964432"/>
            <a:ext cx="2599868" cy="1207008"/>
          </a:xfrm>
          <a:prstGeom prst="roundRect">
            <a:avLst>
              <a:gd name="adj" fmla="val 454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207779" y="4083304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OVER DEBT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9207779" y="4330192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+7.0 pp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9207779" y="4805680"/>
            <a:ext cx="2234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closest of the three to clearing an equity hurdle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revenue range in the company financial model is ₹3–4 crore for the first full year. Base is the midpoint; downside sits below the published floor.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541272"/>
          <a:ext cx="11057839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735832"/>
          <a:ext cx="11057839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588666"/>
                <a:gridCol w="2588666"/>
                <a:gridCol w="2588666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Downside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case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Upside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1 EBITDA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₹-0.64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₹-0.38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₹-0.21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Stabilised revenue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₹3.83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₹5.10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₹6.12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Stabilised EBITDA margin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Payback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within term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 yrs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 yrs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3836416"/>
            <a:ext cx="11057839" cy="1287363"/>
          </a:xfrm>
          <a:prstGeom prst="roundRect">
            <a:avLst>
              <a:gd name="adj" fmla="val 3551"/>
            </a:avLst>
          </a:prstGeom>
          <a:solidFill>
            <a:srgbClr val="EDFAF4"/>
          </a:solidFill>
          <a:ln w="15875">
            <a:solidFill>
              <a:srgbClr val="10B981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04672" y="3946144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10" name="Text 6"/>
          <p:cNvSpPr/>
          <p:nvPr/>
        </p:nvSpPr>
        <p:spPr>
          <a:xfrm>
            <a:off x="804672" y="4129024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the downside services its debt</a:t>
            </a:r>
            <a:endParaRPr lang="en-US" sz="1900" dirty="0"/>
          </a:p>
        </p:txBody>
      </p:sp>
      <p:sp>
        <p:nvSpPr>
          <p:cNvPr id="11" name="Text 7"/>
          <p:cNvSpPr/>
          <p:nvPr/>
        </p:nvSpPr>
        <p:spPr>
          <a:xfrm>
            <a:off x="804672" y="4472483"/>
            <a:ext cx="10582351" cy="5781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25% below base — under the floor of the published range — the project still reaches ₹0.55 Cr of stabilised EBITDA. A project with its own assets flexes its cost base; one renting somebody else's cannot.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A · Equity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Karnal is funded in the existing plan — ₹4 crore of the ₹10 crore round. Shown at project level so it compares like for like against the other two instruments.</a:t>
            </a:r>
            <a:endParaRPr lang="en-US" sz="12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41272"/>
          <a:ext cx="11057839" cy="914400"/>
        </p:xfrm>
        <a:graphic>
          <a:graphicData uri="http://schemas.openxmlformats.org/drawingml/2006/table">
            <a:tbl>
              <a:tblPr/>
              <a:tblGrid>
                <a:gridCol w="8229600"/>
                <a:gridCol w="2828239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Capital — ₹4.00 Cr of build cost plus ₹0.38 Cr for the year-1 ramp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₹4.38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Stake offered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Distributions from year 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₹2.61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of year 6 at ₹9.03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Investor IRR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Stake needed to clear a 22% hurdle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284472"/>
            <a:ext cx="11057839" cy="1737492"/>
          </a:xfrm>
          <a:prstGeom prst="roundRect">
            <a:avLst>
              <a:gd name="adj" fmla="val 2631"/>
            </a:avLst>
          </a:prstGeom>
          <a:solidFill>
            <a:srgbClr val="FDF6EC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04672" y="439420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804672" y="4577080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than the concessions, still short of a hurdle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804672" y="4920539"/>
            <a:ext cx="10582351" cy="10282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45% the investor earns 8.2% — the best of the three project-level equity cases in this pack, and still well short of 22%. The reason is structural: a single park generating ₹2–2.6 crore of mature EBITDA cannot carry both a venture return on ₹4 crore and an operator's margin. Equity works at portfolio level, where one round backs five parks and a brand. It does not work one park at a time — which is an argument about where the equity sits, not whether to raise it.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B · Debt under CGTMSE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conventional CGTMSE term loan against assets the borrower owns, with a promoter margin and a construction moratorium. Of the three projects, this is the one a credit committee will recognise immediately.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541272"/>
          <a:ext cx="11057839" cy="1874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3616960"/>
            <a:ext cx="2599868" cy="1152144"/>
          </a:xfrm>
          <a:prstGeom prst="roundRect">
            <a:avLst>
              <a:gd name="adj" fmla="val 4762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3735832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FACILITY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49808" y="3982720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₹3.50 Cr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49808" y="4458208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loan ₹3.00 Cr + working capital ₹0.50 Cr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86252" y="3616960"/>
            <a:ext cx="2599868" cy="1152144"/>
          </a:xfrm>
          <a:prstGeom prst="roundRect">
            <a:avLst>
              <a:gd name="adj" fmla="val 4762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569132" y="3735832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ALL-IN RATE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3569132" y="3982720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11.50% + 1.00%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3569132" y="4458208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Interest plus annual guarantee fee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205576" y="3616960"/>
            <a:ext cx="2599868" cy="1152144"/>
          </a:xfrm>
          <a:prstGeom prst="roundRect">
            <a:avLst>
              <a:gd name="adj" fmla="val 4762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88456" y="3735832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DSCR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6388456" y="3982720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1.48×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6388456" y="4458208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2-year moratorium. Banks underwrite to 1.30×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9024899" y="3616960"/>
            <a:ext cx="2599868" cy="1152144"/>
          </a:xfrm>
          <a:prstGeom prst="roundRect">
            <a:avLst>
              <a:gd name="adj" fmla="val 4762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207779" y="3735832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CAPACITY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9207779" y="3982720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₹4.04 Cr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9207779" y="4458208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the project services at a 1.3× floor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566928" y="5061712"/>
            <a:ext cx="11057839" cy="1287363"/>
          </a:xfrm>
          <a:prstGeom prst="roundRect">
            <a:avLst>
              <a:gd name="adj" fmla="val 3551"/>
            </a:avLst>
          </a:prstGeom>
          <a:solidFill>
            <a:srgbClr val="EDFAF4"/>
          </a:solidFill>
          <a:ln w="15875">
            <a:solidFill>
              <a:srgbClr val="10B98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04672" y="51714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804672" y="5354320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cleanest credit in the pack</a:t>
            </a:r>
            <a:endParaRPr lang="en-US" sz="1900" dirty="0"/>
          </a:p>
        </p:txBody>
      </p:sp>
      <p:sp>
        <p:nvSpPr>
          <p:cNvPr id="26" name="Text 23"/>
          <p:cNvSpPr/>
          <p:nvPr/>
        </p:nvSpPr>
        <p:spPr>
          <a:xfrm>
            <a:off x="804672" y="5697779"/>
            <a:ext cx="10582351" cy="5781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signed fifteen-year sub-lease, assets the bank can hypothecate, a 2-year moratorium covering construction and ramp, and DSCR at 1.48×. Bank this one first — the sanction establishes the CGTMSE record the two concession facilities will need.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C · Debt converted to equity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with a fixed conversion date. The instrument that most closely matches a build-and-ramp project: no dilution while the site is under construction, conversion once it is trading.</a:t>
            </a:r>
            <a:endParaRPr lang="en-US" sz="12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41272"/>
          <a:ext cx="11057839" cy="914400"/>
        </p:xfrm>
        <a:graphic>
          <a:graphicData uri="http://schemas.openxmlformats.org/drawingml/2006/table">
            <a:tbl>
              <a:tblPr/>
              <a:tblGrid>
                <a:gridCol w="7680960"/>
                <a:gridCol w="3376879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Principal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₹4.38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Coupon, annual until conversion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Conversion — one full year after opening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of year 3, into 38%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Coupon paid to conversion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₹1.18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Investor IRR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3863848"/>
            <a:ext cx="11057839" cy="2187621"/>
          </a:xfrm>
          <a:prstGeom prst="roundRect">
            <a:avLst>
              <a:gd name="adj" fmla="val 2090"/>
            </a:avLst>
          </a:prstGeom>
          <a:solidFill>
            <a:srgbClr val="FBEFEC"/>
          </a:solidFill>
          <a:ln w="15875">
            <a:solidFill>
              <a:srgbClr val="C8553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04672" y="397357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804672" y="4156456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coupon lands in the wrong years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804672" y="4499915"/>
            <a:ext cx="10582351" cy="1478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Years 1 to 3 are construction and ramp — the project loses ₹0.38 Cr at EBITDA in year 1, and there is no rent-free relief on a debenture coupon. ₹1.18 Cr has to come from the group while the site is being built. A CGTMSE term loan with a two-year moratorium defers the same burden for less.</a:t>
            </a:r>
            <a:endParaRPr lang="en-US" sz="1200" dirty="0"/>
          </a:p>
          <a:p>
            <a:pPr indent="0" marL="0">
              <a:lnSpc>
                <a:spcPts val="1704"/>
              </a:lnSpc>
              <a:buNone/>
            </a:pPr>
            <a:endParaRPr lang="en-US" sz="1200" dirty="0"/>
          </a:p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objective is deferred dilution rather than debt capacity, a zero-coupon CCD with a conversion premium removes the cash burden — priced on the date of issue, to satisfy the FEMA formula test.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option, and why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3527450" cy="2889504"/>
          </a:xfrm>
          <a:prstGeom prst="roundRect">
            <a:avLst>
              <a:gd name="adj" fmla="val 1899"/>
            </a:avLst>
          </a:prstGeom>
          <a:solidFill>
            <a:srgbClr val="FFFFFF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298448"/>
            <a:ext cx="31251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A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768096" y="1517904"/>
            <a:ext cx="31251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68096" y="1847088"/>
            <a:ext cx="312511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8.2%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768096" y="2340864"/>
            <a:ext cx="31251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IRR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768096" y="2651760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2697480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in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518160" y="2697480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₹4.38 Cr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68096" y="2980944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14" name="Text 12"/>
          <p:cNvSpPr/>
          <p:nvPr/>
        </p:nvSpPr>
        <p:spPr>
          <a:xfrm>
            <a:off x="768096" y="3026664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 offered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518160" y="3026664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45%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68096" y="3310128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17" name="Text 15"/>
          <p:cNvSpPr/>
          <p:nvPr/>
        </p:nvSpPr>
        <p:spPr>
          <a:xfrm>
            <a:off x="768096" y="3355848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multiple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518160" y="3355848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1.52×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68096" y="3639312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3685032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 for a 22% IRR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2518160" y="3685032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84%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332122" y="1133856"/>
            <a:ext cx="3527450" cy="2889504"/>
          </a:xfrm>
          <a:prstGeom prst="roundRect">
            <a:avLst>
              <a:gd name="adj" fmla="val 1899"/>
            </a:avLst>
          </a:prstGeom>
          <a:solidFill>
            <a:srgbClr val="EDFAF4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33290" y="1298448"/>
            <a:ext cx="31251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B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4533290" y="1517904"/>
            <a:ext cx="31251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· CGTMSE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533290" y="1847088"/>
            <a:ext cx="312511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1.48×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4533290" y="2340864"/>
            <a:ext cx="31251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DSCR · THIS FACILITY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533290" y="2651760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28" name="Text 26"/>
          <p:cNvSpPr/>
          <p:nvPr/>
        </p:nvSpPr>
        <p:spPr>
          <a:xfrm>
            <a:off x="4533290" y="2697480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283354" y="2697480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₹3.50 Cr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533290" y="2980944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31" name="Text 29"/>
          <p:cNvSpPr/>
          <p:nvPr/>
        </p:nvSpPr>
        <p:spPr>
          <a:xfrm>
            <a:off x="4533290" y="3026664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loan / WC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283354" y="3026664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3.00 / 0.50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533290" y="3310128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34" name="Text 32"/>
          <p:cNvSpPr/>
          <p:nvPr/>
        </p:nvSpPr>
        <p:spPr>
          <a:xfrm>
            <a:off x="4533290" y="3355848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All-in rate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283354" y="3355848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11.50% + fee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533290" y="3639312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37" name="Text 35"/>
          <p:cNvSpPr/>
          <p:nvPr/>
        </p:nvSpPr>
        <p:spPr>
          <a:xfrm>
            <a:off x="4533290" y="3685032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finance cost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6283354" y="3685032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₹2.52 Cr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8097317" y="1133856"/>
            <a:ext cx="3527450" cy="2889504"/>
          </a:xfrm>
          <a:prstGeom prst="roundRect">
            <a:avLst>
              <a:gd name="adj" fmla="val 1899"/>
            </a:avLst>
          </a:prstGeom>
          <a:solidFill>
            <a:srgbClr val="FFFFFF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298485" y="1298448"/>
            <a:ext cx="31251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C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8298485" y="1517904"/>
            <a:ext cx="31251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→ equity (CCD)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8298485" y="1847088"/>
            <a:ext cx="312511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7.5%</a:t>
            </a:r>
            <a:endParaRPr lang="en-US" sz="3000" dirty="0"/>
          </a:p>
        </p:txBody>
      </p:sp>
      <p:sp>
        <p:nvSpPr>
          <p:cNvPr id="43" name="Text 41"/>
          <p:cNvSpPr/>
          <p:nvPr/>
        </p:nvSpPr>
        <p:spPr>
          <a:xfrm>
            <a:off x="8298485" y="2340864"/>
            <a:ext cx="31251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IRR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8298485" y="2651760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45" name="Text 43"/>
          <p:cNvSpPr/>
          <p:nvPr/>
        </p:nvSpPr>
        <p:spPr>
          <a:xfrm>
            <a:off x="8298485" y="2697480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10048549" y="2697480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₹4.38 Cr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8298485" y="2980944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48" name="Text 46"/>
          <p:cNvSpPr/>
          <p:nvPr/>
        </p:nvSpPr>
        <p:spPr>
          <a:xfrm>
            <a:off x="8298485" y="3026664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Coupon to conversion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10048549" y="3026664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9.0% · yr 3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8298485" y="3310128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51" name="Text 49"/>
          <p:cNvSpPr/>
          <p:nvPr/>
        </p:nvSpPr>
        <p:spPr>
          <a:xfrm>
            <a:off x="8298485" y="3355848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 on conversion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10048549" y="3355848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38%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8298485" y="3639312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54" name="Text 52"/>
          <p:cNvSpPr/>
          <p:nvPr/>
        </p:nvSpPr>
        <p:spPr>
          <a:xfrm>
            <a:off x="8298485" y="3685032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multiple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10048549" y="3685032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1.42×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566928" y="4224528"/>
            <a:ext cx="11057839" cy="1962556"/>
          </a:xfrm>
          <a:prstGeom prst="roundRect">
            <a:avLst>
              <a:gd name="adj" fmla="val 2330"/>
            </a:avLst>
          </a:prstGeom>
          <a:solidFill>
            <a:srgbClr val="EDFAF4"/>
          </a:solidFill>
          <a:ln w="15875">
            <a:solidFill>
              <a:srgbClr val="10B98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04672" y="433425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804672" y="4517136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B — and take this facility to the bank first</a:t>
            </a:r>
            <a:endParaRPr lang="en-US" sz="1900" dirty="0"/>
          </a:p>
        </p:txBody>
      </p:sp>
      <p:sp>
        <p:nvSpPr>
          <p:cNvPr id="59" name="Text 57"/>
          <p:cNvSpPr/>
          <p:nvPr/>
        </p:nvSpPr>
        <p:spPr>
          <a:xfrm>
            <a:off x="804672" y="4860595"/>
            <a:ext cx="10582351" cy="12533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earns 19.5% against 12.50% guaranteed debt, covers its service at 1.48× from the first repayment year, and — uniquely in this pack — owns assets a lender can hypothecate. A ₹3.00 Cr term loan with ₹1.00 Cr of promoter margin funds the whole build for ₹2.52 Cr of total finance cost, against giving away 45% of a park generating ₹2.60 Cr of EBITDA by year 10. The wider consequence matters more: funding Karnal with debt releases the ₹4 crore earmarked for it in the equity round, and that capital has no debt alternative at the two concessions.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 and open items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1170432"/>
            <a:ext cx="182880" cy="182880"/>
          </a:xfrm>
          <a:prstGeom prst="ellipse">
            <a:avLst/>
          </a:prstGeom>
          <a:solidFill>
            <a:srgbClr val="C8553D"/>
          </a:solidFill>
          <a:ln/>
        </p:spPr>
      </p:sp>
      <p:sp>
        <p:nvSpPr>
          <p:cNvPr id="6" name="Text 4"/>
          <p:cNvSpPr/>
          <p:nvPr/>
        </p:nvSpPr>
        <p:spPr>
          <a:xfrm>
            <a:off x="859536" y="1133856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Footprint unconfirmed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59536" y="1380744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index.html records ~22,000 sq ft; the Karnal assumption block in financials.html reads ~6 acres. The two are not reconcilable and the footprint drives the revenue ceiling. Read the executed sub-lease before any drawdown.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2322576"/>
            <a:ext cx="182880" cy="18288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9" name="Text 7"/>
          <p:cNvSpPr/>
          <p:nvPr/>
        </p:nvSpPr>
        <p:spPr>
          <a:xfrm>
            <a:off x="859536" y="2286000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Construction and opening slippage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59536" y="2532888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twelve-month build to a September 2027 opening. Slipping past the summer pushes a full peak quarter into the next year. The two-year moratorium absorbs a season; contract the build with liquidated damages.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3474720"/>
            <a:ext cx="182880" cy="18288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2" name="Text 10"/>
          <p:cNvSpPr/>
          <p:nvPr/>
        </p:nvSpPr>
        <p:spPr>
          <a:xfrm>
            <a:off x="859536" y="3438144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First-full-year revenue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59536" y="3685032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₹3.25 Cr in the first full year is a projection for an unbuilt park. DME's first year was ₹25 lakh. Karnal opens with the outdoor stack DME lacked, on a busier corridor.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78728" y="1170432"/>
            <a:ext cx="182880" cy="18288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5" name="Text 13"/>
          <p:cNvSpPr/>
          <p:nvPr/>
        </p:nvSpPr>
        <p:spPr>
          <a:xfrm>
            <a:off x="6571336" y="1133856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Counterparty concentration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571336" y="1380744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private sub-lessor holds the head lease. Its default or loss of tenure ends the project. Confirm the head-lease tenure exceeds the sub-lease; seek a direct agreement or step-in right.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278728" y="2322576"/>
            <a:ext cx="182880" cy="18288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8" name="Text 16"/>
          <p:cNvSpPr/>
          <p:nvPr/>
        </p:nvSpPr>
        <p:spPr>
          <a:xfrm>
            <a:off x="6571336" y="2286000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guarantee in a weak year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571336" y="2532888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₹2–3 lakh a month is payable whether or not anyone stops — the same mechanism that produced DME's ₹29.9 lakh fixed-CAM loss. Negotiate MG against a revenue share, whichever is higher.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78728" y="3474720"/>
            <a:ext cx="182880" cy="182880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21" name="Text 19"/>
          <p:cNvSpPr/>
          <p:nvPr/>
        </p:nvSpPr>
        <p:spPr>
          <a:xfrm>
            <a:off x="6571336" y="3438144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Rent-free period undefined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571336" y="3685032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Described as “long” without a duration. This model assumes no rent until opening. Confirm whether it is tied to commissioning or to a fixed date.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E-O-D Parks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Karnal — Project Finance</dc:title>
  <dc:subject>NH-1 private sub-lease, 15 years</dc:subject>
  <dc:creator>Vision Amusement Park Pvt. Ltd.</dc:creator>
  <cp:lastModifiedBy>Vision Amusement Park Pvt. Ltd.</cp:lastModifiedBy>
  <cp:revision>1</cp:revision>
  <dcterms:created xsi:type="dcterms:W3CDTF">2026-08-25T02:40:46Z</dcterms:created>
  <dcterms:modified xsi:type="dcterms:W3CDTF">2026-08-25T02:40:46Z</dcterms:modified>
</cp:coreProperties>
</file>