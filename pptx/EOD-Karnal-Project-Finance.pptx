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Civil</c:v>
                  </c:pt>
                  <c:pt idx="1">
                    <c:v>Activity equipment</c:v>
                  </c:pt>
                  <c:pt idx="2">
                    <c:v>F&amp;B outlet fit-out and kitchen</c:v>
                  </c:pt>
                  <c:pt idx="3">
                    <c:v>Ticketing</c:v>
                  </c:pt>
                  <c:pt idx="4">
                    <c:v>Highway signage</c:v>
                  </c:pt>
                  <c:pt idx="5">
                    <c:v>Pre-operative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1.3</c:v>
                </c:pt>
                <c:pt idx="1">
                  <c:v>1.9</c:v>
                </c:pt>
                <c:pt idx="2">
                  <c:v>0.35</c:v>
                </c:pt>
                <c:pt idx="3">
                  <c:v>0.15</c:v>
                </c:pt>
                <c:pt idx="4">
                  <c:v>0.12</c:v>
                </c:pt>
                <c:pt idx="5">
                  <c:v>0.18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0.75</c:v>
                </c:pt>
                <c:pt idx="1">
                  <c:v>3.25</c:v>
                </c:pt>
                <c:pt idx="2">
                  <c:v>4</c:v>
                </c:pt>
                <c:pt idx="3">
                  <c:v>4.6</c:v>
                </c:pt>
                <c:pt idx="4">
                  <c:v>5.1</c:v>
                </c:pt>
                <c:pt idx="5">
                  <c:v>5.5</c:v>
                </c:pt>
                <c:pt idx="6">
                  <c:v>5.88</c:v>
                </c:pt>
                <c:pt idx="7">
                  <c:v>6.25</c:v>
                </c:pt>
                <c:pt idx="8">
                  <c:v>6.6</c:v>
                </c:pt>
                <c:pt idx="9">
                  <c:v>6.95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  <c:pt idx="9">
                  <c:v>2.6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 cash flow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Capital</c:v>
                  </c:pt>
                  <c:pt idx="1">
                    <c:v>Yr 1</c:v>
                  </c:pt>
                  <c:pt idx="2">
                    <c:v>Yr 2</c:v>
                  </c:pt>
                  <c:pt idx="3">
                    <c:v>Yr 3</c:v>
                  </c:pt>
                  <c:pt idx="4">
                    <c:v>Yr 4</c:v>
                  </c:pt>
                  <c:pt idx="5">
                    <c:v>Yr 5</c:v>
                  </c:pt>
                  <c:pt idx="6">
                    <c:v>Yr 6</c:v>
                  </c:pt>
                  <c:pt idx="7">
                    <c:v>Yr 7</c:v>
                  </c:pt>
                  <c:pt idx="8">
                    <c:v>Yr 8</c:v>
                  </c:pt>
                  <c:pt idx="9">
                    <c:v>Yr 9</c:v>
                  </c:pt>
                  <c:pt idx="10">
                    <c:v>Yr 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-4</c:v>
                </c:pt>
                <c:pt idx="1">
                  <c:v>-0.4</c:v>
                </c:pt>
                <c:pt idx="2">
                  <c:v>0.58</c:v>
                </c:pt>
                <c:pt idx="3">
                  <c:v>0.96</c:v>
                </c:pt>
                <c:pt idx="4">
                  <c:v>1.24</c:v>
                </c:pt>
                <c:pt idx="5">
                  <c:v>1.45</c:v>
                </c:pt>
                <c:pt idx="6">
                  <c:v>1.58</c:v>
                </c:pt>
                <c:pt idx="7">
                  <c:v>1.69</c:v>
                </c:pt>
                <c:pt idx="8">
                  <c:v>1.78</c:v>
                </c:pt>
                <c:pt idx="9">
                  <c:v>1.86</c:v>
                </c:pt>
                <c:pt idx="10">
                  <c:v>1.92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 IRR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66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Downside</c:v>
                  </c:pt>
                  <c:pt idx="1">
                    <c:v>Base case</c:v>
                  </c:pt>
                  <c:pt idx="2">
                    <c:v>Upside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-4.6</c:v>
                </c:pt>
                <c:pt idx="1">
                  <c:v>19.5</c:v>
                </c:pt>
                <c:pt idx="2">
                  <c:v>30.7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Project IRR,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Debt service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</c:v>
                </c:pt>
                <c:pt idx="1">
                  <c:v>0.42</c:v>
                </c:pt>
                <c:pt idx="2">
                  <c:v>0.85</c:v>
                </c:pt>
                <c:pt idx="3">
                  <c:v>0.79</c:v>
                </c:pt>
                <c:pt idx="4">
                  <c:v>0.73</c:v>
                </c:pt>
                <c:pt idx="5">
                  <c:v>0.67</c:v>
                </c:pt>
                <c:pt idx="6">
                  <c:v>0.61</c:v>
                </c:pt>
                <c:pt idx="7">
                  <c:v>0.55</c:v>
                </c:pt>
                <c:pt idx="8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available (EBITDA)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03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of the three that is a build, not a takeover. Fifteen years on India's busiest national highway, a signed sub-lease, a long rent-free construction window — and the only project in the portfolio with assets a lender can take a charge over.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Sub-lease with A4A Highway Nest LLP · NH-1 Milestone 109, Gharaunda · 15-year term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₹2–3 lakh a month from opening · Phase 1 build-out ₹4.00 Cr · opening ~September 2027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build-out, as committed in the investor deck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5.1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Comfortably above the 1.30× bank floor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 EBITDA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₹0.73 Cr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on ₹3.25 Cr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replicates the Delhi–Meerut Expressway format on a busier corridor. DME proved the highway-stopover model works and exposed exactly where it fails — indoor-only product against a fixed common-area charge. Karnal is built with the outdoor activity stack from day one.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146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NH-1 Milestone 109, Gharaunda, Karnal (Delhi-Amritsar highway)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Counterparty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Sub-lease with A4A Highway Nest LLP — a private sub-lease, not a government concession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years · minimum guarantee ₹2–3 lakh a month from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 · opening September 2027 · long rent-free build period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owns the activity equipment, fit-out and fixtures — a lender can hypothecate them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86384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3973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15645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of the three — and one fact to settle first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49991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auction, no authority tariff control, no mandated manpower floor, no restoration obligation over somebody else's bronze statue — and real assets that can secure the facility funding them.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index.html records ~22,000 sq ft where financials.html reads ~6 acres. The footprint drives the revenue ceiling. Confirm it against the executed sub-lease before any drawdown.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the two concessions, every rupee here is capital. There is no revolving working-capital component to separate out — the money buys assets that stay bought.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committed in the ₹10 Cr investor deck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PROMOTER CONTRIBUTION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margin — the standard bank requirement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SOUGHT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₹3.00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assets financed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5107432"/>
            <a:ext cx="11057839" cy="1234664"/>
          </a:xfrm>
          <a:prstGeom prst="roundRect">
            <a:avLst>
              <a:gd name="adj" fmla="val 370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52171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5400040"/>
            <a:ext cx="10582351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already funded in the existing plan — the question is how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04672" y="5728310"/>
            <a:ext cx="10582351" cy="54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earmarks ₹4 crore for Karnal. On these numbers that is not the cheapest way: the project earns 19.5% against 12.50% guaranteed debt. Debt-funding it frees that ₹4 crore for the parks with no debt route.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follows the range published in the company financial model: ₹0.50–1.00 crore in the FY27-28 stub half-year, ₹3.00–4.00 crore in the first full year. Midpoints used throughout.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EBITDA margin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AT YEAR 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21.6% at GGV and 20.3% at Ramayan Vatika in the same year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10 EBITDA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sub-lease years still to run beyond the model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 to the project. Capital deployed is the true project cost — the revolving opex facility is financing, not project cost, so it is excluded here.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no extension value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 OF CGTMSE DEBT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12.50%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guarantee fee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OVER DEBT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+7.0 pp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closest of the three to clearing an equity hurdle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range in the company financial model is ₹3–4 crore for the first full year. Base is the midpoint; downside sits below the published floor.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35832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88666"/>
                <a:gridCol w="2588666"/>
                <a:gridCol w="2588666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EBITDA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₹-0.64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₹-0.21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₹3.83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EBITDA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within 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836416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394614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412902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downside services its debt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804672" y="4472483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25% below base — under the floor of the published range — the project still reaches ₹0.55 Cr of stabilised EBITDA. A project with its own assets flexes its cost base; one renting somebody else's cannot.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Karnal is funded in the existing plan — ₹4 crore of the ₹10 crore round. Shown at project level so it compares like for like against the other two instruments.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2828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— ₹4.00 Cr of build cost plus ₹0.38 Cr for the year-1 ramp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offered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Distributions from 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₹2.61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6 at ₹9.03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needed to clear a 22% hurdle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394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57708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the concessions, still short of a hurdle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20539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45% the investor earns 8.2% — the best of the three project-level equity cases in this pack, and still well short of 22%. The reason is structural: a single park generating ₹2–2.6 crore of mature EBITDA cannot carry both a venture return on ₹4 crore and an operator's margin. Equity works at portfolio level, where one round backs five parks and a brand. It does not work one park at a time — which is an argument about where the equity sits, not whether to raise it.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conventional CGTMSE term loan against assets the borrower owns, with a promoter margin and a construction moratorium. Of the three projects, this is the one a credit committee will recognise immediately.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₹3.00 Cr + working capital ₹0.50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+ 1.00%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69132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annual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2-year moratorium. Banks underwrite to 1.30×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₹4.04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the project services at a 1.3× floor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061712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1714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35432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cleanest credit in the pack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804672" y="5697779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fifteen-year sub-lease, assets the bank can hypothecate, a 2-year moratorium covering construction and ramp, and DSCR at 1.48×. Bank this one first — the sanction establishes the CGTMSE record the two concession facilities will need.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with a fixed conversion date. The instrument that most closely matches a build-and-ramp project: no dilution while the site is under construction, conversion once it is trading.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one full year after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38%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86384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3973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15645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coupon lands in the wrong years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49991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1 to 3 are construction and ramp — the project loses ₹0.38 Cr at EBITDA in year 1, and there is no rent-free relief on a debenture coupon. ₹1.18 Cr has to come from the group while the site is being built. A CGTMSE term loan with a two-year moratorium defers the same burden for less.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objective is deferred dilution rather than debt capacity, a zero-coupon CCD with a conversion premium removes the cash burden — priced on the date of issue, to satisfy the FEMA formula test.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offered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1.52×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for a 22% IRR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 · THIS FACILITY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/ WC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3.00 / 0.50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fee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₹2.52 Cr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to conversion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9.0% · yr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on conversion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1.42×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224528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3342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51713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and take this facility to the bank first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60595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earns 19.5% against 12.50% guaranteed debt, covers its service at 1.48× from the first repayment year, and — uniquely in this pack — owns assets a lender can hypothecate. A ₹3.00 Cr term loan with ₹1.00 Cr of promoter margin funds the whole build for ₹2.52 Cr of total finance cost, against giving away 45% of a park generating ₹2.60 Cr of EBITDA by year 10. The wider consequence matters more: funding Karnal with debt releases the ₹4 crore earmarked for it in the equity round, and that capital has no debt alternative at the two concessions.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 unconfirmed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records ~22,000 sq ft; the Karnal assumption block in financials.html reads ~6 acres. The two are not reconcilable and the footprint drives the revenue ceiling. Read the executed sub-lease before any drawdown.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and opening slippage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twelve-month build to a September 2027 opening. Slipping past the summer pushes a full peak quarter into the next year. The two-year moratorium absorbs a season; contract the build with liquidated damages.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First-full-year revenue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 in the first full year is a projection for an unbuilt park. DME's first year was ₹25 lakh. Karnal opens with the outdoor stack DME lacked, on a busier corridor.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concentration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private sub-lessor holds the head lease. Its default or loss of tenure ends the project. Confirm the head-lease tenure exceeds the sub-lease; seek a direct agreement or step-in right.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in a weak year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₹2–3 lakh a month is payable whether or not anyone stops — the same mechanism that produced DME's ₹29.9 lakh fixed-CAM loss. Negotiate MG against a revenue share, whichever is higher.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Rent-free period undefined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Described as “long” without a duration. This model assumes no rent until opening. Confirm whether it is tied to commissioning or to a fixed date.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Karnal — Project Finance</dc:title>
  <dc:subject>NH-1 private sub-lease, 15 years</dc:subject>
  <dc:creator>Vision Amusement Park Pvt. Ltd.</dc:creator>
  <cp:lastModifiedBy>Vision Amusement Park Pvt. Ltd.</cp:lastModifiedBy>
  <cp:revision>1</cp:revision>
  <dcterms:created xsi:type="dcterms:W3CDTF">2026-08-24T16:56:39Z</dcterms:created>
  <dcterms:modified xsi:type="dcterms:W3CDTF">2026-08-24T16:56:39Z</dcterms:modified>
</cp:coreProperties>
</file>