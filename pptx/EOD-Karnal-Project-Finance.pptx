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28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81806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7C8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7C8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7C8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7C8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3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23360"/>
            <a:ext cx="11057839" cy="1640690"/>
          </a:xfrm>
          <a:prstGeom prst="roundRect">
            <a:avLst>
              <a:gd name="adj" fmla="val 2787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1696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370832"/>
            <a:ext cx="10582351" cy="294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the strongest of the three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38129"/>
            <a:ext cx="10582351" cy="852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 — the rent is a negotiated minimum guarantee, not a number set against unknown bidders. No authority tariff control — E-O-D prices its own tickets. No mandated manpower floor — the establishment flexes with the season. No restoration obligation over somebody else's bronze statue. And real assets that can secure the facility funding them.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5865218"/>
            <a:ext cx="11057839" cy="731520"/>
          </a:xfrm>
          <a:prstGeom prst="roundRect">
            <a:avLst>
              <a:gd name="adj" fmla="val 6250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601152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04672" y="6212690"/>
            <a:ext cx="10582351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fact to settle before any of this is bid or drawn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04672" y="6518062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7"/>
              </a:lnSpc>
              <a:buNone/>
            </a:pPr>
            <a:r>
              <a:rPr lang="en-US" sz="8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'~6 acres'. The two are not reconcilable and the footprint drives the revenue ceiling. To be confirmed against the signed sub-lease before this model is bid.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27632"/>
          <a:ext cx="11057839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42232"/>
            <a:ext cx="3539642" cy="1188720"/>
          </a:xfrm>
          <a:prstGeom prst="roundRect">
            <a:avLst>
              <a:gd name="adj" fmla="val 461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27939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49808" y="45079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983480"/>
            <a:ext cx="3173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142232"/>
            <a:ext cx="3539642" cy="1188720"/>
          </a:xfrm>
          <a:prstGeom prst="roundRect">
            <a:avLst>
              <a:gd name="adj" fmla="val 461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27939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08906" y="45079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983480"/>
            <a:ext cx="3173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142232"/>
            <a:ext cx="3539642" cy="1188720"/>
          </a:xfrm>
          <a:prstGeom prst="roundRect">
            <a:avLst>
              <a:gd name="adj" fmla="val 461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27939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268005" y="45079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983480"/>
            <a:ext cx="3173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586984"/>
            <a:ext cx="11057839" cy="731520"/>
          </a:xfrm>
          <a:prstGeom prst="roundRect">
            <a:avLst>
              <a:gd name="adj" fmla="val 6250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7332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934456"/>
            <a:ext cx="10582351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804672" y="6239827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7"/>
              </a:lnSpc>
              <a:buNone/>
            </a:pPr>
            <a:r>
              <a:rPr lang="en-US" sz="8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₹10 crore equity round earmarks ₹4 crore for Karnal Phase 1. On these numbers that is not the cheapest way to fund it: the project earns 19.5% against 12.50% guaranteed debt. Funding Karnal with debt frees ₹4 crore of the round for the parks that cannot be debt-funded — or reduces the round, and the dilution, by the same amount.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27632"/>
          <a:ext cx="11057839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690872"/>
            <a:ext cx="3539642" cy="1188720"/>
          </a:xfrm>
          <a:prstGeom prst="roundRect">
            <a:avLst>
              <a:gd name="adj" fmla="val 461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82803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49808" y="50566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532120"/>
            <a:ext cx="3173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690872"/>
            <a:ext cx="3539642" cy="1188720"/>
          </a:xfrm>
          <a:prstGeom prst="roundRect">
            <a:avLst>
              <a:gd name="adj" fmla="val 461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82803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08906" y="50566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532120"/>
            <a:ext cx="3173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690872"/>
            <a:ext cx="3539642" cy="1188720"/>
          </a:xfrm>
          <a:prstGeom prst="roundRect">
            <a:avLst>
              <a:gd name="adj" fmla="val 461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82803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268005" y="50566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532120"/>
            <a:ext cx="3173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2763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70832"/>
            <a:ext cx="2599868" cy="1280160"/>
          </a:xfrm>
          <a:prstGeom prst="roundRect">
            <a:avLst>
              <a:gd name="adj" fmla="val 4286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507992"/>
            <a:ext cx="2234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49808" y="47365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212080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4370832"/>
            <a:ext cx="2599868" cy="1280160"/>
          </a:xfrm>
          <a:prstGeom prst="roundRect">
            <a:avLst>
              <a:gd name="adj" fmla="val 4286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507992"/>
            <a:ext cx="2234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569132" y="47365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5212080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4370832"/>
            <a:ext cx="2599868" cy="1280160"/>
          </a:xfrm>
          <a:prstGeom prst="roundRect">
            <a:avLst>
              <a:gd name="adj" fmla="val 4286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507992"/>
            <a:ext cx="2234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388456" y="47365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5212080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4370832"/>
            <a:ext cx="2599868" cy="1280160"/>
          </a:xfrm>
          <a:prstGeom prst="roundRect">
            <a:avLst>
              <a:gd name="adj" fmla="val 4286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507992"/>
            <a:ext cx="2234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9207779" y="47365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5212080"/>
            <a:ext cx="22341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27632"/>
          <a:ext cx="11057839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422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532120"/>
            <a:ext cx="11057839" cy="758952"/>
          </a:xfrm>
          <a:prstGeom prst="roundRect">
            <a:avLst>
              <a:gd name="adj" fmla="val 6024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6784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879592"/>
            <a:ext cx="10582351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04672" y="6184964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7"/>
              </a:lnSpc>
              <a:buNone/>
            </a:pPr>
            <a:r>
              <a:rPr lang="en-US" sz="8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below the floor of the published range — the project still reaches ₹0.55 Cr of stabilised EBITDA. That is the difference between a project with its own assets and one renting somebody else's: the cost base moves with the revenue.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₹2.02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70832"/>
            <a:ext cx="11057839" cy="1870083"/>
          </a:xfrm>
          <a:prstGeom prst="roundRect">
            <a:avLst>
              <a:gd name="adj" fmla="val 2445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5171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718304"/>
            <a:ext cx="10582351" cy="294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5085601"/>
            <a:ext cx="10582351" cy="1082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6.0%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627632"/>
          <a:ext cx="11057839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06240"/>
            <a:ext cx="2599868" cy="1298448"/>
          </a:xfrm>
          <a:prstGeom prst="roundRect">
            <a:avLst>
              <a:gd name="adj" fmla="val 422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43400"/>
            <a:ext cx="2234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49808" y="457200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47488"/>
            <a:ext cx="2234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4206240"/>
            <a:ext cx="2599868" cy="1298448"/>
          </a:xfrm>
          <a:prstGeom prst="roundRect">
            <a:avLst>
              <a:gd name="adj" fmla="val 422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343400"/>
            <a:ext cx="2234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569132" y="457200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5047488"/>
            <a:ext cx="2234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4206240"/>
            <a:ext cx="2599868" cy="1298448"/>
          </a:xfrm>
          <a:prstGeom prst="roundRect">
            <a:avLst>
              <a:gd name="adj" fmla="val 422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343400"/>
            <a:ext cx="2234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388456" y="457200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5047488"/>
            <a:ext cx="2234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4206240"/>
            <a:ext cx="2599868" cy="1298448"/>
          </a:xfrm>
          <a:prstGeom prst="roundRect">
            <a:avLst>
              <a:gd name="adj" fmla="val 422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343400"/>
            <a:ext cx="22341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9207779" y="457200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₹4.04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5047488"/>
            <a:ext cx="2234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760720"/>
            <a:ext cx="11057839" cy="731520"/>
          </a:xfrm>
          <a:prstGeom prst="roundRect">
            <a:avLst>
              <a:gd name="adj" fmla="val 625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9070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6108192"/>
            <a:ext cx="10582351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04672" y="6413563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7"/>
              </a:lnSpc>
              <a:buNone/>
            </a:pPr>
            <a:r>
              <a:rPr lang="en-US" sz="8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 rent-free construction period, assets the bank can hypothecate, a 2-year moratorium covering construction and ramp, and DSCR at 1.48× rising through the term. Take this facility to a bank first — a sanction here establishes the CGTMSE track record the two concession facilities will need.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005840"/>
            <a:ext cx="110578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23360"/>
            <a:ext cx="11057839" cy="1640690"/>
          </a:xfrm>
          <a:prstGeom prst="roundRect">
            <a:avLst>
              <a:gd name="adj" fmla="val 2787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1696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370832"/>
            <a:ext cx="10582351" cy="294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38129"/>
            <a:ext cx="10582351" cy="852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ramp: the project loses ₹0.38 Cr at EBITDA in year 1, and there is no rent-free relief on a debenture coupon. ₹1.18 Cr has to be funded from the group while the site is being built. A CGTMSE term loan with a two-year principal moratorium defers the same burden and costs less.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5865218"/>
            <a:ext cx="11057839" cy="731520"/>
          </a:xfrm>
          <a:prstGeom prst="roundRect">
            <a:avLst>
              <a:gd name="adj" fmla="val 6250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601152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04672" y="6212690"/>
            <a:ext cx="10582351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structural variant worth considering instead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04672" y="6518062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7"/>
              </a:lnSpc>
              <a:buNone/>
            </a:pPr>
            <a:r>
              <a:rPr lang="en-US" sz="8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entirely — the investor's return comes from converting at a fixed discount to a later round rather than from a coupon during construction. The pricing must still be fixed on the date of issue to satisfy the FEMA conversion-formula test if any of the money is foreign.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1.39×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870083"/>
          </a:xfrm>
          <a:prstGeom prst="roundRect">
            <a:avLst>
              <a:gd name="adj" fmla="val 2445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7083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72000"/>
            <a:ext cx="10582351" cy="294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939297"/>
            <a:ext cx="10582351" cy="1082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2026-08-23T14:26:30Z</dcterms:created>
  <dcterms:modified xsi:type="dcterms:W3CDTF">2026-08-23T14:26:30Z</dcterms:modified>
</cp:coreProperties>
</file>