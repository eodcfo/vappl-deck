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Largest facility inside a 2.0× covenant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No
conversion</c:v>
                  </c:pt>
                  <c:pt idx="1">
                    <c:v>Convert the
₹2.60 Cr</c:v>
                  </c:pt>
                  <c:pt idx="2">
                    <c:v>Convert all
₹4.09 Cr</c:v>
                  </c:pt>
                  <c:pt idx="3">
                    <c:v>Convert all, drawn
in tranches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0.31</c:v>
                </c:pt>
                <c:pt idx="1">
                  <c:v>8.11</c:v>
                </c:pt>
                <c:pt idx="2">
                  <c:v>12.58</c:v>
                </c:pt>
                <c:pt idx="3">
                  <c:v>18.58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Existing four parks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</c:v>
                </c:pt>
                <c:pt idx="1">
                  <c:v>33</c:v>
                </c:pt>
                <c:pt idx="2">
                  <c:v>43.5</c:v>
                </c:pt>
                <c:pt idx="3">
                  <c:v>51</c:v>
                </c:pt>
                <c:pt idx="4">
                  <c:v>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Geeta Govind Vatika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1.17</c:v>
                </c:pt>
                <c:pt idx="1">
                  <c:v>2.64</c:v>
                </c:pt>
                <c:pt idx="2">
                  <c:v>3.23</c:v>
                </c:pt>
                <c:pt idx="3">
                  <c:v>4.03</c:v>
                </c:pt>
                <c:pt idx="4">
                  <c:v>4.88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Ramayan Vatika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1.54</c:v>
                </c:pt>
                <c:pt idx="2">
                  <c:v>2.16</c:v>
                </c:pt>
                <c:pt idx="3">
                  <c:v>2.82</c:v>
                </c:pt>
                <c:pt idx="4">
                  <c:v>3.21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Karnal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0.75</c:v>
                </c:pt>
                <c:pt idx="2">
                  <c:v>3.25</c:v>
                </c:pt>
                <c:pt idx="3">
                  <c:v>4</c:v>
                </c:pt>
                <c:pt idx="4">
                  <c:v>4.6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Revenue, 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facility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1.16</c:v>
                </c:pt>
                <c:pt idx="1">
                  <c:v>2.29</c:v>
                </c:pt>
                <c:pt idx="2">
                  <c:v>2.13</c:v>
                </c:pt>
                <c:pt idx="3">
                  <c:v>1.94</c:v>
                </c:pt>
                <c:pt idx="4">
                  <c:v>1.75</c:v>
                </c:pt>
                <c:pt idx="5">
                  <c:v>1.56</c:v>
                </c:pt>
                <c:pt idx="6">
                  <c:v>1.37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 debt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0.7</c:v>
                </c:pt>
                <c:pt idx="1">
                  <c:v>0.65</c:v>
                </c:pt>
                <c:pt idx="2">
                  <c:v>0.6</c:v>
                </c:pt>
                <c:pt idx="3">
                  <c:v>0.54</c:v>
                </c:pt>
                <c:pt idx="4">
                  <c:v>0.49</c:v>
                </c:pt>
                <c:pt idx="5">
                  <c:v>0.43</c:v>
                </c:pt>
                <c:pt idx="6">
                  <c:v>0.38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EBITDA available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5.53</c:v>
                </c:pt>
                <c:pt idx="1">
                  <c:v>7.42</c:v>
                </c:pt>
                <c:pt idx="2">
                  <c:v>13.22</c:v>
                </c:pt>
                <c:pt idx="3">
                  <c:v>17.11</c:v>
                </c:pt>
                <c:pt idx="4">
                  <c:v>20.54</c:v>
                </c:pt>
                <c:pt idx="5">
                  <c:v>21.77</c:v>
                </c:pt>
                <c:pt idx="6">
                  <c:v>23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04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Amusement Park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fund the company rather than the projects — equity, guaranteed debt, and debt that becomes equity. One is materially cheaper than the headline round, and one balance-sheet move has to happen before any of them.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CIN U93000DL2011PTC212814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revenue ₹16.29 Cr · EBITDA ₹2.37 Cr · net worth ₹2.58 Cr · borrowings ₹7.85 Cr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₹71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parks, including all three new projects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AT ₹90 CR PRE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 over five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CEILING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borrower, across all lenders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D/E AFTER CONVERSION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0.56×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3.04× today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company stands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determines whether VAPPL can borrow, and at what price.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0132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7400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FY25-26 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 credit committee sees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₹16.29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All-time high, +27% year on year, four parks operating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₹2.37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14.5% margin — a ramp year, below the 36% single-park benchmark of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and improving. Was negative ₹1.30 Cr in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borrowings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₹7.85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₹5.26 Cr short-term across 13 facilities, ₹2.60 Cr from related parties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to equity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3.04×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high. Most banks want under 2× for an unsecured facility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ratio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~0.50×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 1.0 every year — structurally dependent on revolving credit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 arrears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₹2.14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red flag on any sanction 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10819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21792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40080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things stand between VAPPL and a bank sanction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74426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to equity at 3.04×. Thirteen separate NBFC and bank facilities, which reads as distress borrowing regardless of how it arose. ₹2.14 Cr of electricity arrears — a live utility default is the single item most likely to stop a sanction note. And a current ratio below 1.0 in every year on record. None of the options in this deck should reach a lender before these are fixed.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 status and CGTMSE eligibility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covers micro and small enterprises only. VAPPL's eligibility is not marginal — but it has an expiry date, and the date is inside this plan.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IN PLANT &amp; MACHINERY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₹6.13 Cr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49808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₹25 Cr Small Enterprise limit — ₹18.87 Cr of headroom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6026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8906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TURNOVER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08906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₹16.29 Cr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508906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₹100 Cr limit — ₹83.71 Cr of headroom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5125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EDFA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8005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68005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68005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eligible. Both tests cleared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949448"/>
          <a:ext cx="11057839" cy="914400"/>
        </p:xfrm>
        <a:graphic>
          <a:graphicData uri="http://schemas.openxmlformats.org/drawingml/2006/table">
            <a:tbl>
              <a:tblPr/>
              <a:tblGrid>
                <a:gridCol w="7863840"/>
                <a:gridCol w="3193999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Facility size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annual guarantee fee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₹1 crore and up to ₹2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₹2 crore and up to ₹5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₹5 crore and up to ₹8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₹8 crore and up to ₹10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66928" y="457555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468528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486816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moved in VAPPL's favour on 1 April 2025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804672" y="521162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 limits rose to ₹25 Cr of investment and ₹100 Cr of turnover, and the CGTMSE ceiling doubled to ₹10 Cr per borrower. Both landed after the ₹10 crore equity round was designed — which is the reason this pack exists. A facility sanctioned while the company qualifies keeps its cover for its full tenor.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balance sheet first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raising anything there is a free move. Roughly ₹4 crore of VAPPL's ₹7.85 crore of borrowings is money the promoters already put in. Converting it costs no cash and transforms the balance sheet a lender is asked to lend against.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08400"/>
          <a:ext cx="11057839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737360"/>
                <a:gridCol w="237744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D/E once ₹10 Cr is drawn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facility at 2.0×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₹0.31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the ₹2.60 Cr long-term related-party loans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₹8.11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 related-party and promoter debt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all, drawn in tranches as FY26-27 earnings retain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7472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7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20080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only the ₹2.60 crore is not enough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7593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₹2.60 Cr caps the facility at ₹8.11 Cr. Converting all ₹4.09 Cr lifts it to ₹12.58 Cr. Converting nothing supports ₹0.31 Cr — the company cannot borrow at all.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consolidated plan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four parks plus all three new projects, phased on the award and opening dates assumed in each project deck. Existing-portfolio figures are the midpoints already published in the company financial model.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₹71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₹16.29 Cr in FY25-26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EBITDA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₹21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29.1% margin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PROJECTS' SHARE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FY30-31 revenue. EMV was 73% of the group in FY25-26 — concentration risk materially reduced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round is ₹10 crore at ₹90 crore pre-money. Funding all three new projects with equity would take it to roughly ₹16 crore. Here is what that returns to the person writing the cheque.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595360"/>
                <a:gridCol w="2462479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 basis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at exit — FY30-31, five years from a September 2026 close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 at 3.0× revenue (11× EBITDA cross-checks at ₹226 Cr)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value at exit, net of debt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₹204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proceeds — 15.1% of exit equity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 over five years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29482"/>
          <a:ext cx="11057839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2560320"/>
                <a:gridCol w="264535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hurdle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required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pre-money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 — family office, strategic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 — lower-quartile growth fund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— institutional growth 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the asking 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5186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491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17794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₹90 crore pre-money prices most of the growth in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5307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₹90 crore pre-money an investor earns 14.0% over five years — an argument about counterparty, not valuation.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collateral-free composite facility: a term loan for the project build-outs and a working-capital limit that consolidates the NBFC book.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₹6.50 Cr + working capital ₹3.50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interest + 1.20%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2.52×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existing ₹7.85 Cr book, not just the new facility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seven years, against ₹31 Cr for the equivalent equity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400040"/>
            <a:ext cx="11057839" cy="954654"/>
          </a:xfrm>
          <a:prstGeom prst="roundRect">
            <a:avLst>
              <a:gd name="adj" fmla="val 4789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5097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692648"/>
            <a:ext cx="10582351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debt is roughly a fifth of the cost of the equity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04672" y="5975350"/>
            <a:ext cx="10582351" cy="30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 collateral-free at 12.70% costs ₹5.70 Cr over seven years — against ₹31 Cr for the equivalent equity, on the company's own projections.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 as debt at a coupon, converting into equity on a fixed formula three years out. At company level — unlike at project level — this is genuinely competitive with both alternatives.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compulsory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13.0%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conversion valuation, post-money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₹2.88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Money multiple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348734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45846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64134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risk-adjusted structure — with one condition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84801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21.5% against 14.0% for straight equity at the same valuation and exit. Dilution is deferred three years, and 13.0% converted at ₹92 Cr is cheaper than 15.1% sold today at ₹90 crore pre-money.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condition: a CCD is borrowing until it converts. Convert the related-party debt first, or agree in the sanction letter that the CGTMSE leverage covenant excludes compulsorily convertible instruments.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15.1% immediately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₹31 Cr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 months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OVER 7 YEARS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6–12 weeks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21.5%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 in year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₹29 Cr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months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169664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2793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46227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three, in sequence — not one instead of the others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05731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1, now, no external party: convert all ₹4.09 Cr of related-party and promoter debt. Gearing falls to 0.56×, clear the arrears, consolidate the NBFC book.  ·  Step 2, the cheap capital: a ₹10 Cr CGTMSE facility at 12.70% all-in, ₹5.70 Cr total cost.  ·  Step 3, the equity, smaller and later: with the debt in place the round need not be ₹16 Cr — ₹6–8 crore covers what debt cannot reach, at roughly half the dilution.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precedent to any lender approach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all ₹4.09 Cr of related-party debt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D/E from 3.04× to 0.56×, and to 1.61× once drawn. Converting only the ₹2.60 Cr caps the facility at ₹8.11 Cr; converting nothing caps it at ₹0.31 Cr. Board resolution.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₹2.14 Cr electricity arrears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utility default is the single item most likely to stop a sanction note in its tracks. Settle or formally reschedule with the discom before applying.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the NBFC book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Thirteen facilities read as distress borrowing. Reduce to a countable number before applying — a lender will covenant against re-borrowing anyway.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Udyam registration and NIC code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 requires a live registration on the correct activity code for the borrowing entity. Confirm before the application, not after a rejection.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FY25-26 audit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 accounts carry a ₹54.5 lakh depreciation placeholder against an estimated ₹1.0–1.1 Cr. Net worth moves; EBITDA and DSCR do not. Expected August 2026.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 BDA consent for any change of control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Ramayan Vatika's lock-in bars shareholding changes without prior written approval. Applies to the equity round and to CCD conversion alike.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 Amusement Park — Company Capital Structure</dc:title>
  <dc:subject>Equity, CGTMSE debt and debt converted to equity</dc:subject>
  <dc:creator>Vision Amusement Park Pvt. Ltd.</dc:creator>
  <cp:lastModifiedBy>Vision Amusement Park Pvt. Ltd.</cp:lastModifiedBy>
  <cp:revision>1</cp:revision>
  <dcterms:created xsi:type="dcterms:W3CDTF">2026-08-25T11:23:55Z</dcterms:created>
  <dcterms:modified xsi:type="dcterms:W3CDTF">2026-08-25T11:23:55Z</dcterms:modified>
</cp:coreProperties>
</file>