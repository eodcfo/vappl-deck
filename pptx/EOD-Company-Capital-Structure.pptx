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Largest facility inside a 2.0× covenant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8553D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No
conversion</c:v>
                  </c:pt>
                  <c:pt idx="1">
                    <c:v>Convert the
₹2.60 Cr</c:v>
                  </c:pt>
                  <c:pt idx="2">
                    <c:v>Convert all
₹4.09 Cr</c:v>
                  </c:pt>
                  <c:pt idx="3">
                    <c:v>Convert all, drawn
in tranches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0.31</c:v>
                </c:pt>
                <c:pt idx="1">
                  <c:v>8.11</c:v>
                </c:pt>
                <c:pt idx="2">
                  <c:v>12.58</c:v>
                </c:pt>
                <c:pt idx="3">
                  <c:v>18.58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Existing four parks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24</c:v>
                </c:pt>
                <c:pt idx="1">
                  <c:v>33</c:v>
                </c:pt>
                <c:pt idx="2">
                  <c:v>43.5</c:v>
                </c:pt>
                <c:pt idx="3">
                  <c:v>51</c:v>
                </c:pt>
                <c:pt idx="4">
                  <c:v>58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Geeta Govind Vatika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1.24</c:v>
                </c:pt>
                <c:pt idx="1">
                  <c:v>2.81</c:v>
                </c:pt>
                <c:pt idx="2">
                  <c:v>3.44</c:v>
                </c:pt>
                <c:pt idx="3">
                  <c:v>3.99</c:v>
                </c:pt>
                <c:pt idx="4">
                  <c:v>4.48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Ramayan Vatika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Sheet1!$D$2:$D$6</c:f>
              <c:numCache>
                <c:formatCode>General</c:formatCode>
                <c:ptCount val="5"/>
                <c:pt idx="0">
                  <c:v>0</c:v>
                </c:pt>
                <c:pt idx="1">
                  <c:v>1.54</c:v>
                </c:pt>
                <c:pt idx="2">
                  <c:v>2.16</c:v>
                </c:pt>
                <c:pt idx="3">
                  <c:v>2.82</c:v>
                </c:pt>
                <c:pt idx="4">
                  <c:v>3.21</c:v>
                </c:pt>
              </c:numCache>
            </c:numRef>
          </c:val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Karnal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FY26-27</c:v>
                  </c:pt>
                  <c:pt idx="1">
                    <c:v>FY27-28</c:v>
                  </c:pt>
                  <c:pt idx="2">
                    <c:v>FY28-29</c:v>
                  </c:pt>
                  <c:pt idx="3">
                    <c:v>FY29-30</c:v>
                  </c:pt>
                  <c:pt idx="4">
                    <c:v>FY30-31</c:v>
                  </c:pt>
                </c:lvl>
              </c:multiLvlStrCache>
            </c:multiLvlStrRef>
          </c:cat>
          <c:val>
            <c:numRef>
              <c:f>Sheet1!$E$2:$E$6</c:f>
              <c:numCache>
                <c:formatCode>General</c:formatCode>
                <c:ptCount val="5"/>
                <c:pt idx="0">
                  <c:v>0</c:v>
                </c:pt>
                <c:pt idx="1">
                  <c:v>0.75</c:v>
                </c:pt>
                <c:pt idx="2">
                  <c:v>3.25</c:v>
                </c:pt>
                <c:pt idx="3">
                  <c:v>4</c:v>
                </c:pt>
                <c:pt idx="4">
                  <c:v>4.6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Revenue, 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New facility</c:v>
                </c:pt>
              </c:strCache>
            </c:strRef>
          </c:tx>
          <c:spPr>
            <a:solidFill>
              <a:srgbClr val="C8553D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1.16</c:v>
                </c:pt>
                <c:pt idx="1">
                  <c:v>2.29</c:v>
                </c:pt>
                <c:pt idx="2">
                  <c:v>2.13</c:v>
                </c:pt>
                <c:pt idx="3">
                  <c:v>1.94</c:v>
                </c:pt>
                <c:pt idx="4">
                  <c:v>1.75</c:v>
                </c:pt>
                <c:pt idx="5">
                  <c:v>1.56</c:v>
                </c:pt>
                <c:pt idx="6">
                  <c:v>1.37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Existing debt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0.7</c:v>
                </c:pt>
                <c:pt idx="1">
                  <c:v>0.65</c:v>
                </c:pt>
                <c:pt idx="2">
                  <c:v>0.6</c:v>
                </c:pt>
                <c:pt idx="3">
                  <c:v>0.54</c:v>
                </c:pt>
                <c:pt idx="4">
                  <c:v>0.49</c:v>
                </c:pt>
                <c:pt idx="5">
                  <c:v>0.43</c:v>
                </c:pt>
                <c:pt idx="6">
                  <c:v>0.38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EBITDA available</c:v>
                </c:pt>
              </c:strCache>
            </c:strRef>
          </c:tx>
          <c:spPr>
            <a:solidFill>
              <a:srgbClr val="2B66E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3B4660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Yr 1</c:v>
                  </c:pt>
                  <c:pt idx="1">
                    <c:v>Yr 2</c:v>
                  </c:pt>
                  <c:pt idx="2">
                    <c:v>Yr 3</c:v>
                  </c:pt>
                  <c:pt idx="3">
                    <c:v>Yr 4</c:v>
                  </c:pt>
                  <c:pt idx="4">
                    <c:v>Yr 5</c:v>
                  </c:pt>
                  <c:pt idx="5">
                    <c:v>Yr 6</c:v>
                  </c:pt>
                  <c:pt idx="6">
                    <c:v>Yr 7</c:v>
                  </c:pt>
                </c:lvl>
              </c:multiLvlStrCache>
            </c:multiLvlStrRef>
          </c:cat>
          <c:val>
            <c:numRef>
              <c:f>Sheet1!$D$2:$D$8</c:f>
              <c:numCache>
                <c:formatCode>General</c:formatCode>
                <c:ptCount val="7"/>
                <c:pt idx="0">
                  <c:v>5.58</c:v>
                </c:pt>
                <c:pt idx="1">
                  <c:v>7.54</c:v>
                </c:pt>
                <c:pt idx="2">
                  <c:v>13.37</c:v>
                </c:pt>
                <c:pt idx="3">
                  <c:v>17.08</c:v>
                </c:pt>
                <c:pt idx="4">
                  <c:v>20.24</c:v>
                </c:pt>
                <c:pt idx="5">
                  <c:v>21.46</c:v>
                </c:pt>
                <c:pt idx="6">
                  <c:v>22.67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900" u="none">
                  <a:solidFill>
                    <a:srgbClr val="3B4660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3B4660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2E4EA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6E7689"/>
                    </a:solidFill>
                    <a:latin typeface="Calibri"/>
                  </a:defRPr>
                </a:pPr>
                <a:r>
                  <a:rPr sz="1000" b="0" i="0" u="none" strike="noStrike">
                    <a:solidFill>
                      <a:srgbClr val="6E7689"/>
                    </a:solidFill>
                    <a:latin typeface="Calibri"/>
                  </a:rPr>
                  <a:t>₹ crore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E7689"/>
                </a:solidFill>
                <a:latin typeface="Calibri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 w="12700" cap="flat">
          <a:solidFill>
            <a:srgbClr val="363636"/>
          </a:solidFill>
        </a:ln>
        <a:effectLst/>
      </c:spPr>
    </c:plotArea>
    <c:legend>
      <c:legendPos val="t"/>
      <c:overlay val="0"/>
      <c:txPr>
        <a:bodyPr/>
        <a:lstStyle/>
        <a:p>
          <a:pPr>
            <a:defRPr sz="1000">
              <a:solidFill>
                <a:srgbClr val="3B4660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4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7498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FINANCE · 04 OF 04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566928" y="960120"/>
            <a:ext cx="859536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</a:t>
            </a:r>
            <a:endParaRPr lang="en-US" sz="50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Amusement Park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2706624"/>
            <a:ext cx="10241280" cy="607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300"/>
              </a:lnSpc>
              <a:buNone/>
            </a:pPr>
            <a:r>
              <a:rPr lang="en-US" sz="1500" i="1" dirty="0">
                <a:solidFill>
                  <a:srgbClr val="C9D0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ways to fund the company rather than the projects — equity, guaranteed debt, and debt that becomes equity. One is materially cheaper than the headline round, and one balance-sheet move has to happen before any of them.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66928" y="3460496"/>
            <a:ext cx="102412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CIN U93000DL2011PTC212814</a:t>
            </a:r>
            <a:endParaRPr lang="en-US" sz="115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15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FY25-26 revenue ₹16.29 Cr · EBITDA ₹2.37 Cr · net worth ₹2.58 Cr · borrowings ₹7.85 Cr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566928" y="4681728"/>
            <a:ext cx="11057839" cy="10973"/>
          </a:xfrm>
          <a:prstGeom prst="rect">
            <a:avLst/>
          </a:prstGeom>
          <a:solidFill>
            <a:srgbClr val="2A3247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566928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900" dirty="0"/>
          </a:p>
        </p:txBody>
      </p:sp>
      <p:sp>
        <p:nvSpPr>
          <p:cNvPr id="9" name="Text 7"/>
          <p:cNvSpPr/>
          <p:nvPr/>
        </p:nvSpPr>
        <p:spPr>
          <a:xfrm>
            <a:off x="566928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parks, including all three new projects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395396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AT ₹90 CR PRE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3395396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13.9%</a:t>
            </a:r>
            <a:endParaRPr lang="en-US" sz="2900" dirty="0"/>
          </a:p>
        </p:txBody>
      </p:sp>
      <p:sp>
        <p:nvSpPr>
          <p:cNvPr id="12" name="Text 10"/>
          <p:cNvSpPr/>
          <p:nvPr/>
        </p:nvSpPr>
        <p:spPr>
          <a:xfrm>
            <a:off x="3395396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 over five years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223864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CEILING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223864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900" dirty="0"/>
          </a:p>
        </p:txBody>
      </p:sp>
      <p:sp>
        <p:nvSpPr>
          <p:cNvPr id="15" name="Text 13"/>
          <p:cNvSpPr/>
          <p:nvPr/>
        </p:nvSpPr>
        <p:spPr>
          <a:xfrm>
            <a:off x="6223864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borrower, across all lenders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9052331" y="4901184"/>
            <a:ext cx="25724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40" kern="0" dirty="0">
                <a:solidFill>
                  <a:srgbClr val="8A93A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D/E AFTER CONVERSION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052331" y="5148072"/>
            <a:ext cx="2572436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0.56×</a:t>
            </a:r>
            <a:endParaRPr lang="en-US" sz="2900" dirty="0"/>
          </a:p>
        </p:txBody>
      </p:sp>
      <p:sp>
        <p:nvSpPr>
          <p:cNvPr id="18" name="Text 16"/>
          <p:cNvSpPr/>
          <p:nvPr/>
        </p:nvSpPr>
        <p:spPr>
          <a:xfrm>
            <a:off x="9052331" y="5669280"/>
            <a:ext cx="257243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A8B2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3.04× today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company stands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Only what determines whether VAPPL can borrow, and at what price.</a:t>
            </a:r>
            <a:endParaRPr lang="en-US" sz="125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310132"/>
          <a:ext cx="1105783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371600"/>
                <a:gridCol w="7400239"/>
              </a:tblGrid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FY25-26 position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Amount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a credit committee sees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₹16.29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All-time high, +27% year on year, four parks operating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EBITDA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₹2.37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14.5% margin — a ramp year, below the 36% single-park benchmark of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and improving. Was negative ₹1.30 Cr in FY22-23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Total borrowings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₹7.85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₹5.26 Cr short-term across 13 facilities, ₹2.60 Cr from related parties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Debt to equity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3.04×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 high. Most banks want under 2× for an unsecured facility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Current ratio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~0.50×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Below 1.0 every year — structurally dependent on revolving credit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Electricity arrears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₹2.14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 red flag on any sanction note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10819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21792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40080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things stand between VAPPL and a bank sanction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74426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to equity at 3.04×. Thirteen separate NBFC and bank facilities, which reads as distress borrowing regardless of how it arose. ₹2.14 Cr of electricity arrears — a live utility default is the single item most likely to stop a sanction note. And a current ratio below 1.0 in every year on record. None of the options in this deck should reach a lender before these are fixed.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MSME status and CGTMSE eligibility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covers micro and small enterprises only. VAPPL's eligibility is not marginal — but it has an expiry date, and the date is inside this plan.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66928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IN PLANT &amp; MACHINERY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749808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₹6.13 Cr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749808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₹25 Cr Small Enterprise limit — ₹18.87 Cr of headroom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326026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08906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TURNOVER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508906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₹16.29 Cr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4508906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Against a ₹100 Cr limit — ₹83.71 Cr of headroom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085125" y="1310132"/>
            <a:ext cx="3539642" cy="1170432"/>
          </a:xfrm>
          <a:prstGeom prst="roundRect">
            <a:avLst>
              <a:gd name="adj" fmla="val 4688"/>
            </a:avLst>
          </a:prstGeom>
          <a:solidFill>
            <a:srgbClr val="EDFAF4"/>
          </a:solidFill>
          <a:ln w="12700">
            <a:solidFill>
              <a:srgbClr val="10B98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68005" y="142900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850" dirty="0"/>
          </a:p>
        </p:txBody>
      </p:sp>
      <p:sp>
        <p:nvSpPr>
          <p:cNvPr id="16" name="Text 14"/>
          <p:cNvSpPr/>
          <p:nvPr/>
        </p:nvSpPr>
        <p:spPr>
          <a:xfrm>
            <a:off x="8268005" y="167589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8268005" y="2151380"/>
            <a:ext cx="317388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eligible. Both tests cleared</a:t>
            </a:r>
            <a:endParaRPr lang="en-US" sz="95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718308"/>
          <a:ext cx="11057839" cy="914400"/>
        </p:xfrm>
        <a:graphic>
          <a:graphicData uri="http://schemas.openxmlformats.org/drawingml/2006/table">
            <a:tbl>
              <a:tblPr/>
              <a:tblGrid>
                <a:gridCol w="7863840"/>
                <a:gridCol w="3193999"/>
              </a:tblGrid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Facility size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Standard annual guarantee fee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₹1 crore and up to ₹2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0.85%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₹2 crore and up to ₹5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₹5 crore and up to ₹8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Above ₹8 crore and up to ₹10 crore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1.20%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19" name="Shape 16"/>
          <p:cNvSpPr/>
          <p:nvPr/>
        </p:nvSpPr>
        <p:spPr>
          <a:xfrm>
            <a:off x="566928" y="4344416"/>
            <a:ext cx="11057839" cy="1512428"/>
          </a:xfrm>
          <a:prstGeom prst="roundRect">
            <a:avLst>
              <a:gd name="adj" fmla="val 3023"/>
            </a:avLst>
          </a:prstGeom>
          <a:solidFill>
            <a:srgbClr val="F1F5FE"/>
          </a:solidFill>
          <a:ln w="15875">
            <a:solidFill>
              <a:srgbClr val="2B66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804672" y="445414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2A51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804672" y="4637024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thresholds moved in VAPPL's favour on 1 April 2025</a:t>
            </a:r>
            <a:endParaRPr lang="en-US" sz="1900" dirty="0"/>
          </a:p>
        </p:txBody>
      </p:sp>
      <p:sp>
        <p:nvSpPr>
          <p:cNvPr id="22" name="Text 19"/>
          <p:cNvSpPr/>
          <p:nvPr/>
        </p:nvSpPr>
        <p:spPr>
          <a:xfrm>
            <a:off x="804672" y="4980483"/>
            <a:ext cx="10582351" cy="8032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Enterprise limits rose to ₹25 Cr of investment and ₹100 Cr of turnover, and the CGTMSE ceiling doubled to ₹10 Cr per borrower. Both landed after the ₹10 crore equity round was designed — which is the reason this pack exists. A facility sanctioned while the company qualifies keeps its cover for its full tenor.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Fix the balance sheet first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raising anything there is a free move. Roughly ₹4 crore of VAPPL's ₹7.85 crore of borrowings is money the promoters already put in. Converting it costs no cash and transforms the balance sheet a lender is asked to lend against.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08400"/>
          <a:ext cx="11057839" cy="914400"/>
        </p:xfrm>
        <a:graphic>
          <a:graphicData uri="http://schemas.openxmlformats.org/drawingml/2006/table">
            <a:tbl>
              <a:tblPr/>
              <a:tblGrid>
                <a:gridCol w="4937760"/>
                <a:gridCol w="1737360"/>
                <a:gridCol w="2377440"/>
                <a:gridCol w="2011680"/>
              </a:tblGrid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Net worth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D/E once ₹10 Cr is drawn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Max facility at 2.0×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conversion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5.76×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₹0.31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the ₹2.60 Cr long-term related-party loans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₹5.18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2.36×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C8553D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₹8.11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 related-party and promoter debt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₹6.67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1.61×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Convert all, drawn in tranches as FY26-27 earnings retain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₹9.67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1.11×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10B98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₹18.58 Cr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7472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BEFEC"/>
          </a:solidFill>
          <a:ln w="15875">
            <a:solidFill>
              <a:srgbClr val="C8553D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7200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C855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20080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only the ₹2.60 crore is not enough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7593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Converting ₹2.60 Cr caps the facility at ₹8.11 Cr. Converting all ₹4.09 Cr lifts it to ₹12.58 Cr. Converting nothing supports ₹0.31 Cr — the company cannot borrow at all.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consolidated plan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four parks plus all three new projects, phased on the award and opening dates assumed in each project deck. Existing-portfolio figures are the midpoints already published in the company financial model.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541272"/>
          <a:ext cx="11057839" cy="2468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REVENUE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₹70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₹16.29 Cr in FY25-26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4326026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508906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FY30-31 EBITDA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508906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₹20 Cr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4508906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28.8% margin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8085125" y="4238752"/>
            <a:ext cx="3539642" cy="1115568"/>
          </a:xfrm>
          <a:prstGeom prst="roundRect">
            <a:avLst>
              <a:gd name="adj" fmla="val 4918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268005" y="4357624"/>
            <a:ext cx="317388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PROJECTS' SHARE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268005" y="4604512"/>
            <a:ext cx="317388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17%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8268005" y="5080000"/>
            <a:ext cx="317388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FY30-31 revenue. EMV was 73% of the group in FY25-26 — concentration risk materially reduced</a:t>
            </a:r>
            <a:endParaRPr lang="en-US" sz="950" dirty="0"/>
          </a:p>
        </p:txBody>
      </p:sp>
      <p:sp>
        <p:nvSpPr>
          <p:cNvPr id="19" name="Text 16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 ·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existing round is ₹10 crore at ₹90 crore pre-money. Funding all three new projects with equity would take it to roughly ₹16 crore. Here is what that returns to the person writing the cheque.</a:t>
            </a:r>
            <a:endParaRPr lang="en-US" sz="12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8595360"/>
                <a:gridCol w="2462479"/>
              </a:tblGrid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Exit basis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Revenue at exit — FY30-31, five years from a September 2026 close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value at 3.0× revenue (11× EBITDA cross-checks at ₹223 Cr)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₹211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Equity value at exit, net of debt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₹203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6FE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proceeds — 15.1% of exit equity value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₹31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7432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 over five years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13.9%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3729482"/>
          <a:ext cx="11057839" cy="914400"/>
        </p:xfrm>
        <a:graphic>
          <a:graphicData uri="http://schemas.openxmlformats.org/drawingml/2006/table">
            <a:tbl>
              <a:tblPr/>
              <a:tblGrid>
                <a:gridCol w="5852160"/>
                <a:gridCol w="2560320"/>
                <a:gridCol w="264535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hurdle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 required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pre-money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18% — family office, 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₹73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22% — lower-quartile growth fund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21.3%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₹59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25% — institutional growth equity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₹50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 the asking 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15.1%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₹90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8" name="Shape 4"/>
          <p:cNvSpPr/>
          <p:nvPr/>
        </p:nvSpPr>
        <p:spPr>
          <a:xfrm>
            <a:off x="566928" y="5425186"/>
            <a:ext cx="11057839" cy="930087"/>
          </a:xfrm>
          <a:prstGeom prst="roundRect">
            <a:avLst>
              <a:gd name="adj" fmla="val 4916"/>
            </a:avLst>
          </a:prstGeom>
          <a:solidFill>
            <a:srgbClr val="FDF6EC"/>
          </a:solidFill>
          <a:ln w="15875">
            <a:solidFill>
              <a:srgbClr val="D97706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804672" y="5534914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10" name="Text 6"/>
          <p:cNvSpPr/>
          <p:nvPr/>
        </p:nvSpPr>
        <p:spPr>
          <a:xfrm>
            <a:off x="804672" y="5717794"/>
            <a:ext cx="10582351" cy="21264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10"/>
              </a:lnSpc>
              <a:buNone/>
            </a:pPr>
            <a:r>
              <a:rPr lang="en-US" sz="14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₹90 crore pre-money prices most of the growth in</a:t>
            </a:r>
            <a:endParaRPr lang="en-US" sz="1400" dirty="0"/>
          </a:p>
        </p:txBody>
      </p:sp>
      <p:sp>
        <p:nvSpPr>
          <p:cNvPr id="11" name="Text 7"/>
          <p:cNvSpPr/>
          <p:nvPr/>
        </p:nvSpPr>
        <p:spPr>
          <a:xfrm>
            <a:off x="804672" y="5985307"/>
            <a:ext cx="10582351" cy="29681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78"/>
              </a:lnSpc>
              <a:buNone/>
            </a:pPr>
            <a:r>
              <a:rPr lang="en-US" sz="9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 ₹90 crore pre-money an investor earns 13.9% over five years — an argument about counterparty, not valuation.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 · Debt under CGTMSE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2311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single collateral-free composite facility: a term loan for the project build-outs and a working-capital limit that consolidates the NBFC book.</a:t>
            </a:r>
            <a:endParaRPr lang="en-US" sz="1250" dirty="0"/>
          </a:p>
        </p:txBody>
      </p:sp>
      <p:graphicFrame>
        <p:nvGraphicFramePr>
          <p:cNvPr id="6" name="Chart 0" descr=""/>
          <p:cNvGraphicFramePr/>
          <p:nvPr/>
        </p:nvGraphicFramePr>
        <p:xfrm>
          <a:off x="566928" y="1310132"/>
          <a:ext cx="11057839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FACILITY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749808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2600" dirty="0"/>
          </a:p>
        </p:txBody>
      </p:sp>
      <p:sp>
        <p:nvSpPr>
          <p:cNvPr id="10" name="Text 7"/>
          <p:cNvSpPr/>
          <p:nvPr/>
        </p:nvSpPr>
        <p:spPr>
          <a:xfrm>
            <a:off x="749808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 loan ₹6.50 Cr + working capital ₹3.50 Cr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386252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3569132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COST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3569132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2600" dirty="0"/>
          </a:p>
        </p:txBody>
      </p:sp>
      <p:sp>
        <p:nvSpPr>
          <p:cNvPr id="14" name="Text 11"/>
          <p:cNvSpPr/>
          <p:nvPr/>
        </p:nvSpPr>
        <p:spPr>
          <a:xfrm>
            <a:off x="3569132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11.50% interest + 1.20% guarantee fee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6205576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388456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MINIMUM DSCR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388456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2.57×</a:t>
            </a:r>
            <a:endParaRPr lang="en-US" sz="2600" dirty="0"/>
          </a:p>
        </p:txBody>
      </p:sp>
      <p:sp>
        <p:nvSpPr>
          <p:cNvPr id="18" name="Text 15"/>
          <p:cNvSpPr/>
          <p:nvPr/>
        </p:nvSpPr>
        <p:spPr>
          <a:xfrm>
            <a:off x="6388456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Including the existing ₹7.85 Cr book, not just the new facility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9024899" y="3705860"/>
            <a:ext cx="2599868" cy="1207008"/>
          </a:xfrm>
          <a:prstGeom prst="roundRect">
            <a:avLst>
              <a:gd name="adj" fmla="val 4545"/>
            </a:avLst>
          </a:prstGeom>
          <a:solidFill>
            <a:srgbClr val="F5F6F8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9207779" y="3824732"/>
            <a:ext cx="223410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FINANCE COST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9207779" y="4071620"/>
            <a:ext cx="223410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600" dirty="0"/>
          </a:p>
        </p:txBody>
      </p:sp>
      <p:sp>
        <p:nvSpPr>
          <p:cNvPr id="22" name="Text 19"/>
          <p:cNvSpPr/>
          <p:nvPr/>
        </p:nvSpPr>
        <p:spPr>
          <a:xfrm>
            <a:off x="9207779" y="4547108"/>
            <a:ext cx="22341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 seven years, against ₹31 Cr for the equivalent equity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566928" y="5168900"/>
            <a:ext cx="11057839" cy="1062299"/>
          </a:xfrm>
          <a:prstGeom prst="roundRect">
            <a:avLst>
              <a:gd name="adj" fmla="val 4304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04672" y="527862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804672" y="5461508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debt is roughly a fifth of the cost of the equity</a:t>
            </a:r>
            <a:endParaRPr lang="en-US" sz="1900" dirty="0"/>
          </a:p>
        </p:txBody>
      </p:sp>
      <p:sp>
        <p:nvSpPr>
          <p:cNvPr id="26" name="Text 23"/>
          <p:cNvSpPr/>
          <p:nvPr/>
        </p:nvSpPr>
        <p:spPr>
          <a:xfrm>
            <a:off x="804672" y="5804967"/>
            <a:ext cx="10582351" cy="35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 collateral-free at 12.70% costs ₹5.70 Cr over seven years — against ₹31 Cr for the equivalent equity, on the company's own projections.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 · Debt converted to equity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66928" y="950976"/>
            <a:ext cx="11057839" cy="462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50"/>
              </a:lnSpc>
              <a:buNone/>
            </a:pPr>
            <a:r>
              <a:rPr lang="en-US" sz="12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 as debt at a coupon, converting into equity on a fixed formula three years out. At company level — unlike at project level — this is genuinely competitive with both alternatives.</a:t>
            </a:r>
            <a:endParaRPr lang="en-US" sz="125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1541272"/>
          <a:ext cx="11057839" cy="914400"/>
        </p:xfrm>
        <a:graphic>
          <a:graphicData uri="http://schemas.openxmlformats.org/drawingml/2006/table">
            <a:tbl>
              <a:tblPr/>
              <a:tblGrid>
                <a:gridCol w="7680960"/>
                <a:gridCol w="3376879"/>
              </a:tblGrid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Term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950" b="1" spc="100" kern="0" dirty="0">
                          <a:solidFill>
                            <a:srgbClr val="6E7689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Structure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25400" marB="63500" anchor="b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7780" cap="flat" cmpd="sng" algn="ctr">
                      <a:solidFill>
                        <a:srgbClr val="0A142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Principal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₹12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Coupon, annual until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Conversion — compulsory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End of year 3, into 13.0%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Implied conversion valuation, post-money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₹92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Coupon paid to conversion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3B46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₹2.88 Cr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Investor IRR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21.4%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Money multiple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b="1" dirty="0">
                          <a:solidFill>
                            <a:srgbClr val="0A14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2.44×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0" marR="76200" marT="63500" marB="63500" anchor="ctr">
                    <a:lnL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66666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7620" cap="flat" cmpd="sng" algn="ctr">
                      <a:solidFill>
                        <a:srgbClr val="E2E4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1EE"/>
                    </a:solidFill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66928" y="4348734"/>
            <a:ext cx="11057839" cy="1962556"/>
          </a:xfrm>
          <a:prstGeom prst="roundRect">
            <a:avLst>
              <a:gd name="adj" fmla="val 2330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445846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804672" y="464134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best risk-adjusted structure — with one condition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804672" y="4984801"/>
            <a:ext cx="10582351" cy="1253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21.4% against 13.9% for straight equity at the same valuation and exit. Dilution is deferred three years, and 13.0% converted at ₹92 Cr is cheaper than 15.1% sold today at ₹90 crore pre-money.</a:t>
            </a: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endParaRPr lang="en-US" sz="1200" dirty="0"/>
          </a:p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condition: a CCD is borrowing until it converts. Convert the related-party debt first, or agree in the sanction letter that the CGTMSE leverage covenant excludes compulsorily convertible instruments.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option, and why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68096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A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768096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68096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D9770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13.9%</a:t>
            </a:r>
            <a:endParaRPr lang="en-US" sz="3000" dirty="0"/>
          </a:p>
        </p:txBody>
      </p:sp>
      <p:sp>
        <p:nvSpPr>
          <p:cNvPr id="9" name="Text 7"/>
          <p:cNvSpPr/>
          <p:nvPr/>
        </p:nvSpPr>
        <p:spPr>
          <a:xfrm>
            <a:off x="768096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768096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1" name="Text 9"/>
          <p:cNvSpPr/>
          <p:nvPr/>
        </p:nvSpPr>
        <p:spPr>
          <a:xfrm>
            <a:off x="768096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2518160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₹16 Cr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768096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4" name="Text 12"/>
          <p:cNvSpPr/>
          <p:nvPr/>
        </p:nvSpPr>
        <p:spPr>
          <a:xfrm>
            <a:off x="768096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2518160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15.1% immediately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68096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17" name="Text 15"/>
          <p:cNvSpPr/>
          <p:nvPr/>
        </p:nvSpPr>
        <p:spPr>
          <a:xfrm>
            <a:off x="768096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2518160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₹31 Cr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768096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0" name="Text 18"/>
          <p:cNvSpPr/>
          <p:nvPr/>
        </p:nvSpPr>
        <p:spPr>
          <a:xfrm>
            <a:off x="768096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2518160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4–8 months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332122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EDFAF4"/>
          </a:solidFill>
          <a:ln w="19050">
            <a:solidFill>
              <a:srgbClr val="10B98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33290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B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4533290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· CGTMSE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533290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₹5.70 Cr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4533290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COST OVER 7 YEARS</a:t>
            </a:r>
            <a:endParaRPr lang="en-US" sz="850" dirty="0"/>
          </a:p>
        </p:txBody>
      </p:sp>
      <p:sp>
        <p:nvSpPr>
          <p:cNvPr id="27" name="Shape 25"/>
          <p:cNvSpPr/>
          <p:nvPr/>
        </p:nvSpPr>
        <p:spPr>
          <a:xfrm>
            <a:off x="4533290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28" name="Text 26"/>
          <p:cNvSpPr/>
          <p:nvPr/>
        </p:nvSpPr>
        <p:spPr>
          <a:xfrm>
            <a:off x="4533290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283354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₹10 Cr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533290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1" name="Text 29"/>
          <p:cNvSpPr/>
          <p:nvPr/>
        </p:nvSpPr>
        <p:spPr>
          <a:xfrm>
            <a:off x="4533290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283354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None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4533290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4" name="Text 32"/>
          <p:cNvSpPr/>
          <p:nvPr/>
        </p:nvSpPr>
        <p:spPr>
          <a:xfrm>
            <a:off x="4533290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All-in rate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283354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12.70%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4533290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37" name="Text 35"/>
          <p:cNvSpPr/>
          <p:nvPr/>
        </p:nvSpPr>
        <p:spPr>
          <a:xfrm>
            <a:off x="4533290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283354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6–12 weeks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8097317" y="1133856"/>
            <a:ext cx="3527450" cy="2834640"/>
          </a:xfrm>
          <a:prstGeom prst="roundRect">
            <a:avLst>
              <a:gd name="adj" fmla="val 1935"/>
            </a:avLst>
          </a:prstGeom>
          <a:solidFill>
            <a:srgbClr val="FFFFFF"/>
          </a:solidFill>
          <a:ln w="12700">
            <a:solidFill>
              <a:srgbClr val="E2E4EA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8298485" y="1298448"/>
            <a:ext cx="312511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4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OPTION C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98485" y="1517904"/>
            <a:ext cx="312511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Debt → equity (CCD)</a:t>
            </a:r>
            <a:endParaRPr lang="en-US" sz="1500" dirty="0"/>
          </a:p>
        </p:txBody>
      </p:sp>
      <p:sp>
        <p:nvSpPr>
          <p:cNvPr id="42" name="Text 40"/>
          <p:cNvSpPr/>
          <p:nvPr/>
        </p:nvSpPr>
        <p:spPr>
          <a:xfrm>
            <a:off x="8298485" y="1847088"/>
            <a:ext cx="3125114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21.4%</a:t>
            </a:r>
            <a:endParaRPr lang="en-US" sz="3000" dirty="0"/>
          </a:p>
        </p:txBody>
      </p:sp>
      <p:sp>
        <p:nvSpPr>
          <p:cNvPr id="43" name="Text 41"/>
          <p:cNvSpPr/>
          <p:nvPr/>
        </p:nvSpPr>
        <p:spPr>
          <a:xfrm>
            <a:off x="8298485" y="2340864"/>
            <a:ext cx="3125114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10" kern="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INVESTOR IRR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8298485" y="2651760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5" name="Text 43"/>
          <p:cNvSpPr/>
          <p:nvPr/>
        </p:nvSpPr>
        <p:spPr>
          <a:xfrm>
            <a:off x="8298485" y="2697480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Money in</a:t>
            </a:r>
            <a:endParaRPr lang="en-US" sz="950" dirty="0"/>
          </a:p>
        </p:txBody>
      </p:sp>
      <p:sp>
        <p:nvSpPr>
          <p:cNvPr id="46" name="Text 44"/>
          <p:cNvSpPr/>
          <p:nvPr/>
        </p:nvSpPr>
        <p:spPr>
          <a:xfrm>
            <a:off x="10048549" y="2697480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₹12 Cr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8298485" y="2980944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48" name="Text 46"/>
          <p:cNvSpPr/>
          <p:nvPr/>
        </p:nvSpPr>
        <p:spPr>
          <a:xfrm>
            <a:off x="8298485" y="3026664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Dilution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10048549" y="3026664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13.0% in year 3</a:t>
            </a:r>
            <a:endParaRPr lang="en-US" sz="950" dirty="0"/>
          </a:p>
        </p:txBody>
      </p:sp>
      <p:sp>
        <p:nvSpPr>
          <p:cNvPr id="50" name="Shape 48"/>
          <p:cNvSpPr/>
          <p:nvPr/>
        </p:nvSpPr>
        <p:spPr>
          <a:xfrm>
            <a:off x="8298485" y="3310128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1" name="Text 49"/>
          <p:cNvSpPr/>
          <p:nvPr/>
        </p:nvSpPr>
        <p:spPr>
          <a:xfrm>
            <a:off x="8298485" y="3355848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in FY30-31 money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10048549" y="3355848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₹29 Cr</a:t>
            </a:r>
            <a:endParaRPr lang="en-US" sz="950" dirty="0"/>
          </a:p>
        </p:txBody>
      </p:sp>
      <p:sp>
        <p:nvSpPr>
          <p:cNvPr id="53" name="Shape 51"/>
          <p:cNvSpPr/>
          <p:nvPr/>
        </p:nvSpPr>
        <p:spPr>
          <a:xfrm>
            <a:off x="8298485" y="3639312"/>
            <a:ext cx="3125114" cy="7315"/>
          </a:xfrm>
          <a:prstGeom prst="rect">
            <a:avLst/>
          </a:prstGeom>
          <a:solidFill>
            <a:srgbClr val="E2E4EA"/>
          </a:solidFill>
          <a:ln/>
        </p:spPr>
      </p:sp>
      <p:sp>
        <p:nvSpPr>
          <p:cNvPr id="54" name="Text 52"/>
          <p:cNvSpPr/>
          <p:nvPr/>
        </p:nvSpPr>
        <p:spPr>
          <a:xfrm>
            <a:off x="8298485" y="3685032"/>
            <a:ext cx="1750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Time to close</a:t>
            </a:r>
            <a:endParaRPr lang="en-US" sz="950" dirty="0"/>
          </a:p>
        </p:txBody>
      </p:sp>
      <p:sp>
        <p:nvSpPr>
          <p:cNvPr id="55" name="Text 53"/>
          <p:cNvSpPr/>
          <p:nvPr/>
        </p:nvSpPr>
        <p:spPr>
          <a:xfrm>
            <a:off x="10048549" y="3685032"/>
            <a:ext cx="137505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3–6 months</a:t>
            </a:r>
            <a:endParaRPr lang="en-US" sz="950" dirty="0"/>
          </a:p>
        </p:txBody>
      </p:sp>
      <p:sp>
        <p:nvSpPr>
          <p:cNvPr id="56" name="Shape 54"/>
          <p:cNvSpPr/>
          <p:nvPr/>
        </p:nvSpPr>
        <p:spPr>
          <a:xfrm>
            <a:off x="566928" y="4169664"/>
            <a:ext cx="11057839" cy="1536192"/>
          </a:xfrm>
          <a:prstGeom prst="roundRect">
            <a:avLst>
              <a:gd name="adj" fmla="val 2976"/>
            </a:avLst>
          </a:prstGeom>
          <a:solidFill>
            <a:srgbClr val="EDFAF4"/>
          </a:solidFill>
          <a:ln w="15875">
            <a:solidFill>
              <a:srgbClr val="10B98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804672" y="4279392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60" kern="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VERDICT</a:t>
            </a:r>
            <a:endParaRPr lang="en-US" sz="850" dirty="0"/>
          </a:p>
        </p:txBody>
      </p:sp>
      <p:sp>
        <p:nvSpPr>
          <p:cNvPr id="58" name="Text 56"/>
          <p:cNvSpPr/>
          <p:nvPr/>
        </p:nvSpPr>
        <p:spPr>
          <a:xfrm>
            <a:off x="804672" y="4462272"/>
            <a:ext cx="10582351" cy="288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185"/>
              </a:lnSpc>
              <a:buNone/>
            </a:pPr>
            <a:r>
              <a:rPr lang="en-US" sz="19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three, in sequence — not one instead of the others</a:t>
            </a:r>
            <a:endParaRPr lang="en-US" sz="1900" dirty="0"/>
          </a:p>
        </p:txBody>
      </p:sp>
      <p:sp>
        <p:nvSpPr>
          <p:cNvPr id="59" name="Text 57"/>
          <p:cNvSpPr/>
          <p:nvPr/>
        </p:nvSpPr>
        <p:spPr>
          <a:xfrm>
            <a:off x="804672" y="4805731"/>
            <a:ext cx="10582351" cy="826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704"/>
              </a:lnSpc>
              <a:buNone/>
            </a:pPr>
            <a:r>
              <a:rPr lang="en-US" sz="120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 1, now, no external party: convert all ₹4.09 Cr of related-party and promoter debt. Gearing falls to 0.56×, clear the arrears, consolidate the NBFC book.  ·  Step 2, the cheap capital: a ₹10 Cr CGTMSE facility at 12.70% all-in, ₹5.70 Cr total cost.  ·  Step 3, the equity, smaller and later: with the debt in place the round need not be ₹16 Cr — ₹6–8 crore covers what debt cannot reach, at roughly half the dilution.</a:t>
            </a:r>
            <a:endParaRPr lang="en-US" sz="1200" dirty="0"/>
          </a:p>
        </p:txBody>
      </p:sp>
      <p:sp>
        <p:nvSpPr>
          <p:cNvPr id="60" name="Text 58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457200"/>
            <a:ext cx="384048" cy="384048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457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1133856" y="402336"/>
            <a:ext cx="10490911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Conditions precedent to any lender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66928" y="1170432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6" name="Text 4"/>
          <p:cNvSpPr/>
          <p:nvPr/>
        </p:nvSpPr>
        <p:spPr>
          <a:xfrm>
            <a:off x="8595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 all ₹4.09 Cr of related-party debt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595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Takes D/E from 3.04× to 0.56×, and to 1.61× once drawn. Converting only the ₹2.60 Cr caps the facility at ₹8.11 Cr; converting nothing caps it at ₹0.31 Cr. Board resolution.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566928" y="2322576"/>
            <a:ext cx="182880" cy="182880"/>
          </a:xfrm>
          <a:prstGeom prst="ellipse">
            <a:avLst/>
          </a:prstGeom>
          <a:solidFill>
            <a:srgbClr val="C8553D"/>
          </a:solidFill>
          <a:ln/>
        </p:spPr>
      </p:sp>
      <p:sp>
        <p:nvSpPr>
          <p:cNvPr id="9" name="Text 7"/>
          <p:cNvSpPr/>
          <p:nvPr/>
        </p:nvSpPr>
        <p:spPr>
          <a:xfrm>
            <a:off x="8595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the ₹2.14 Cr electricity arrears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595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 utility default is the single item most likely to stop a sanction note in its tracks. Settle or formally reschedule with the discom before applying.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566928" y="3474720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2" name="Text 10"/>
          <p:cNvSpPr/>
          <p:nvPr/>
        </p:nvSpPr>
        <p:spPr>
          <a:xfrm>
            <a:off x="8595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Consolidate the NBFC book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595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Thirteen facilities read as distress borrowing. Reduce to a countable number before applying — a lender will covenant against re-borrowing anyway.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278728" y="1170432"/>
            <a:ext cx="182880" cy="182880"/>
          </a:xfrm>
          <a:prstGeom prst="ellipse">
            <a:avLst/>
          </a:prstGeom>
          <a:solidFill>
            <a:srgbClr val="D97706"/>
          </a:solidFill>
          <a:ln/>
        </p:spPr>
      </p:sp>
      <p:sp>
        <p:nvSpPr>
          <p:cNvPr id="15" name="Text 13"/>
          <p:cNvSpPr/>
          <p:nvPr/>
        </p:nvSpPr>
        <p:spPr>
          <a:xfrm>
            <a:off x="6571336" y="1133856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 Udyam registration and NIC code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6571336" y="1380744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CGTMSE cover requires a live registration on the correct activity code for the borrowing entity. Confirm before the application, not after a rejection.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278728" y="2322576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18" name="Text 16"/>
          <p:cNvSpPr/>
          <p:nvPr/>
        </p:nvSpPr>
        <p:spPr>
          <a:xfrm>
            <a:off x="6571336" y="2286000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 the FY25-26 audit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6571336" y="2532888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Provisional accounts carry a ₹54.5 lakh depreciation placeholder against an estimated ₹1.0–1.1 Cr. Net worth moves; EBITDA and DSCR do not. Expected August 2026.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6278728" y="3474720"/>
            <a:ext cx="182880" cy="182880"/>
          </a:xfrm>
          <a:prstGeom prst="ellipse">
            <a:avLst/>
          </a:prstGeom>
          <a:solidFill>
            <a:srgbClr val="2B66EA"/>
          </a:solidFill>
          <a:ln/>
        </p:spPr>
      </p:sp>
      <p:sp>
        <p:nvSpPr>
          <p:cNvPr id="21" name="Text 19"/>
          <p:cNvSpPr/>
          <p:nvPr/>
        </p:nvSpPr>
        <p:spPr>
          <a:xfrm>
            <a:off x="6571336" y="3438144"/>
            <a:ext cx="50534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A14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Obtain BDA consent for any change of control</a:t>
            </a:r>
            <a:endParaRPr lang="en-US" sz="1250" dirty="0"/>
          </a:p>
        </p:txBody>
      </p:sp>
      <p:sp>
        <p:nvSpPr>
          <p:cNvPr id="22" name="Text 20"/>
          <p:cNvSpPr/>
          <p:nvPr/>
        </p:nvSpPr>
        <p:spPr>
          <a:xfrm>
            <a:off x="6571336" y="3685032"/>
            <a:ext cx="5053432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3B4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Ramayan Vatika's lock-in bars shareholding changes without prior written approval. Applies to the equity round and to CCD conversion alike.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566928" y="6437376"/>
            <a:ext cx="11057839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E76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Vision Amusement Park Pvt. Ltd. · Company capital structure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E-O-D 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Vision Amusement Park — Company Capital Structure</dc:title>
  <dc:subject>Equity, CGTMSE debt and debt converted to equity</dc:subject>
  <dc:creator>Vision Amusement Park Pvt. Ltd.</dc:creator>
  <cp:lastModifiedBy>Vision Amusement Park Pvt. Ltd.</cp:lastModifiedBy>
  <cp:revision>1</cp:revision>
  <dcterms:created xsi:type="dcterms:W3CDTF">2026-08-24T16:33:54Z</dcterms:created>
  <dcterms:modified xsi:type="dcterms:W3CDTF">2026-08-24T16:33:54Z</dcterms:modified>
</cp:coreProperties>
</file>