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Largest facility inside a 2.0× covenant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B466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No
conversion</c:v>
                  </c:pt>
                  <c:pt idx="1">
                    <c:v>Convert the
₹2.60 Cr</c:v>
                  </c:pt>
                  <c:pt idx="2">
                    <c:v>Convert all
₹4.09 Cr</c:v>
                  </c:pt>
                  <c:pt idx="3">
                    <c:v>Convert all, drawn
in tranches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0.31</c:v>
                </c:pt>
                <c:pt idx="1">
                  <c:v>8.11</c:v>
                </c:pt>
                <c:pt idx="2">
                  <c:v>12.58</c:v>
                </c:pt>
                <c:pt idx="3">
                  <c:v>18.58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3B466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B466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4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E7689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6E7689"/>
                    </a:solidFill>
                    <a:latin typeface="Calibri"/>
                  </a:rPr>
                  <a:t>₹ crore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68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363636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Existing four parks</c:v>
                </c:pt>
              </c:strCache>
            </c:strRef>
          </c:tx>
          <c:spPr>
            <a:solidFill>
              <a:srgbClr val="2B66E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B4660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FY26-27</c:v>
                  </c:pt>
                  <c:pt idx="1">
                    <c:v>FY27-28</c:v>
                  </c:pt>
                  <c:pt idx="2">
                    <c:v>FY28-29</c:v>
                  </c:pt>
                  <c:pt idx="3">
                    <c:v>FY29-30</c:v>
                  </c:pt>
                  <c:pt idx="4">
                    <c:v>FY30-31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</c:v>
                </c:pt>
                <c:pt idx="1">
                  <c:v>33</c:v>
                </c:pt>
                <c:pt idx="2">
                  <c:v>43.5</c:v>
                </c:pt>
                <c:pt idx="3">
                  <c:v>51</c:v>
                </c:pt>
                <c:pt idx="4">
                  <c:v>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Geeta Govind Vatika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B4660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FY26-27</c:v>
                  </c:pt>
                  <c:pt idx="1">
                    <c:v>FY27-28</c:v>
                  </c:pt>
                  <c:pt idx="2">
                    <c:v>FY28-29</c:v>
                  </c:pt>
                  <c:pt idx="3">
                    <c:v>FY29-30</c:v>
                  </c:pt>
                  <c:pt idx="4">
                    <c:v>FY30-31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1.24</c:v>
                </c:pt>
                <c:pt idx="1">
                  <c:v>2.81</c:v>
                </c:pt>
                <c:pt idx="2">
                  <c:v>3.44</c:v>
                </c:pt>
                <c:pt idx="3">
                  <c:v>3.99</c:v>
                </c:pt>
                <c:pt idx="4">
                  <c:v>4.48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Ramayan Vatika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B4660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FY26-27</c:v>
                  </c:pt>
                  <c:pt idx="1">
                    <c:v>FY27-28</c:v>
                  </c:pt>
                  <c:pt idx="2">
                    <c:v>FY28-29</c:v>
                  </c:pt>
                  <c:pt idx="3">
                    <c:v>FY29-30</c:v>
                  </c:pt>
                  <c:pt idx="4">
                    <c:v>FY30-31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1.54</c:v>
                </c:pt>
                <c:pt idx="2">
                  <c:v>2.16</c:v>
                </c:pt>
                <c:pt idx="3">
                  <c:v>2.82</c:v>
                </c:pt>
                <c:pt idx="4">
                  <c:v>3.21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Karnal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B4660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FY26-27</c:v>
                  </c:pt>
                  <c:pt idx="1">
                    <c:v>FY27-28</c:v>
                  </c:pt>
                  <c:pt idx="2">
                    <c:v>FY28-29</c:v>
                  </c:pt>
                  <c:pt idx="3">
                    <c:v>FY29-30</c:v>
                  </c:pt>
                  <c:pt idx="4">
                    <c:v>FY30-31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</c:v>
                </c:pt>
                <c:pt idx="1">
                  <c:v>0.75</c:v>
                </c:pt>
                <c:pt idx="2">
                  <c:v>3.25</c:v>
                </c:pt>
                <c:pt idx="3">
                  <c:v>4</c:v>
                </c:pt>
                <c:pt idx="4">
                  <c:v>4.6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3B4660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B466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4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E7689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6E7689"/>
                    </a:solidFill>
                    <a:latin typeface="Calibri"/>
                  </a:rPr>
                  <a:t>Revenue, ₹ crore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68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363636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3B466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facility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B466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Yr 1</c:v>
                  </c:pt>
                  <c:pt idx="1">
                    <c:v>Yr 2</c:v>
                  </c:pt>
                  <c:pt idx="2">
                    <c:v>Yr 3</c:v>
                  </c:pt>
                  <c:pt idx="3">
                    <c:v>Yr 4</c:v>
                  </c:pt>
                  <c:pt idx="4">
                    <c:v>Yr 5</c:v>
                  </c:pt>
                  <c:pt idx="5">
                    <c:v>Yr 6</c:v>
                  </c:pt>
                  <c:pt idx="6">
                    <c:v>Yr 7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1.16</c:v>
                </c:pt>
                <c:pt idx="1">
                  <c:v>2.29</c:v>
                </c:pt>
                <c:pt idx="2">
                  <c:v>2.13</c:v>
                </c:pt>
                <c:pt idx="3">
                  <c:v>1.94</c:v>
                </c:pt>
                <c:pt idx="4">
                  <c:v>1.75</c:v>
                </c:pt>
                <c:pt idx="5">
                  <c:v>1.56</c:v>
                </c:pt>
                <c:pt idx="6">
                  <c:v>1.37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Existing debt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B466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Yr 1</c:v>
                  </c:pt>
                  <c:pt idx="1">
                    <c:v>Yr 2</c:v>
                  </c:pt>
                  <c:pt idx="2">
                    <c:v>Yr 3</c:v>
                  </c:pt>
                  <c:pt idx="3">
                    <c:v>Yr 4</c:v>
                  </c:pt>
                  <c:pt idx="4">
                    <c:v>Yr 5</c:v>
                  </c:pt>
                  <c:pt idx="5">
                    <c:v>Yr 6</c:v>
                  </c:pt>
                  <c:pt idx="6">
                    <c:v>Yr 7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0.7</c:v>
                </c:pt>
                <c:pt idx="1">
                  <c:v>0.65</c:v>
                </c:pt>
                <c:pt idx="2">
                  <c:v>0.6</c:v>
                </c:pt>
                <c:pt idx="3">
                  <c:v>0.54</c:v>
                </c:pt>
                <c:pt idx="4">
                  <c:v>0.49</c:v>
                </c:pt>
                <c:pt idx="5">
                  <c:v>0.43</c:v>
                </c:pt>
                <c:pt idx="6">
                  <c:v>0.38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EBITDA available</c:v>
                </c:pt>
              </c:strCache>
            </c:strRef>
          </c:tx>
          <c:spPr>
            <a:solidFill>
              <a:srgbClr val="2B66E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B466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Yr 1</c:v>
                  </c:pt>
                  <c:pt idx="1">
                    <c:v>Yr 2</c:v>
                  </c:pt>
                  <c:pt idx="2">
                    <c:v>Yr 3</c:v>
                  </c:pt>
                  <c:pt idx="3">
                    <c:v>Yr 4</c:v>
                  </c:pt>
                  <c:pt idx="4">
                    <c:v>Yr 5</c:v>
                  </c:pt>
                  <c:pt idx="5">
                    <c:v>Yr 6</c:v>
                  </c:pt>
                  <c:pt idx="6">
                    <c:v>Yr 7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5.58</c:v>
                </c:pt>
                <c:pt idx="1">
                  <c:v>7.54</c:v>
                </c:pt>
                <c:pt idx="2">
                  <c:v>13.37</c:v>
                </c:pt>
                <c:pt idx="3">
                  <c:v>17.08</c:v>
                </c:pt>
                <c:pt idx="4">
                  <c:v>20.24</c:v>
                </c:pt>
                <c:pt idx="5">
                  <c:v>21.46</c:v>
                </c:pt>
                <c:pt idx="6">
                  <c:v>22.67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3B466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B466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4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E7689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6E7689"/>
                    </a:solidFill>
                    <a:latin typeface="Calibri"/>
                  </a:rPr>
                  <a:t>₹ crore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68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363636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3B466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FINANCE · 04 OF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8595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5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Amusement Park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566928" y="2706624"/>
            <a:ext cx="10241280" cy="607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i="1" dirty="0">
                <a:solidFill>
                  <a:srgbClr val="C9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fund the company rather than the projects — equity, guaranteed debt, and debt that becomes equity. One is materially cheaper than the headline round, and one balance-sheet move has to happen before any of them.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3460496"/>
            <a:ext cx="10241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Amusement Park Pvt. Ltd. · CIN U93000DL2011PTC212814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FY25-26 revenue ₹16.29 Cr · EBITDA ₹2.37 Cr · net worth ₹2.58 Cr · borrowings ₹7.85 Cr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66928" y="4681728"/>
            <a:ext cx="11057839" cy="10973"/>
          </a:xfrm>
          <a:prstGeom prst="rect">
            <a:avLst/>
          </a:prstGeom>
          <a:solidFill>
            <a:srgbClr val="2A3247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901184"/>
            <a:ext cx="25724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FY30-31 REVENUE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" y="5148072"/>
            <a:ext cx="25724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₹70 Cr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566928" y="5669280"/>
            <a:ext cx="25724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8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parks, including all three new projects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95396" y="4901184"/>
            <a:ext cx="25724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AT ₹90 CR PRE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395396" y="5148072"/>
            <a:ext cx="25724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13.9%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3395396" y="5669280"/>
            <a:ext cx="25724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8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IRR over five years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23864" y="4901184"/>
            <a:ext cx="25724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CGTMSE CEILING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23864" y="5148072"/>
            <a:ext cx="25724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 Cr</a:t>
            </a:r>
            <a:endParaRPr lang="en-US" sz="2900" dirty="0"/>
          </a:p>
        </p:txBody>
      </p:sp>
      <p:sp>
        <p:nvSpPr>
          <p:cNvPr id="15" name="Text 13"/>
          <p:cNvSpPr/>
          <p:nvPr/>
        </p:nvSpPr>
        <p:spPr>
          <a:xfrm>
            <a:off x="6223864" y="5669280"/>
            <a:ext cx="25724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8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borrower, across all lenders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052331" y="4901184"/>
            <a:ext cx="25724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D/E AFTER CONVERSION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052331" y="5148072"/>
            <a:ext cx="25724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0.56×</a:t>
            </a:r>
            <a:endParaRPr lang="en-US" sz="2900" dirty="0"/>
          </a:p>
        </p:txBody>
      </p:sp>
      <p:sp>
        <p:nvSpPr>
          <p:cNvPr id="18" name="Text 16"/>
          <p:cNvSpPr/>
          <p:nvPr/>
        </p:nvSpPr>
        <p:spPr>
          <a:xfrm>
            <a:off x="9052331" y="5669280"/>
            <a:ext cx="25724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8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3.04× today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2B66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02336"/>
            <a:ext cx="10490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company stands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950976"/>
            <a:ext cx="11057839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what determines whether VAPPL can borrow, and at what price.</a:t>
            </a:r>
            <a:endParaRPr lang="en-US" sz="12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10132"/>
          <a:ext cx="11057839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7400239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FY25-26 position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a credit committee sees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₹16.29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All-time high, +27% year on year, four parks operating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₹2.37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14.5% margin — a ramp year, below the 36% single-park benchmark of FY22-23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worth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₹2.58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 and improving. Was negative ₹1.30 Cr in FY22-23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borrowings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₹7.85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₹5.26 Cr short-term across 13 facilities, ₹2.60 Cr from related parties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 to equity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3.04×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C855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high. Most banks want under 2× for an unsecured facility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ratio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~0.50×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 1.0 every year — structurally dependent on revolving credit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Electricity arrears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₹2.14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C855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red flag on any sanction note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4108196"/>
            <a:ext cx="11057839" cy="1512428"/>
          </a:xfrm>
          <a:prstGeom prst="roundRect">
            <a:avLst>
              <a:gd name="adj" fmla="val 3023"/>
            </a:avLst>
          </a:prstGeom>
          <a:solidFill>
            <a:srgbClr val="FBEFEC"/>
          </a:solidFill>
          <a:ln w="15875">
            <a:solidFill>
              <a:srgbClr val="C855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421792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04672" y="4400804"/>
            <a:ext cx="10582351" cy="288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85"/>
              </a:lnSpc>
              <a:buNone/>
            </a:pPr>
            <a:r>
              <a:rPr lang="en-US" sz="19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things stand between VAPPL and a bank sanction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04672" y="4744263"/>
            <a:ext cx="10582351" cy="803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to equity at 3.04×. Thirteen separate NBFC and bank facilities, which reads as distress borrowing regardless of how it arose. ₹2.14 Cr of electricity arrears — a live utility default is the single item most likely to stop a sanction note. And a current ratio below 1.0 in every year on record. None of the options in this deck should reach a lender before these are fixed.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66928" y="643737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Amusement Park Pvt. Ltd. · Company capital structure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2B66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02336"/>
            <a:ext cx="10490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 status and CGTMSE eligibility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950976"/>
            <a:ext cx="11057839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CGTMSE covers micro and small enterprises only. VAPPL's eligibility is not marginal — but it has an expiry date, and the date is inside this plan.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310132"/>
            <a:ext cx="3539642" cy="1170432"/>
          </a:xfrm>
          <a:prstGeom prst="roundRect">
            <a:avLst>
              <a:gd name="adj" fmla="val 4688"/>
            </a:avLst>
          </a:prstGeom>
          <a:solidFill>
            <a:srgbClr val="F5F6F8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429004"/>
            <a:ext cx="31738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IN PLANT &amp; MACHINERY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49808" y="1675892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₹6.13 Cr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49808" y="2151380"/>
            <a:ext cx="31738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a ₹25 Cr Small Enterprise limit — ₹18.87 Cr of headroom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26026" y="1310132"/>
            <a:ext cx="3539642" cy="1170432"/>
          </a:xfrm>
          <a:prstGeom prst="roundRect">
            <a:avLst>
              <a:gd name="adj" fmla="val 4688"/>
            </a:avLst>
          </a:prstGeom>
          <a:solidFill>
            <a:srgbClr val="F5F6F8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8906" y="1429004"/>
            <a:ext cx="31738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TURNOVER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08906" y="1675892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₹16.29 Cr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08906" y="2151380"/>
            <a:ext cx="31738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a ₹100 Cr limit — ₹83.71 Cr of headroom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85125" y="1310132"/>
            <a:ext cx="3539642" cy="1170432"/>
          </a:xfrm>
          <a:prstGeom prst="roundRect">
            <a:avLst>
              <a:gd name="adj" fmla="val 4688"/>
            </a:avLst>
          </a:prstGeom>
          <a:solidFill>
            <a:srgbClr val="EDFA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68005" y="1429004"/>
            <a:ext cx="31738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268005" y="1675892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Enterprise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68005" y="2151380"/>
            <a:ext cx="31738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CGTMSE eligible. Both tests cleared</a:t>
            </a:r>
            <a:endParaRPr lang="en-US" sz="9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718308"/>
          <a:ext cx="11057839" cy="914400"/>
        </p:xfrm>
        <a:graphic>
          <a:graphicData uri="http://schemas.openxmlformats.org/drawingml/2006/table">
            <a:tbl>
              <a:tblPr/>
              <a:tblGrid>
                <a:gridCol w="7863840"/>
                <a:gridCol w="3193999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Facility size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annual guarantee fee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Above ₹1 crore and up to ₹2 crore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Above ₹2 crore and up to ₹5 crore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Above ₹5 crore and up to ₹8 crore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Above ₹8 crore and up to ₹10 crore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566928" y="4344416"/>
            <a:ext cx="11057839" cy="1512428"/>
          </a:xfrm>
          <a:prstGeom prst="roundRect">
            <a:avLst>
              <a:gd name="adj" fmla="val 3023"/>
            </a:avLst>
          </a:prstGeom>
          <a:solidFill>
            <a:srgbClr val="F1F5FE"/>
          </a:solidFill>
          <a:ln w="15875">
            <a:solidFill>
              <a:srgbClr val="2B66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04672" y="445414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2A5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804672" y="4637024"/>
            <a:ext cx="10582351" cy="288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85"/>
              </a:lnSpc>
              <a:buNone/>
            </a:pPr>
            <a:r>
              <a:rPr lang="en-US" sz="19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thresholds moved in VAPPL's favour on 1 April 2025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804672" y="4980483"/>
            <a:ext cx="10582351" cy="803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Enterprise limits rose to ₹25 Cr of investment and ₹100 Cr of turnover, and the CGTMSE ceiling doubled to ₹10 Cr per borrower. Both landed after the ₹10 crore equity round was designed — which is the reason this pack exists. A facility sanctioned while the company qualifies keeps its cover for its full tenor.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66928" y="643737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Amusement Park Pvt. Ltd. · Company capital structure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2B66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02336"/>
            <a:ext cx="10490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balance sheet first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950976"/>
            <a:ext cx="11057839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raising anything there is a free move. Roughly ₹4 crore of VAPPL's ₹7.85 crore of borrowings is money the promoters already put in. Converting it costs no cash and transforms the balance sheet a lender is asked to lend against.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66928" y="1541272"/>
          <a:ext cx="11057839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708400"/>
          <a:ext cx="11057839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1737360"/>
                <a:gridCol w="2377440"/>
                <a:gridCol w="201168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worth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D/E once ₹10 Cr is drawn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facility at 2.0×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conversion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₹2.58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C855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5.76×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C855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₹0.31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 the ₹2.60 Cr long-term related-party loans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₹5.18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C855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2.36×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C855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₹8.11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 all related-party and promoter debt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₹6.67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1.61×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₹12.58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 all, drawn in tranches as FY26-27 earnings retain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₹9.67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1.11×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₹18.58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66928" y="5427472"/>
            <a:ext cx="11057839" cy="930087"/>
          </a:xfrm>
          <a:prstGeom prst="roundRect">
            <a:avLst>
              <a:gd name="adj" fmla="val 4916"/>
            </a:avLst>
          </a:prstGeom>
          <a:solidFill>
            <a:srgbClr val="FBEFEC"/>
          </a:solidFill>
          <a:ln w="15875">
            <a:solidFill>
              <a:srgbClr val="C8553D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04672" y="55372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804672" y="5720080"/>
            <a:ext cx="10582351" cy="212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only the ₹2.60 crore is not enough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04672" y="5987593"/>
            <a:ext cx="10582351" cy="296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₹2.60 Cr caps the facility at ₹8.11 Cr. Converting all ₹4.09 Cr lifts it to ₹12.58 Cr. Converting nothing supports ₹0.31 Cr — the company cannot borrow at all.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566928" y="643737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Amusement Park Pvt. Ltd. · Company capital structure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2B66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02336"/>
            <a:ext cx="10490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consolidated plan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950976"/>
            <a:ext cx="11057839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existing four parks plus all three new projects, phased on the award and opening dates assumed in each project deck. Existing-portfolio figures are the midpoints already published in the company financial model.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66928" y="1541272"/>
          <a:ext cx="11057839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4238752"/>
            <a:ext cx="3539642" cy="1115568"/>
          </a:xfrm>
          <a:prstGeom prst="roundRect">
            <a:avLst>
              <a:gd name="adj" fmla="val 4918"/>
            </a:avLst>
          </a:prstGeom>
          <a:solidFill>
            <a:srgbClr val="F5F6F8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4357624"/>
            <a:ext cx="31738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FY30-31 REVENUE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49808" y="4604512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₹70 Cr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49808" y="5080000"/>
            <a:ext cx="31738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₹16.29 Cr in FY25-26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326026" y="4238752"/>
            <a:ext cx="3539642" cy="1115568"/>
          </a:xfrm>
          <a:prstGeom prst="roundRect">
            <a:avLst>
              <a:gd name="adj" fmla="val 4918"/>
            </a:avLst>
          </a:prstGeom>
          <a:solidFill>
            <a:srgbClr val="F5F6F8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08906" y="4357624"/>
            <a:ext cx="31738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FY30-31 EBITDA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508906" y="4604512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 Cr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508906" y="5080000"/>
            <a:ext cx="31738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28.8% margin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085125" y="4238752"/>
            <a:ext cx="3539642" cy="1115568"/>
          </a:xfrm>
          <a:prstGeom prst="roundRect">
            <a:avLst>
              <a:gd name="adj" fmla="val 4918"/>
            </a:avLst>
          </a:prstGeom>
          <a:solidFill>
            <a:srgbClr val="F5F6F8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68005" y="4357624"/>
            <a:ext cx="31738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PROJECTS' SHARE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8268005" y="4604512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8268005" y="5080000"/>
            <a:ext cx="31738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FY30-31 revenue. EMV was 73% of the group in FY25-26 — concentration risk materially reduced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66928" y="643737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Amusement Park Pvt. Ltd. · Company capital structure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2B66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02336"/>
            <a:ext cx="10490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· Equity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950976"/>
            <a:ext cx="11057839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existing round is ₹10 crore at ₹90 crore pre-money. Funding all three new projects with equity would take it to roughly ₹16 crore. Here is what that returns to the person writing the cheque.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41272"/>
          <a:ext cx="11057839" cy="914400"/>
        </p:xfrm>
        <a:graphic>
          <a:graphicData uri="http://schemas.openxmlformats.org/drawingml/2006/table">
            <a:tbl>
              <a:tblPr/>
              <a:tblGrid>
                <a:gridCol w="8595360"/>
                <a:gridCol w="2462479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 basis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at exit — FY30-31, five years from a September 2026 close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₹70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value at 3.0× revenue (11× EBITDA cross-checks at ₹223 Cr)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₹211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value at exit, net of debt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₹203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Investor proceeds — 15.1% of exit equity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₹31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Investor IRR over five years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729482"/>
          <a:ext cx="11057839" cy="914400"/>
        </p:xfrm>
        <a:graphic>
          <a:graphicData uri="http://schemas.openxmlformats.org/drawingml/2006/table">
            <a:tbl>
              <a:tblPr/>
              <a:tblGrid>
                <a:gridCol w="5852160"/>
                <a:gridCol w="2560320"/>
                <a:gridCol w="2645359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Investor hurdle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 required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Implied pre-money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 — family office, strategic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₹73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22% — lower-quartile growth fund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₹59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 — institutional growth equity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₹50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the asking 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₹90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66928" y="5425186"/>
            <a:ext cx="11057839" cy="930087"/>
          </a:xfrm>
          <a:prstGeom prst="roundRect">
            <a:avLst>
              <a:gd name="adj" fmla="val 4916"/>
            </a:avLst>
          </a:prstGeom>
          <a:solidFill>
            <a:srgbClr val="FDF6EC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04672" y="553491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804672" y="5717794"/>
            <a:ext cx="10582351" cy="212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₹90 crore pre-money prices most of the growth in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04672" y="5985307"/>
            <a:ext cx="10582351" cy="296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₹90 crore pre-money an investor earns 13.9% over five years — an argument about counterparty, not valuation.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566928" y="643737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Amusement Park Pvt. Ltd. · Company capital structure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2B66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02336"/>
            <a:ext cx="10490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· Debt under CGTMSE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950976"/>
            <a:ext cx="11057839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collateral-free composite facility: a term loan for the project build-outs and a working-capital limit that consolidates the NBFC book.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66928" y="1310132"/>
          <a:ext cx="11057839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3705860"/>
            <a:ext cx="2599868" cy="1207008"/>
          </a:xfrm>
          <a:prstGeom prst="roundRect">
            <a:avLst>
              <a:gd name="adj" fmla="val 4545"/>
            </a:avLst>
          </a:prstGeom>
          <a:solidFill>
            <a:srgbClr val="F5F6F8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3824732"/>
            <a:ext cx="22341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FACILITY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49808" y="4071620"/>
            <a:ext cx="2234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 Cr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49808" y="4547108"/>
            <a:ext cx="22341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loan ₹6.50 Cr + working capital ₹3.50 Cr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386252" y="3705860"/>
            <a:ext cx="2599868" cy="1207008"/>
          </a:xfrm>
          <a:prstGeom prst="roundRect">
            <a:avLst>
              <a:gd name="adj" fmla="val 4545"/>
            </a:avLst>
          </a:prstGeom>
          <a:solidFill>
            <a:srgbClr val="F5F6F8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69132" y="3824732"/>
            <a:ext cx="22341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 COST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569132" y="4071620"/>
            <a:ext cx="2234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12.70%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3569132" y="4547108"/>
            <a:ext cx="22341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11.50% interest + 1.20% guarantee fee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205576" y="3705860"/>
            <a:ext cx="2599868" cy="1207008"/>
          </a:xfrm>
          <a:prstGeom prst="roundRect">
            <a:avLst>
              <a:gd name="adj" fmla="val 4545"/>
            </a:avLst>
          </a:prstGeom>
          <a:solidFill>
            <a:srgbClr val="F5F6F8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88456" y="3824732"/>
            <a:ext cx="22341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DSCR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388456" y="4071620"/>
            <a:ext cx="2234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2.57×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6388456" y="4547108"/>
            <a:ext cx="22341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the existing ₹7.85 Cr book, not just the new facility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9024899" y="3705860"/>
            <a:ext cx="2599868" cy="1207008"/>
          </a:xfrm>
          <a:prstGeom prst="roundRect">
            <a:avLst>
              <a:gd name="adj" fmla="val 4545"/>
            </a:avLst>
          </a:prstGeom>
          <a:solidFill>
            <a:srgbClr val="F5F6F8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207779" y="3824732"/>
            <a:ext cx="22341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FINANCE COST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9207779" y="4071620"/>
            <a:ext cx="2234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₹5.70 Cr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9207779" y="4547108"/>
            <a:ext cx="22341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seven years, against ₹31 Cr for the equivalent equity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66928" y="5168900"/>
            <a:ext cx="11057839" cy="1062299"/>
          </a:xfrm>
          <a:prstGeom prst="roundRect">
            <a:avLst>
              <a:gd name="adj" fmla="val 4304"/>
            </a:avLst>
          </a:prstGeom>
          <a:solidFill>
            <a:srgbClr val="EDFAF4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04672" y="52786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804672" y="5461508"/>
            <a:ext cx="10582351" cy="288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85"/>
              </a:lnSpc>
              <a:buNone/>
            </a:pPr>
            <a:r>
              <a:rPr lang="en-US" sz="19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debt is roughly a fifth of the cost of the equity</a:t>
            </a:r>
            <a:endParaRPr lang="en-US" sz="1900" dirty="0"/>
          </a:p>
        </p:txBody>
      </p:sp>
      <p:sp>
        <p:nvSpPr>
          <p:cNvPr id="26" name="Text 23"/>
          <p:cNvSpPr/>
          <p:nvPr/>
        </p:nvSpPr>
        <p:spPr>
          <a:xfrm>
            <a:off x="804672" y="5804967"/>
            <a:ext cx="10582351" cy="35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 Cr collateral-free at 12.70% costs ₹5.70 Cr over seven years — against ₹31 Cr for the equivalent equity, on the company's own projections.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66928" y="643737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Amusement Park Pvt. Ltd. · Company capital structure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2B66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02336"/>
            <a:ext cx="10490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 · Debt converted to equity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950976"/>
            <a:ext cx="11057839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in as debt at a coupon, converting into equity on a fixed formula three years out. At company level — unlike at project level — this is genuinely competitive with both alternatives.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41272"/>
          <a:ext cx="11057839" cy="914400"/>
        </p:xfrm>
        <a:graphic>
          <a:graphicData uri="http://schemas.openxmlformats.org/drawingml/2006/table">
            <a:tbl>
              <a:tblPr/>
              <a:tblGrid>
                <a:gridCol w="7680960"/>
                <a:gridCol w="3376879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Coupon, annual until conversion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 — compulsory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of year 3, into 13.0%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Implied conversion valuation, post-money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₹92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Coupon paid to conversion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₹2.88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Investor IRR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Money multiple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2.44×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4348734"/>
            <a:ext cx="11057839" cy="1962556"/>
          </a:xfrm>
          <a:prstGeom prst="roundRect">
            <a:avLst>
              <a:gd name="adj" fmla="val 2330"/>
            </a:avLst>
          </a:prstGeom>
          <a:solidFill>
            <a:srgbClr val="EDFAF4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445846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04672" y="4641342"/>
            <a:ext cx="10582351" cy="288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85"/>
              </a:lnSpc>
              <a:buNone/>
            </a:pPr>
            <a:r>
              <a:rPr lang="en-US" sz="19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risk-adjusted structure — with one condition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04672" y="4984801"/>
            <a:ext cx="10582351" cy="1253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21.4% against 13.9% for straight equity at the same valuation and exit. Dilution is deferred three years, and 13.0% converted at ₹92 Cr is cheaper than 15.1% sold today at ₹90 crore pre-money.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condition: a CCD is borrowing until it converts. Convert the related-party debt first, or agree in the sanction letter that the CGTMSE leverage covenant excludes compulsorily convertible instruments.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66928" y="643737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Amusement Park Pvt. Ltd. · Company capital structure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2B66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02336"/>
            <a:ext cx="10490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option, and why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133856"/>
            <a:ext cx="352745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298448"/>
            <a:ext cx="31251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68096" y="1517904"/>
            <a:ext cx="31251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8096" y="1847088"/>
            <a:ext cx="31251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13.9%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68096" y="2340864"/>
            <a:ext cx="31251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IRR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68096" y="2651760"/>
            <a:ext cx="3125114" cy="731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2697480"/>
            <a:ext cx="1750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in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518160" y="2697480"/>
            <a:ext cx="13750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₹16 Cr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68096" y="2980944"/>
            <a:ext cx="3125114" cy="731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3026664"/>
            <a:ext cx="1750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18160" y="3026664"/>
            <a:ext cx="13750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15.1% immediately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68096" y="3310128"/>
            <a:ext cx="3125114" cy="731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" y="3355848"/>
            <a:ext cx="1750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in FY30-31 money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18160" y="3355848"/>
            <a:ext cx="13750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₹31 Cr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68096" y="3639312"/>
            <a:ext cx="3125114" cy="731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20" name="Text 18"/>
          <p:cNvSpPr/>
          <p:nvPr/>
        </p:nvSpPr>
        <p:spPr>
          <a:xfrm>
            <a:off x="768096" y="3685032"/>
            <a:ext cx="1750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close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18160" y="3685032"/>
            <a:ext cx="13750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 months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332122" y="1133856"/>
            <a:ext cx="3527450" cy="2834640"/>
          </a:xfrm>
          <a:prstGeom prst="roundRect">
            <a:avLst>
              <a:gd name="adj" fmla="val 1935"/>
            </a:avLst>
          </a:prstGeom>
          <a:solidFill>
            <a:srgbClr val="EDFAF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33290" y="1298448"/>
            <a:ext cx="31251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33290" y="1517904"/>
            <a:ext cx="31251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· CGTMSE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33290" y="1847088"/>
            <a:ext cx="31251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₹5.70 Cr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533290" y="2340864"/>
            <a:ext cx="31251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OVER 7 YEARS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33290" y="2651760"/>
            <a:ext cx="3125114" cy="731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28" name="Text 26"/>
          <p:cNvSpPr/>
          <p:nvPr/>
        </p:nvSpPr>
        <p:spPr>
          <a:xfrm>
            <a:off x="4533290" y="2697480"/>
            <a:ext cx="1750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in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83354" y="2697480"/>
            <a:ext cx="13750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 Cr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33290" y="2980944"/>
            <a:ext cx="3125114" cy="731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31" name="Text 29"/>
          <p:cNvSpPr/>
          <p:nvPr/>
        </p:nvSpPr>
        <p:spPr>
          <a:xfrm>
            <a:off x="4533290" y="3026664"/>
            <a:ext cx="1750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83354" y="3026664"/>
            <a:ext cx="13750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33290" y="3310128"/>
            <a:ext cx="3125114" cy="731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34" name="Text 32"/>
          <p:cNvSpPr/>
          <p:nvPr/>
        </p:nvSpPr>
        <p:spPr>
          <a:xfrm>
            <a:off x="4533290" y="3355848"/>
            <a:ext cx="1750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 rate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83354" y="3355848"/>
            <a:ext cx="13750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12.70%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33290" y="3639312"/>
            <a:ext cx="3125114" cy="731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37" name="Text 35"/>
          <p:cNvSpPr/>
          <p:nvPr/>
        </p:nvSpPr>
        <p:spPr>
          <a:xfrm>
            <a:off x="4533290" y="3685032"/>
            <a:ext cx="1750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close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83354" y="3685032"/>
            <a:ext cx="13750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weeks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097317" y="1133856"/>
            <a:ext cx="352745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98485" y="1298448"/>
            <a:ext cx="31251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298485" y="1517904"/>
            <a:ext cx="31251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→ equity (CCD)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298485" y="1847088"/>
            <a:ext cx="31251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21.4%</a:t>
            </a:r>
            <a:endParaRPr lang="en-US" sz="3000" dirty="0"/>
          </a:p>
        </p:txBody>
      </p:sp>
      <p:sp>
        <p:nvSpPr>
          <p:cNvPr id="43" name="Text 41"/>
          <p:cNvSpPr/>
          <p:nvPr/>
        </p:nvSpPr>
        <p:spPr>
          <a:xfrm>
            <a:off x="8298485" y="2340864"/>
            <a:ext cx="31251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IRR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8298485" y="2651760"/>
            <a:ext cx="3125114" cy="731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45" name="Text 43"/>
          <p:cNvSpPr/>
          <p:nvPr/>
        </p:nvSpPr>
        <p:spPr>
          <a:xfrm>
            <a:off x="8298485" y="2697480"/>
            <a:ext cx="1750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in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0048549" y="2697480"/>
            <a:ext cx="13750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 Cr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8298485" y="2980944"/>
            <a:ext cx="3125114" cy="731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48" name="Text 46"/>
          <p:cNvSpPr/>
          <p:nvPr/>
        </p:nvSpPr>
        <p:spPr>
          <a:xfrm>
            <a:off x="8298485" y="3026664"/>
            <a:ext cx="1750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Dilution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10048549" y="3026664"/>
            <a:ext cx="13750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13.0% in year 3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298485" y="3310128"/>
            <a:ext cx="3125114" cy="731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51" name="Text 49"/>
          <p:cNvSpPr/>
          <p:nvPr/>
        </p:nvSpPr>
        <p:spPr>
          <a:xfrm>
            <a:off x="8298485" y="3355848"/>
            <a:ext cx="1750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in FY30-31 money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10048549" y="3355848"/>
            <a:ext cx="13750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₹29 Cr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298485" y="3639312"/>
            <a:ext cx="3125114" cy="731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54" name="Text 52"/>
          <p:cNvSpPr/>
          <p:nvPr/>
        </p:nvSpPr>
        <p:spPr>
          <a:xfrm>
            <a:off x="8298485" y="3685032"/>
            <a:ext cx="1750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close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10048549" y="3685032"/>
            <a:ext cx="13750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months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66928" y="4169664"/>
            <a:ext cx="11057839" cy="1536192"/>
          </a:xfrm>
          <a:prstGeom prst="roundRect">
            <a:avLst>
              <a:gd name="adj" fmla="val 2976"/>
            </a:avLst>
          </a:prstGeom>
          <a:solidFill>
            <a:srgbClr val="EDFAF4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04672" y="42793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04672" y="4462272"/>
            <a:ext cx="10582351" cy="288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85"/>
              </a:lnSpc>
              <a:buNone/>
            </a:pPr>
            <a:r>
              <a:rPr lang="en-US" sz="19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three, in sequence — not one instead of the others</a:t>
            </a:r>
            <a:endParaRPr lang="en-US" sz="1900" dirty="0"/>
          </a:p>
        </p:txBody>
      </p:sp>
      <p:sp>
        <p:nvSpPr>
          <p:cNvPr id="59" name="Text 57"/>
          <p:cNvSpPr/>
          <p:nvPr/>
        </p:nvSpPr>
        <p:spPr>
          <a:xfrm>
            <a:off x="804672" y="4805731"/>
            <a:ext cx="10582351" cy="826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1, now, no external party: convert all ₹4.09 Cr of related-party and promoter debt. Gearing falls to 0.56×, clear the arrears, consolidate the NBFC book.  ·  Step 2, the cheap capital: a ₹10 Cr CGTMSE facility at 12.70% all-in, ₹5.70 Cr total cost.  ·  Step 3, the equity, smaller and later: with the debt in place the round need not be ₹16 Cr — ₹6–8 crore covers what debt cannot reach, at roughly half the dilution.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66928" y="643737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Amusement Park Pvt. Ltd. · Company capital structure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2B66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02336"/>
            <a:ext cx="10490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precedent to any lender approach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170432"/>
            <a:ext cx="182880" cy="182880"/>
          </a:xfrm>
          <a:prstGeom prst="ellipse">
            <a:avLst/>
          </a:prstGeom>
          <a:solidFill>
            <a:srgbClr val="C8553D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1133856"/>
            <a:ext cx="505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all ₹4.09 Cr of related-party debt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59536" y="1380744"/>
            <a:ext cx="50534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D/E from 3.04× to 0.56×, and to 1.61× once drawn. Converting only the ₹2.60 Cr caps the facility at ₹8.11 Cr; converting nothing caps it at ₹0.31 Cr. Board resolution.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2322576"/>
            <a:ext cx="182880" cy="182880"/>
          </a:xfrm>
          <a:prstGeom prst="ellipse">
            <a:avLst/>
          </a:prstGeom>
          <a:solidFill>
            <a:srgbClr val="C8553D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2286000"/>
            <a:ext cx="505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the ₹2.14 Cr electricity arrears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59536" y="2532888"/>
            <a:ext cx="50534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utility default is the single item most likely to stop a sanction note in its tracks. Settle or formally reschedule with the discom before applying.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3474720"/>
            <a:ext cx="182880" cy="1828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859536" y="3438144"/>
            <a:ext cx="505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the NBFC book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59536" y="3685032"/>
            <a:ext cx="50534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Thirteen facilities read as distress borrowing. Reduce to a countable number before applying — a lender will covenant against re-borrowing anyway.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78728" y="1170432"/>
            <a:ext cx="182880" cy="1828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6571336" y="1133856"/>
            <a:ext cx="505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Udyam registration and NIC code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71336" y="1380744"/>
            <a:ext cx="50534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CGTMSE cover requires a live registration on the correct activity code for the borrowing entity. Confirm before the application, not after a rejection.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78728" y="2322576"/>
            <a:ext cx="182880" cy="182880"/>
          </a:xfrm>
          <a:prstGeom prst="ellipse">
            <a:avLst/>
          </a:prstGeom>
          <a:solidFill>
            <a:srgbClr val="2B66EA"/>
          </a:solidFill>
          <a:ln/>
        </p:spPr>
      </p:sp>
      <p:sp>
        <p:nvSpPr>
          <p:cNvPr id="18" name="Text 16"/>
          <p:cNvSpPr/>
          <p:nvPr/>
        </p:nvSpPr>
        <p:spPr>
          <a:xfrm>
            <a:off x="6571336" y="2286000"/>
            <a:ext cx="505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FY25-26 audit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71336" y="2532888"/>
            <a:ext cx="50534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accounts carry a ₹54.5 lakh depreciation placeholder against an estimated ₹1.0–1.1 Cr. Net worth moves; EBITDA and DSCR do not. Expected August 2026.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78728" y="3474720"/>
            <a:ext cx="182880" cy="182880"/>
          </a:xfrm>
          <a:prstGeom prst="ellipse">
            <a:avLst/>
          </a:prstGeom>
          <a:solidFill>
            <a:srgbClr val="2B66EA"/>
          </a:solidFill>
          <a:ln/>
        </p:spPr>
      </p:sp>
      <p:sp>
        <p:nvSpPr>
          <p:cNvPr id="21" name="Text 19"/>
          <p:cNvSpPr/>
          <p:nvPr/>
        </p:nvSpPr>
        <p:spPr>
          <a:xfrm>
            <a:off x="6571336" y="3438144"/>
            <a:ext cx="505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 BDA consent for any change of control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71336" y="3685032"/>
            <a:ext cx="50534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Ramayan Vatika's lock-in bars shareholding changes without prior written approval. Applies to the equity round and to CCD conversion alike.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" y="643737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Amusement Park Pvt. Ltd. · Company capital structure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E-O-D Parks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 Amusement Park — Company Capital Structure</dc:title>
  <dc:subject>Equity, CGTMSE debt and debt converted to equity</dc:subject>
  <dc:creator>Vision Amusement Park Pvt. Ltd.</dc:creator>
  <cp:lastModifiedBy>Vision Amusement Park Pvt. Ltd.</cp:lastModifiedBy>
  <cp:revision>1</cp:revision>
  <dcterms:created xsi:type="dcterms:W3CDTF">2026-08-24T16:56:39Z</dcterms:created>
  <dcterms:modified xsi:type="dcterms:W3CDTF">2026-08-24T16:56:39Z</dcterms:modified>
</cp:coreProperties>
</file>