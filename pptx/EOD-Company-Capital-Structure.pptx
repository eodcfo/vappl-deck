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7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8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9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Largest facility inside a 2.0× covenant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No
conversion</c:v>
                  </c:pt>
                  <c:pt idx="1">
                    <c:v>Convert the
₹2.60 Cr</c:v>
                  </c:pt>
                  <c:pt idx="2">
                    <c:v>Convert all
₹4.09 Cr</c:v>
                  </c:pt>
                  <c:pt idx="3">
                    <c:v>Convert all, drawn
in tranches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0.31</c:v>
                </c:pt>
                <c:pt idx="1">
                  <c:v>8.11</c:v>
                </c:pt>
                <c:pt idx="2">
                  <c:v>12.58</c:v>
                </c:pt>
                <c:pt idx="3">
                  <c:v>18.58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Revenue, 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facility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1.16</c:v>
                </c:pt>
                <c:pt idx="1">
                  <c:v>2.29</c:v>
                </c:pt>
                <c:pt idx="2">
                  <c:v>2.13</c:v>
                </c:pt>
                <c:pt idx="3">
                  <c:v>1.94</c:v>
                </c:pt>
                <c:pt idx="4">
                  <c:v>1.75</c:v>
                </c:pt>
                <c:pt idx="5">
                  <c:v>1.56</c:v>
                </c:pt>
                <c:pt idx="6">
                  <c:v>1.37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 debt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0.7</c:v>
                </c:pt>
                <c:pt idx="1">
                  <c:v>0.65</c:v>
                </c:pt>
                <c:pt idx="2">
                  <c:v>0.6</c:v>
                </c:pt>
                <c:pt idx="3">
                  <c:v>0.54</c:v>
                </c:pt>
                <c:pt idx="4">
                  <c:v>0.49</c:v>
                </c:pt>
                <c:pt idx="5">
                  <c:v>0.43</c:v>
                </c:pt>
                <c:pt idx="6">
                  <c:v>0.38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EBITDA available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5.4</c:v>
                </c:pt>
                <c:pt idx="1">
                  <c:v>7.18</c:v>
                </c:pt>
                <c:pt idx="2">
                  <c:v>13.01</c:v>
                </c:pt>
                <c:pt idx="3">
                  <c:v>16.71</c:v>
                </c:pt>
                <c:pt idx="4">
                  <c:v>19.89</c:v>
                </c:pt>
                <c:pt idx="5">
                  <c:v>21.08</c:v>
                </c:pt>
                <c:pt idx="6">
                  <c:v>22.27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04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Amusement Park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619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fund the company rather than the projects — equity, guaranteed debt, and debt that becomes equity. One is materially cheaper than the headline round, and one balance-sheet move has to happen before any of them.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4721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CIN U93000DL2011PTC212814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revenue ₹16.29 Cr · EBITDA ₹2.37 Cr · net worth ₹2.58 Cr · borrowings ₹7.85 Cr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7C88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parks, including all three new projects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AT ₹90 CR PRE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13.8%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7C88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 over five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CEILING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7C88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borrower, across all lenders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D/E AFTER CONVERSION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0.56×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7C88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3.04× today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company stands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05840"/>
            <a:ext cx="110578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determines whether VAPPL can borrow, and at what price.</a:t>
            </a:r>
            <a:endParaRPr lang="en-US" sz="13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7400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FY25-26 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 credit committee sees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₹16.29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All-time high, +27% year on year, four parks operating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₹2.37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14.5% margin — a ramp year, below the 36% single-park benchmark of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 and improving. Was negative ₹1.30 Cr in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borrowings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₹7.85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₹5.26 Cr short-term across 13 facilities, ₹2.60 Cr from related parties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to equity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3.04×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high. Most banks want under 2× for an unsecured facility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ratio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~0.50×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 1.0 every year — structurally dependent on revolving credit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 arrears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₹2.14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red flag on any sanction 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425696"/>
            <a:ext cx="11057839" cy="1640690"/>
          </a:xfrm>
          <a:prstGeom prst="roundRect">
            <a:avLst>
              <a:gd name="adj" fmla="val 2787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5720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773168"/>
            <a:ext cx="10582351" cy="294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things stand between VAPPL and a bank sanction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5140465"/>
            <a:ext cx="10582351" cy="852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to equity at 3.04×. Thirteen separate NBFC and bank facilities, which reads as distress borrowing regardless of how it arose. ₹2.14 Cr of electricity arrears — a live utility default is the single item most likely to stop a sanction note. And a current ratio below 1.0 in every year on record. None of the options in this deck should reach a lender before these are fixed.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MSME status and CGTMSE eligibility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05840"/>
            <a:ext cx="110578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covers micro and small enterprises only. VAPPL's eligibility is not marginal — but it has an expiry date, and the date is inside this plan.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1627632"/>
            <a:ext cx="3539642" cy="1243584"/>
          </a:xfrm>
          <a:prstGeom prst="roundRect">
            <a:avLst>
              <a:gd name="adj" fmla="val 441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76479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IN PLANT &amp; MACHINERY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49808" y="19933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₹6.13 Cr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49808" y="2468880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₹25 Cr Small Enterprise limit — ₹18.87 Cr of headroom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6026" y="1627632"/>
            <a:ext cx="3539642" cy="1243584"/>
          </a:xfrm>
          <a:prstGeom prst="roundRect">
            <a:avLst>
              <a:gd name="adj" fmla="val 441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8906" y="176479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TURNOVER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08906" y="19933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₹16.29 Cr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508906" y="2468880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₹100 Cr limit — ₹83.71 Cr of headroom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5125" y="1627632"/>
            <a:ext cx="3539642" cy="1243584"/>
          </a:xfrm>
          <a:prstGeom prst="roundRect">
            <a:avLst>
              <a:gd name="adj" fmla="val 4412"/>
            </a:avLst>
          </a:prstGeom>
          <a:solidFill>
            <a:srgbClr val="EDFA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8005" y="176479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68005" y="19933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68005" y="2468880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eligible. Both tests cleared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108960"/>
          <a:ext cx="11057839" cy="914400"/>
        </p:xfrm>
        <a:graphic>
          <a:graphicData uri="http://schemas.openxmlformats.org/drawingml/2006/table">
            <a:tbl>
              <a:tblPr/>
              <a:tblGrid>
                <a:gridCol w="7863840"/>
                <a:gridCol w="3193999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Facility size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annual guarantee fee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₹10 lakh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₹10 lakh and up to ₹50 lakh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₹50 lakh and up to ₹1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₹1 crore and up to ₹2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₹2 crore and up to ₹5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₹5 crore and up to ₹8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₹8 crore and up to ₹10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66928" y="5662517"/>
            <a:ext cx="11057839" cy="731520"/>
          </a:xfrm>
          <a:prstGeom prst="roundRect">
            <a:avLst>
              <a:gd name="adj" fmla="val 6250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5808821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6009989"/>
            <a:ext cx="10582351" cy="232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moved in VAPPL's favour on 1 April 2025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804672" y="6315361"/>
            <a:ext cx="1058235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7"/>
              </a:lnSpc>
              <a:buNone/>
            </a:pPr>
            <a:r>
              <a:rPr lang="en-US" sz="8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 limits rose from ₹10 Cr to ₹25 Cr of investment and ₹50 Cr to ₹100 Cr of turnover, and the CGTMSE guarantee ceiling doubled from ₹5 Cr to ₹10 Cr per borrower. Both landed after the ₹10 crore equity round was designed. A guaranteed, collateral-free ₹10 crore facility is available today that was not available when the round was structured — which is the reason this pack exists. A facility sanctioned while the company qualifies keeps its cover for its full tenor.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balance sheet first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05840"/>
            <a:ext cx="110578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raising anything there is a free move. Roughly ₹4 crore of VAPPL's ₹7.85 crore of borrowings is money the promoters already put in. Converting it costs no cash and transforms the balance sheet a lender is asked to lend against.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627632"/>
          <a:ext cx="11057839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14800"/>
          <a:ext cx="11057839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737360"/>
                <a:gridCol w="237744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D/E once ₹10 Cr is drawn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facility at 2.0×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₹0.31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the ₹2.60 Cr long-term related-party loans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₹8.11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 related-party and promoter debt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all, drawn in tranches as FY26-27 earnings retain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₹18.58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833872"/>
            <a:ext cx="11057839" cy="731520"/>
          </a:xfrm>
          <a:prstGeom prst="roundRect">
            <a:avLst>
              <a:gd name="adj" fmla="val 6250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9801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6181344"/>
            <a:ext cx="10582351" cy="232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only the ₹2.60 crore is not enough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804672" y="6486716"/>
            <a:ext cx="1058235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7"/>
              </a:lnSpc>
              <a:buNone/>
            </a:pPr>
            <a:r>
              <a:rPr lang="en-US" sz="8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₹2.60 Cr converted, gearing after a full drawdown lands at 2.36× — outside a 2.0× covenant — and the largest facility that stays inside it is ₹8.11 Cr. Converting all ₹4.09 Cr takes post-drawdown gearing to 1.61× and lifts capacity to ₹12.58 Cr. Without any conversion the company supports ₹0.31 Cr — which is to say, it cannot borrow at all.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consolidated plan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05840"/>
            <a:ext cx="110578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four parks plus all three new projects, phased on the award and opening dates assumed in each project deck. Existing-portfolio figures are the midpoints already published in the company financial model.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627632"/>
          <a:ext cx="11057839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645152"/>
            <a:ext cx="3539642" cy="1188720"/>
          </a:xfrm>
          <a:prstGeom prst="roundRect">
            <a:avLst>
              <a:gd name="adj" fmla="val 461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78231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49808" y="50109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486400"/>
            <a:ext cx="3173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₹16.29 Cr in FY25-26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645152"/>
            <a:ext cx="3539642" cy="1188720"/>
          </a:xfrm>
          <a:prstGeom prst="roundRect">
            <a:avLst>
              <a:gd name="adj" fmla="val 461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78231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EBITDA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08906" y="50109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486400"/>
            <a:ext cx="3173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28.4% margin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645152"/>
            <a:ext cx="3539642" cy="1188720"/>
          </a:xfrm>
          <a:prstGeom prst="roundRect">
            <a:avLst>
              <a:gd name="adj" fmla="val 461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78231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PROJECTS' SHARE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8268005" y="50109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486400"/>
            <a:ext cx="3173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FY30-31 revenue. EMV was 73% of the group in FY25-26 — concentration risk materially reduced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05840"/>
            <a:ext cx="110578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round is ₹10 crore at ₹90 crore pre-money. Funding all three new projects with equity would take it to roughly ₹16 crore. Here is what that returns to the person writing the cheque.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57839" cy="914400"/>
        </p:xfrm>
        <a:graphic>
          <a:graphicData uri="http://schemas.openxmlformats.org/drawingml/2006/table">
            <a:tbl>
              <a:tblPr/>
              <a:tblGrid>
                <a:gridCol w="8595360"/>
                <a:gridCol w="246247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 basis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 year — FY30-31, five years from a September 2026 close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at exit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 at 3.0× revenue — the company model's own peer frame is 3–5×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₹210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Cross-check at 11× EBITDA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₹219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value at exit, net of debt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proceeds — 15.1% of exit equity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 over five years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477830"/>
          <a:ext cx="11057839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2560320"/>
                <a:gridCol w="264535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hurdle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required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pre-money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 — family office, strategic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22% — lower-quartile growth fund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₹59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 — institutional growth equity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the asking 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6187504"/>
            <a:ext cx="11057839" cy="731520"/>
          </a:xfrm>
          <a:prstGeom prst="roundRect">
            <a:avLst>
              <a:gd name="adj" fmla="val 6250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63338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6534976"/>
            <a:ext cx="10582351" cy="232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₹90 crore pre-money prices most of the growth in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804672" y="6840347"/>
            <a:ext cx="1058235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7"/>
              </a:lnSpc>
              <a:buNone/>
            </a:pPr>
            <a:r>
              <a:rPr lang="en-US" sz="8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this plan an investor entering at ₹90 crore pre-money earns 13.8% over five years — respectable for a family office or strategic, below what an institutional growth fund underwrites to. Not an argument that the valuation is wrong; an argument about who the right counterparty is, and how long the round takes to close.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05840"/>
            <a:ext cx="110578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collateral-free composite facility: a term loan for the project build-outs and a working-capital limit that consolidates the NBFC book.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627632"/>
          <a:ext cx="11057839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343400"/>
            <a:ext cx="2599868" cy="1280160"/>
          </a:xfrm>
          <a:prstGeom prst="roundRect">
            <a:avLst>
              <a:gd name="adj" fmla="val 4286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480560"/>
            <a:ext cx="22341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49808" y="47091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184648"/>
            <a:ext cx="2234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₹6.50 Cr + working capital ₹3.50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4343400"/>
            <a:ext cx="2599868" cy="1280160"/>
          </a:xfrm>
          <a:prstGeom prst="roundRect">
            <a:avLst>
              <a:gd name="adj" fmla="val 4286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480560"/>
            <a:ext cx="22341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3569132" y="47091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5184648"/>
            <a:ext cx="2234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interest + 1.20%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4343400"/>
            <a:ext cx="2599868" cy="1280160"/>
          </a:xfrm>
          <a:prstGeom prst="roundRect">
            <a:avLst>
              <a:gd name="adj" fmla="val 4286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480560"/>
            <a:ext cx="22341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388456" y="47091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2.44×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5184648"/>
            <a:ext cx="2234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existing ₹7.85 Cr book, not just the new facility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4343400"/>
            <a:ext cx="2599868" cy="1280160"/>
          </a:xfrm>
          <a:prstGeom prst="roundRect">
            <a:avLst>
              <a:gd name="adj" fmla="val 4286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480560"/>
            <a:ext cx="22341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9207779" y="47091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5184648"/>
            <a:ext cx="2234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seven years, against ₹30 Cr for the equivalent equity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879592"/>
            <a:ext cx="11057839" cy="731520"/>
          </a:xfrm>
          <a:prstGeom prst="roundRect">
            <a:avLst>
              <a:gd name="adj" fmla="val 625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60258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6227064"/>
            <a:ext cx="10582351" cy="232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debt is roughly a fifth of the cost of the equity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04672" y="6532436"/>
            <a:ext cx="1058235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7"/>
              </a:lnSpc>
              <a:buNone/>
            </a:pPr>
            <a:r>
              <a:rPr lang="en-US" sz="8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₹10 Cr collateral-free facility at 12.70% all-in costs ₹5.70 Cr over seven years — against 15.1% of a company this plan values at ₹202 Cr in FY30-31, or ₹30 Cr. On the company's own projections.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05840"/>
            <a:ext cx="110578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 as debt at a coupon, converting into equity on a fixed formula three years out. At company level — unlike at project level — this is genuinely competitive with both alternatives.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compulsory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13.0%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conversion valuation, post-money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₹2.88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Money multiple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2.43×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496118"/>
            <a:ext cx="11057839" cy="1640690"/>
          </a:xfrm>
          <a:prstGeom prst="roundRect">
            <a:avLst>
              <a:gd name="adj" fmla="val 2787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64242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843590"/>
            <a:ext cx="10582351" cy="294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risk-adjusted structure for an outside investor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5210886"/>
            <a:ext cx="10582351" cy="852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21.3% against 13.8% for straight equity at the same valuation and the same exit. The difference comes from three years of coupon and from entering as a creditor while the three new projects are unproven. For VAPPL the trade is symmetrical: dilution deferred three years, and if the projects deliver, 13.0% converted at a ₹92 Cr implied valuation is cheaper than 15.1% sold today at ₹90 crore pre-money.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66928" y="6337976"/>
            <a:ext cx="11057839" cy="731520"/>
          </a:xfrm>
          <a:prstGeom prst="roundRect">
            <a:avLst>
              <a:gd name="adj" fmla="val 6250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6484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804672" y="6685448"/>
            <a:ext cx="10582351" cy="232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covenant problem — and it is not optional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04672" y="6990819"/>
            <a:ext cx="1058235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7"/>
              </a:lnSpc>
              <a:buNone/>
            </a:pPr>
            <a:r>
              <a:rPr lang="en-US" sz="8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CCDs sit as borrowings until conversion. Convert the related-party debt first, or negotiate the CGTMSE leverage covenant to exclude compulsorily convertible instruments — standard practice, since a CCD that must convert is quasi-equity, but it has to be agreed in the sanction letter rather than argued later.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13.8%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15.1% immediately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 Cr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4–8 months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OVER 7 YEARS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6–12 weeks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21.3%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₹12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13.0% in year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₹29 Cr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months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169664"/>
            <a:ext cx="11057839" cy="1640690"/>
          </a:xfrm>
          <a:prstGeom prst="roundRect">
            <a:avLst>
              <a:gd name="adj" fmla="val 2787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31596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517136"/>
            <a:ext cx="10582351" cy="294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three, in sequence — not one instead of the others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884433"/>
            <a:ext cx="10582351" cy="852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1, now, no external party: convert all ₹4.09 Cr of related-party and promoter debt. Gearing falls to 0.56×, clear the arrears, consolidate the NBFC book.  ·  Step 2, the cheap capital: a ₹10 Cr CGTMSE facility at 12.70% all-in, ₹5.70 Cr total cost.  ·  Step 3, the equity, smaller and later: with the debt in place the round need not be ₹16 Cr — ₹6–8 crore covers what debt cannot reach, at roughly half the dilution.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precedent to any lender approach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all ₹4.09 Cr of related-party debt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D/E from 3.04× to 0.56×, and to 1.61× once drawn. Converting only the ₹2.60 Cr caps the facility at ₹8.11 Cr; converting nothing caps it at ₹0.31 Cr. Board resolution.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₹2.14 Cr electricity arrears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utility default is the single item most likely to stop a sanction note in its tracks. Settle or formally reschedule with the discom before applying.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the NBFC book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Thirteen facilities read as distress borrowing. Reduce to a countable number before applying — a lender will covenant against re-borrowing anyway.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Udyam registration and NIC code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 requires a live registration on the correct activity code for the borrowing entity. Confirm before the application, not after a rejection.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FY25-26 audit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 accounts carry a ₹54.5 lakh depreciation placeholder against an estimated ₹1.0–1.1 Cr. Net worth moves; EBITDA and DSCR do not. Expected August 2026.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Obtain BDA consent for any change of control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Ramayan Vatika's lock-in bars shareholding changes without prior written approval. Applies to the equity round and to CCD conversion alike.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 Amusement Park — Company Capital Structure</dc:title>
  <dc:subject>Equity, CGTMSE debt and debt converted to equity</dc:subject>
  <dc:creator>Vision Amusement Park Pvt. Ltd.</dc:creator>
  <cp:lastModifiedBy>Vision Amusement Park Pvt. Ltd.</cp:lastModifiedBy>
  <cp:revision>1</cp:revision>
  <dcterms:created xsi:type="dcterms:W3CDTF">2026-08-23T14:26:30Z</dcterms:created>
  <dcterms:modified xsi:type="dcterms:W3CDTF">2026-08-23T14:26:30Z</dcterms:modified>
</cp:coreProperties>
</file>