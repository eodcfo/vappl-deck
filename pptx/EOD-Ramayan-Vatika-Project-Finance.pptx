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WALK-AWAY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₹35.5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₹2.96 L a month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the model solves the break-even licence fee at ₹35.5 L a year against BDA's ₹30 L reserve — 18% of headroom in a sealed highest-bid process.</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87363"/>
          </a:xfrm>
          <a:prstGeom prst="roundRect">
            <a:avLst>
              <a:gd name="adj" fmla="val 3551"/>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What would change the recommendation</a:t>
            </a:r>
            <a:endParaRPr lang="en-US" sz="1900" dirty="0"/>
          </a:p>
        </p:txBody>
      </p:sp>
      <p:sp>
        <p:nvSpPr>
          <p:cNvPr id="21" name="Text 19"/>
          <p:cNvSpPr/>
          <p:nvPr/>
        </p:nvSpPr>
        <p:spPr>
          <a:xfrm>
            <a:off x="804672" y="5592115"/>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2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853590"/>
          </a:xfrm>
          <a:prstGeom prst="roundRect">
            <a:avLst>
              <a:gd name="adj" fmla="val 2467"/>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Two clauses that decide how this can be financed</a:t>
            </a:r>
            <a:endParaRPr lang="en-US" sz="1800" dirty="0"/>
          </a:p>
        </p:txBody>
      </p:sp>
      <p:sp>
        <p:nvSpPr>
          <p:cNvPr id="10" name="Text 7"/>
          <p:cNvSpPr/>
          <p:nvPr/>
        </p:nvSpPr>
        <p:spPr>
          <a:xfrm>
            <a:off x="804672" y="5122266"/>
            <a:ext cx="10582351" cy="1159561"/>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100" dirty="0"/>
          </a:p>
          <a:p>
            <a:pPr indent="0" marL="0">
              <a:lnSpc>
                <a:spcPts val="1562"/>
              </a:lnSpc>
              <a:buNone/>
            </a:pPr>
            <a:endParaRPr lang="en-US" sz="1100" dirty="0"/>
          </a:p>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1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954654"/>
          </a:xfrm>
          <a:prstGeom prst="roundRect">
            <a:avLst>
              <a:gd name="adj" fmla="val 4789"/>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27838"/>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performance security is the hidden cost</a:t>
            </a:r>
            <a:endParaRPr lang="en-US" sz="1500" dirty="0"/>
          </a:p>
        </p:txBody>
      </p:sp>
      <p:sp>
        <p:nvSpPr>
          <p:cNvPr id="22" name="Text 19"/>
          <p:cNvSpPr/>
          <p:nvPr/>
        </p:nvSpPr>
        <p:spPr>
          <a:xfrm>
            <a:off x="804672" y="5830570"/>
            <a:ext cx="10582351" cy="306192"/>
          </a:xfrm>
          <a:prstGeom prst="rect">
            <a:avLst/>
          </a:prstGeom>
          <a:noFill/>
          <a:ln/>
        </p:spPr>
        <p:txBody>
          <a:bodyPr wrap="square" lIns="0" tIns="0" rIns="0" bIns="0" rtlCol="0" anchor="t"/>
          <a:lstStyle/>
          <a:p>
            <a:pPr indent="0" marL="0">
              <a:lnSpc>
                <a:spcPts val="1349"/>
              </a:lnSpc>
              <a:buNone/>
            </a:pPr>
            <a:r>
              <a:rPr lang="en-US" sz="95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234664"/>
          </a:xfrm>
          <a:prstGeom prst="roundRect">
            <a:avLst>
              <a:gd name="adj" fmla="val 3703"/>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The manpower floor is contractual, not discretionary</a:t>
            </a:r>
            <a:endParaRPr lang="en-US" sz="1800" dirty="0"/>
          </a:p>
        </p:txBody>
      </p:sp>
      <p:sp>
        <p:nvSpPr>
          <p:cNvPr id="10" name="Text 7"/>
          <p:cNvSpPr/>
          <p:nvPr/>
        </p:nvSpPr>
        <p:spPr>
          <a:xfrm>
            <a:off x="804672" y="5633060"/>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1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31013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31013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50469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60527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71500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389788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24134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₹2.81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737492"/>
          </a:xfrm>
          <a:prstGeom prst="roundRect">
            <a:avLst>
              <a:gd name="adj" fmla="val 2631"/>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860595"/>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break-even licence fee is ₹35.5 L a year against a ₹30 L reserve — 18% of headroom in a sealed highest-bid process.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Break-even is ₹35.5 L against a ₹30 L reserve,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2026-08-24T16:41:32Z</dcterms:created>
  <dcterms:modified xsi:type="dcterms:W3CDTF">2026-08-24T16:41:32Z</dcterms:modified>
</cp:coreProperties>
</file>