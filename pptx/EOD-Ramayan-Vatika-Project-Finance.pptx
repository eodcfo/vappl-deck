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Entry ticketing</c:v>
                </c:pt>
              </c:strCache>
            </c:strRef>
          </c:tx>
          <c:spPr>
            <a:solidFill>
              <a:srgbClr val="2B66EA"/>
            </a:solidFill>
            <a:effectLst/>
          </c:spPr>
          <c:invertIfNegative val="0"/>
          <c:dLbls>
            <c:numFmt formatCode="0.00" sourceLinked="0"/>
            <c:txPr>
              <a:bodyPr/>
              <a:lstStyle/>
              <a:p>
                <a:pPr>
                  <a:defRPr b="0" i="0" strike="noStrike" sz="900" u="none">
                    <a:solidFill>
                      <a:srgbClr val="3B4660"/>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Yr 1</c:v>
                  </c:pt>
                  <c:pt idx="1">
                    <c:v>Yr 2</c:v>
                  </c:pt>
                  <c:pt idx="2">
                    <c:v>Yr 3</c:v>
                  </c:pt>
                  <c:pt idx="3">
                    <c:v>Yr 4</c:v>
                  </c:pt>
                  <c:pt idx="4">
                    <c:v>Yr 5</c:v>
                  </c:pt>
                  <c:pt idx="5">
                    <c:v>Yr 6</c:v>
                  </c:pt>
                  <c:pt idx="6">
                    <c:v>Yr 7</c:v>
                  </c:pt>
                  <c:pt idx="7">
                    <c:v>Yr 8</c:v>
                  </c:pt>
                  <c:pt idx="8">
                    <c:v>Yr 9</c:v>
                  </c:pt>
                  <c:pt idx="9">
                    <c:v>Yr 10</c:v>
                  </c:pt>
                </c:lvl>
              </c:multiLvlStrCache>
            </c:multiLvlStrRef>
          </c:cat>
          <c:val>
            <c:numRef>
              <c:f>Sheet1!$B$2:$B$11</c:f>
              <c:numCache>
                <c:formatCode>General</c:formatCode>
                <c:ptCount val="10"/>
                <c:pt idx="0">
                  <c:v>0.25</c:v>
                </c:pt>
                <c:pt idx="1">
                  <c:v>0.32</c:v>
                </c:pt>
                <c:pt idx="2">
                  <c:v>0.44</c:v>
                </c:pt>
                <c:pt idx="3">
                  <c:v>0.49</c:v>
                </c:pt>
                <c:pt idx="4">
                  <c:v>0.6</c:v>
                </c:pt>
                <c:pt idx="5">
                  <c:v>0.64</c:v>
                </c:pt>
                <c:pt idx="6">
                  <c:v>0.72</c:v>
                </c:pt>
                <c:pt idx="7">
                  <c:v>0.76</c:v>
                </c:pt>
                <c:pt idx="8">
                  <c:v>0.86</c:v>
                </c:pt>
                <c:pt idx="9">
                  <c:v>0.89</c:v>
                </c:pt>
              </c:numCache>
            </c:numRef>
          </c:val>
        </c:ser>
        <c:ser>
          <c:idx val="1"/>
          <c:order val="1"/>
          <c:tx>
            <c:strRef>
              <c:f>Sheet1!$C$1</c:f>
              <c:strCache>
                <c:ptCount val="1"/>
                <c:pt idx="0">
                  <c:v>Holographic &amp; laser show</c:v>
                </c:pt>
              </c:strCache>
            </c:strRef>
          </c:tx>
          <c:spPr>
            <a:solidFill>
              <a:srgbClr val="C8553D"/>
            </a:solidFill>
            <a:effectLst/>
          </c:spPr>
          <c:invertIfNegative val="0"/>
          <c:dLbls>
            <c:numFmt formatCode="0.00" sourceLinked="0"/>
            <c:txPr>
              <a:bodyPr/>
              <a:lstStyle/>
              <a:p>
                <a:pPr>
                  <a:defRPr b="0" i="0" strike="noStrike" sz="900" u="none">
                    <a:solidFill>
                      <a:srgbClr val="3B4660"/>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Yr 1</c:v>
                  </c:pt>
                  <c:pt idx="1">
                    <c:v>Yr 2</c:v>
                  </c:pt>
                  <c:pt idx="2">
                    <c:v>Yr 3</c:v>
                  </c:pt>
                  <c:pt idx="3">
                    <c:v>Yr 4</c:v>
                  </c:pt>
                  <c:pt idx="4">
                    <c:v>Yr 5</c:v>
                  </c:pt>
                  <c:pt idx="5">
                    <c:v>Yr 6</c:v>
                  </c:pt>
                  <c:pt idx="6">
                    <c:v>Yr 7</c:v>
                  </c:pt>
                  <c:pt idx="7">
                    <c:v>Yr 8</c:v>
                  </c:pt>
                  <c:pt idx="8">
                    <c:v>Yr 9</c:v>
                  </c:pt>
                  <c:pt idx="9">
                    <c:v>Yr 10</c:v>
                  </c:pt>
                </c:lvl>
              </c:multiLvlStrCache>
            </c:multiLvlStrRef>
          </c:cat>
          <c:val>
            <c:numRef>
              <c:f>Sheet1!$C$2:$C$11</c:f>
              <c:numCache>
                <c:formatCode>General</c:formatCode>
                <c:ptCount val="10"/>
                <c:pt idx="0">
                  <c:v>0.88</c:v>
                </c:pt>
                <c:pt idx="1">
                  <c:v>1.2</c:v>
                </c:pt>
                <c:pt idx="2">
                  <c:v>1.59</c:v>
                </c:pt>
                <c:pt idx="3">
                  <c:v>1.82</c:v>
                </c:pt>
                <c:pt idx="4">
                  <c:v>2.08</c:v>
                </c:pt>
                <c:pt idx="5">
                  <c:v>2.26</c:v>
                </c:pt>
                <c:pt idx="6">
                  <c:v>2.56</c:v>
                </c:pt>
                <c:pt idx="7">
                  <c:v>2.72</c:v>
                </c:pt>
                <c:pt idx="8">
                  <c:v>2.97</c:v>
                </c:pt>
                <c:pt idx="9">
                  <c:v>3.14</c:v>
                </c:pt>
              </c:numCache>
            </c:numRef>
          </c:val>
        </c:ser>
        <c:ser>
          <c:idx val="2"/>
          <c:order val="2"/>
          <c:tx>
            <c:strRef>
              <c:f>Sheet1!$D$1</c:f>
              <c:strCache>
                <c:ptCount val="1"/>
                <c:pt idx="0">
                  <c:v>Food court</c:v>
                </c:pt>
              </c:strCache>
            </c:strRef>
          </c:tx>
          <c:spPr>
            <a:solidFill>
              <a:srgbClr val="10B981"/>
            </a:solidFill>
            <a:effectLst/>
          </c:spPr>
          <c:invertIfNegative val="0"/>
          <c:dLbls>
            <c:numFmt formatCode="0.00" sourceLinked="0"/>
            <c:txPr>
              <a:bodyPr/>
              <a:lstStyle/>
              <a:p>
                <a:pPr>
                  <a:defRPr b="0" i="0" strike="noStrike" sz="900" u="none">
                    <a:solidFill>
                      <a:srgbClr val="3B4660"/>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Yr 1</c:v>
                  </c:pt>
                  <c:pt idx="1">
                    <c:v>Yr 2</c:v>
                  </c:pt>
                  <c:pt idx="2">
                    <c:v>Yr 3</c:v>
                  </c:pt>
                  <c:pt idx="3">
                    <c:v>Yr 4</c:v>
                  </c:pt>
                  <c:pt idx="4">
                    <c:v>Yr 5</c:v>
                  </c:pt>
                  <c:pt idx="5">
                    <c:v>Yr 6</c:v>
                  </c:pt>
                  <c:pt idx="6">
                    <c:v>Yr 7</c:v>
                  </c:pt>
                  <c:pt idx="7">
                    <c:v>Yr 8</c:v>
                  </c:pt>
                  <c:pt idx="8">
                    <c:v>Yr 9</c:v>
                  </c:pt>
                  <c:pt idx="9">
                    <c:v>Yr 10</c:v>
                  </c:pt>
                </c:lvl>
              </c:multiLvlStrCache>
            </c:multiLvlStrRef>
          </c:cat>
          <c:val>
            <c:numRef>
              <c:f>Sheet1!$D$2:$D$11</c:f>
              <c:numCache>
                <c:formatCode>General</c:formatCode>
                <c:ptCount val="10"/>
                <c:pt idx="0">
                  <c:v>0.16</c:v>
                </c:pt>
                <c:pt idx="1">
                  <c:v>0.2</c:v>
                </c:pt>
                <c:pt idx="2">
                  <c:v>0.24</c:v>
                </c:pt>
                <c:pt idx="3">
                  <c:v>0.27</c:v>
                </c:pt>
                <c:pt idx="4">
                  <c:v>0.3</c:v>
                </c:pt>
                <c:pt idx="5">
                  <c:v>0.33</c:v>
                </c:pt>
                <c:pt idx="6">
                  <c:v>0.35</c:v>
                </c:pt>
                <c:pt idx="7">
                  <c:v>0.37</c:v>
                </c:pt>
                <c:pt idx="8">
                  <c:v>0.39</c:v>
                </c:pt>
                <c:pt idx="9">
                  <c:v>0.41</c:v>
                </c:pt>
              </c:numCache>
            </c:numRef>
          </c:val>
        </c:ser>
        <c:ser>
          <c:idx val="3"/>
          <c:order val="3"/>
          <c:tx>
            <c:strRef>
              <c:f>Sheet1!$E$1</c:f>
              <c:strCache>
                <c:ptCount val="1"/>
                <c:pt idx="0">
                  <c:v>Parking, events, toy train, ancillary</c:v>
                </c:pt>
              </c:strCache>
            </c:strRef>
          </c:tx>
          <c:spPr>
            <a:solidFill>
              <a:srgbClr val="8A93A6"/>
            </a:solidFill>
            <a:effectLst/>
          </c:spPr>
          <c:invertIfNegative val="0"/>
          <c:dLbls>
            <c:numFmt formatCode="0.00" sourceLinked="0"/>
            <c:txPr>
              <a:bodyPr/>
              <a:lstStyle/>
              <a:p>
                <a:pPr>
                  <a:defRPr b="0" i="0" strike="noStrike" sz="900" u="none">
                    <a:solidFill>
                      <a:srgbClr val="3B4660"/>
                    </a:solidFill>
                    <a:latin typeface="Calibri"/>
                  </a:defRPr>
                </a:pPr>
              </a:p>
            </c:txPr>
            <c:dLblPos val="ctr"/>
            <c:showLegendKey val="0"/>
            <c:showVal val="1"/>
            <c:showCatName val="0"/>
            <c:showSerName val="0"/>
            <c:showPercent val="0"/>
            <c:showBubbleSize val="0"/>
            <c:showLeaderLines val="0"/>
          </c:dLbls>
          <c:cat>
            <c:multiLvlStrRef>
              <c:f>Sheet1!$A$2:$A$11</c:f>
              <c:multiLvlStrCache>
                <c:ptCount val="10"/>
                <c:lvl>
                  <c:pt idx="0">
                    <c:v>Yr 1</c:v>
                  </c:pt>
                  <c:pt idx="1">
                    <c:v>Yr 2</c:v>
                  </c:pt>
                  <c:pt idx="2">
                    <c:v>Yr 3</c:v>
                  </c:pt>
                  <c:pt idx="3">
                    <c:v>Yr 4</c:v>
                  </c:pt>
                  <c:pt idx="4">
                    <c:v>Yr 5</c:v>
                  </c:pt>
                  <c:pt idx="5">
                    <c:v>Yr 6</c:v>
                  </c:pt>
                  <c:pt idx="6">
                    <c:v>Yr 7</c:v>
                  </c:pt>
                  <c:pt idx="7">
                    <c:v>Yr 8</c:v>
                  </c:pt>
                  <c:pt idx="8">
                    <c:v>Yr 9</c:v>
                  </c:pt>
                  <c:pt idx="9">
                    <c:v>Yr 10</c:v>
                  </c:pt>
                </c:lvl>
              </c:multiLvlStrCache>
            </c:multiLvlStrRef>
          </c:cat>
          <c:val>
            <c:numRef>
              <c:f>Sheet1!$E$2:$E$11</c:f>
              <c:numCache>
                <c:formatCode>General</c:formatCode>
                <c:ptCount val="10"/>
                <c:pt idx="0">
                  <c:v>0.25</c:v>
                </c:pt>
                <c:pt idx="1">
                  <c:v>0.44</c:v>
                </c:pt>
                <c:pt idx="2">
                  <c:v>0.56</c:v>
                </c:pt>
                <c:pt idx="3">
                  <c:v>0.64</c:v>
                </c:pt>
                <c:pt idx="4">
                  <c:v>0.72</c:v>
                </c:pt>
                <c:pt idx="5">
                  <c:v>0.77</c:v>
                </c:pt>
                <c:pt idx="6">
                  <c:v>0.82</c:v>
                </c:pt>
                <c:pt idx="7">
                  <c:v>0.86</c:v>
                </c:pt>
                <c:pt idx="8">
                  <c:v>0.91</c:v>
                </c:pt>
                <c:pt idx="9">
                  <c:v>0.95</c:v>
                </c:pt>
              </c:numCache>
            </c:numRef>
          </c:val>
        </c:ser>
        <c:dLbls>
          <c:numFmt formatCode="0.00" sourceLinked="0"/>
          <c:txPr>
            <a:bodyPr/>
            <a:lstStyle/>
            <a:p>
              <a:pPr>
                <a:defRPr b="0" i="0" strike="noStrike" sz="900" u="none">
                  <a:solidFill>
                    <a:srgbClr val="3B4660"/>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466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4EA"/>
              </a:solidFill>
              <a:prstDash val="solid"/>
              <a:round/>
            </a:ln>
          </c:spPr>
        </c:majorGridlines>
        <c:title>
          <c:tx>
            <c:rich>
              <a:bodyPr/>
              <a:lstStyle/>
              <a:p>
                <a:pPr>
                  <a:defRPr sz="1000" b="0" i="0" u="none" strike="noStrike">
                    <a:solidFill>
                      <a:srgbClr val="6E7689"/>
                    </a:solidFill>
                    <a:latin typeface="Calibri"/>
                  </a:defRPr>
                </a:pPr>
                <a:r>
                  <a:rPr sz="1000" b="0" i="0" u="none" strike="noStrike">
                    <a:solidFill>
                      <a:srgbClr val="6E7689"/>
                    </a:solidFill>
                    <a:latin typeface="Calibri"/>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9"/>
                </a:solidFill>
                <a:latin typeface="Calibri"/>
              </a:defRPr>
            </a:pPr>
            <a:endParaRPr lang="en-US"/>
          </a:p>
        </c:txPr>
        <c:crossAx val="2094734554"/>
        <c:crosses val="autoZero"/>
        <c:crossBetween val="between"/>
      </c:valAx>
      <c:spPr>
        <a:solidFill>
          <a:srgbClr val="FFFFFF"/>
        </a:solidFill>
        <a:ln w="12700" cap="flat">
          <a:solidFill>
            <a:srgbClr val="363636"/>
          </a:solidFill>
        </a:ln>
        <a:effectLst/>
      </c:spPr>
    </c:plotArea>
    <c:legend>
      <c:legendPos val="t"/>
      <c:overlay val="0"/>
      <c:txPr>
        <a:bodyPr/>
        <a:lstStyle/>
        <a:p>
          <a:pPr>
            <a:defRPr sz="1000">
              <a:solidFill>
                <a:srgbClr val="3B46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2B66EA"/>
            </a:solidFill>
            <a:effectLst/>
          </c:spPr>
          <c:invertIfNegative val="0"/>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Yr 1</c:v>
                  </c:pt>
                  <c:pt idx="1">
                    <c:v>Yr 2</c:v>
                  </c:pt>
                  <c:pt idx="2">
                    <c:v>Yr 3</c:v>
                  </c:pt>
                  <c:pt idx="3">
                    <c:v>Yr 4</c:v>
                  </c:pt>
                  <c:pt idx="4">
                    <c:v>Yr 5</c:v>
                  </c:pt>
                  <c:pt idx="5">
                    <c:v>Yr 6</c:v>
                  </c:pt>
                  <c:pt idx="6">
                    <c:v>Yr 7</c:v>
                  </c:pt>
                  <c:pt idx="7">
                    <c:v>Yr 8</c:v>
                  </c:pt>
                  <c:pt idx="8">
                    <c:v>Yr 9</c:v>
                  </c:pt>
                  <c:pt idx="9">
                    <c:v>Yr 10</c:v>
                  </c:pt>
                </c:lvl>
              </c:multiLvlStrCache>
            </c:multiLvlStrRef>
          </c:cat>
          <c:val>
            <c:numRef>
              <c:f>Sheet1!$B$2:$B$11</c:f>
              <c:numCache>
                <c:formatCode>General</c:formatCode>
                <c:ptCount val="10"/>
                <c:pt idx="0">
                  <c:v>1.54</c:v>
                </c:pt>
                <c:pt idx="1">
                  <c:v>2.16</c:v>
                </c:pt>
                <c:pt idx="2">
                  <c:v>2.82</c:v>
                </c:pt>
                <c:pt idx="3">
                  <c:v>3.21</c:v>
                </c:pt>
                <c:pt idx="4">
                  <c:v>3.7</c:v>
                </c:pt>
                <c:pt idx="5">
                  <c:v>4</c:v>
                </c:pt>
                <c:pt idx="6">
                  <c:v>4.44</c:v>
                </c:pt>
                <c:pt idx="7">
                  <c:v>4.72</c:v>
                </c:pt>
                <c:pt idx="8">
                  <c:v>5.14</c:v>
                </c:pt>
                <c:pt idx="9">
                  <c:v>5.4</c:v>
                </c:pt>
              </c:numCache>
            </c:numRef>
          </c:val>
        </c:ser>
        <c:ser>
          <c:idx val="1"/>
          <c:order val="1"/>
          <c:tx>
            <c:strRef>
              <c:f>Sheet1!$C$1</c:f>
              <c:strCache>
                <c:ptCount val="1"/>
                <c:pt idx="0">
                  <c:v>EBITDA</c:v>
                </c:pt>
              </c:strCache>
            </c:strRef>
          </c:tx>
          <c:spPr>
            <a:solidFill>
              <a:srgbClr val="10B981"/>
            </a:solidFill>
            <a:effectLst/>
          </c:spPr>
          <c:invertIfNegative val="0"/>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Yr 1</c:v>
                  </c:pt>
                  <c:pt idx="1">
                    <c:v>Yr 2</c:v>
                  </c:pt>
                  <c:pt idx="2">
                    <c:v>Yr 3</c:v>
                  </c:pt>
                  <c:pt idx="3">
                    <c:v>Yr 4</c:v>
                  </c:pt>
                  <c:pt idx="4">
                    <c:v>Yr 5</c:v>
                  </c:pt>
                  <c:pt idx="5">
                    <c:v>Yr 6</c:v>
                  </c:pt>
                  <c:pt idx="6">
                    <c:v>Yr 7</c:v>
                  </c:pt>
                  <c:pt idx="7">
                    <c:v>Yr 8</c:v>
                  </c:pt>
                  <c:pt idx="8">
                    <c:v>Yr 9</c:v>
                  </c:pt>
                  <c:pt idx="9">
                    <c:v>Yr 10</c:v>
                  </c:pt>
                </c:lvl>
              </c:multiLvlStrCache>
            </c:multiLvlStrRef>
          </c:cat>
          <c:val>
            <c:numRef>
              <c:f>Sheet1!$C$2:$C$11</c:f>
              <c:numCache>
                <c:formatCode>General</c:formatCode>
                <c:ptCount val="10"/>
                <c:pt idx="0">
                  <c:v>-0.41</c:v>
                </c:pt>
                <c:pt idx="1">
                  <c:v>-0.05</c:v>
                </c:pt>
                <c:pt idx="2">
                  <c:v>0.35</c:v>
                </c:pt>
                <c:pt idx="3">
                  <c:v>0.51</c:v>
                </c:pt>
                <c:pt idx="4">
                  <c:v>0.75</c:v>
                </c:pt>
                <c:pt idx="5">
                  <c:v>0.81</c:v>
                </c:pt>
                <c:pt idx="6">
                  <c:v>1</c:v>
                </c:pt>
                <c:pt idx="7">
                  <c:v>1.01</c:v>
                </c:pt>
                <c:pt idx="8">
                  <c:v>1.15</c:v>
                </c:pt>
                <c:pt idx="9">
                  <c:v>1.12</c:v>
                </c:pt>
              </c:numCache>
            </c:numRef>
          </c:val>
        </c:ser>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466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4EA"/>
              </a:solidFill>
              <a:prstDash val="solid"/>
              <a:round/>
            </a:ln>
          </c:spPr>
        </c:majorGridlines>
        <c:title>
          <c:tx>
            <c:rich>
              <a:bodyPr/>
              <a:lstStyle/>
              <a:p>
                <a:pPr>
                  <a:defRPr sz="1000" b="0" i="0" u="none" strike="noStrike">
                    <a:solidFill>
                      <a:srgbClr val="6E7689"/>
                    </a:solidFill>
                    <a:latin typeface="Calibri"/>
                  </a:defRPr>
                </a:pPr>
                <a:r>
                  <a:rPr sz="1000" b="0" i="0" u="none" strike="noStrike">
                    <a:solidFill>
                      <a:srgbClr val="6E7689"/>
                    </a:solidFill>
                    <a:latin typeface="Calibri"/>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9"/>
                </a:solidFill>
                <a:latin typeface="Calibri"/>
              </a:defRPr>
            </a:pPr>
            <a:endParaRPr lang="en-US"/>
          </a:p>
        </c:txPr>
        <c:crossAx val="2094734554"/>
        <c:crosses val="autoZero"/>
        <c:crossBetween val="between"/>
      </c:valAx>
      <c:spPr>
        <a:solidFill>
          <a:srgbClr val="FFFFFF"/>
        </a:solidFill>
        <a:ln w="12700" cap="flat">
          <a:solidFill>
            <a:srgbClr val="363636"/>
          </a:solidFill>
        </a:ln>
        <a:effectLst/>
      </c:spPr>
    </c:plotArea>
    <c:legend>
      <c:legendPos val="t"/>
      <c:overlay val="0"/>
      <c:txPr>
        <a:bodyPr/>
        <a:lstStyle/>
        <a:p>
          <a:pPr>
            <a:defRPr sz="1000">
              <a:solidFill>
                <a:srgbClr val="3B46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Free cash flow</c:v>
                </c:pt>
              </c:strCache>
            </c:strRef>
          </c:tx>
          <c:spPr>
            <a:solidFill>
              <a:srgbClr val="2B66EA"/>
            </a:solidFill>
            <a:effectLst/>
          </c:spPr>
          <c:invertIfNegative val="0"/>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cat>
            <c:multiLvlStrRef>
              <c:f>Sheet1!$A$2:$A$12</c:f>
              <c:multiLvlStrCache>
                <c:ptCount val="11"/>
                <c:lvl>
                  <c:pt idx="0">
                    <c:v>Capital</c:v>
                  </c:pt>
                  <c:pt idx="1">
                    <c:v>Yr 1</c:v>
                  </c:pt>
                  <c:pt idx="2">
                    <c:v>Yr 2</c:v>
                  </c:pt>
                  <c:pt idx="3">
                    <c:v>Yr 3</c:v>
                  </c:pt>
                  <c:pt idx="4">
                    <c:v>Yr 4</c:v>
                  </c:pt>
                  <c:pt idx="5">
                    <c:v>Yr 5</c:v>
                  </c:pt>
                  <c:pt idx="6">
                    <c:v>Yr 6</c:v>
                  </c:pt>
                  <c:pt idx="7">
                    <c:v>Yr 7</c:v>
                  </c:pt>
                  <c:pt idx="8">
                    <c:v>Yr 8</c:v>
                  </c:pt>
                  <c:pt idx="9">
                    <c:v>Yr 9</c:v>
                  </c:pt>
                  <c:pt idx="10">
                    <c:v>Yr 10</c:v>
                  </c:pt>
                </c:lvl>
              </c:multiLvlStrCache>
            </c:multiLvlStrRef>
          </c:cat>
          <c:val>
            <c:numRef>
              <c:f>Sheet1!$B$2:$B$12</c:f>
              <c:numCache>
                <c:formatCode>General</c:formatCode>
                <c:ptCount val="11"/>
                <c:pt idx="0">
                  <c:v>-1.89</c:v>
                </c:pt>
                <c:pt idx="1">
                  <c:v>-0.45</c:v>
                </c:pt>
                <c:pt idx="2">
                  <c:v>-0.09</c:v>
                </c:pt>
                <c:pt idx="3">
                  <c:v>0.26</c:v>
                </c:pt>
                <c:pt idx="4">
                  <c:v>0.37</c:v>
                </c:pt>
                <c:pt idx="5">
                  <c:v>0.54</c:v>
                </c:pt>
                <c:pt idx="6">
                  <c:v>0.58</c:v>
                </c:pt>
                <c:pt idx="7">
                  <c:v>0.71</c:v>
                </c:pt>
                <c:pt idx="8">
                  <c:v>0.72</c:v>
                </c:pt>
                <c:pt idx="9">
                  <c:v>0.81</c:v>
                </c:pt>
                <c:pt idx="10">
                  <c:v>1.12</c:v>
                </c:pt>
              </c:numCache>
            </c:numRef>
          </c:val>
        </c:ser>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466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4EA"/>
              </a:solidFill>
              <a:prstDash val="solid"/>
              <a:round/>
            </a:ln>
          </c:spPr>
        </c:majorGridlines>
        <c:title>
          <c:tx>
            <c:rich>
              <a:bodyPr/>
              <a:lstStyle/>
              <a:p>
                <a:pPr>
                  <a:defRPr sz="1000" b="0" i="0" u="none" strike="noStrike">
                    <a:solidFill>
                      <a:srgbClr val="6E7689"/>
                    </a:solidFill>
                    <a:latin typeface="Calibri"/>
                  </a:defRPr>
                </a:pPr>
                <a:r>
                  <a:rPr sz="1000" b="0" i="0" u="none" strike="noStrike">
                    <a:solidFill>
                      <a:srgbClr val="6E7689"/>
                    </a:solidFill>
                    <a:latin typeface="Calibri"/>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9"/>
                </a:solidFill>
                <a:latin typeface="Calibri"/>
              </a:defRPr>
            </a:pPr>
            <a:endParaRPr lang="en-US"/>
          </a:p>
        </c:txPr>
        <c:crossAx val="2094734554"/>
        <c:crosses val="autoZero"/>
        <c:crossBetween val="between"/>
      </c:valAx>
      <c:spPr>
        <a:solidFill>
          <a:srgbClr val="FFFFFF"/>
        </a:solidFill>
        <a:ln w="12700" cap="flat">
          <a:solidFill>
            <a:srgbClr val="363636"/>
          </a:solid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Project IRR</c:v>
                </c:pt>
              </c:strCache>
            </c:strRef>
          </c:tx>
          <c:spPr>
            <a:solidFill>
              <a:srgbClr val="C8553D"/>
            </a:solidFill>
            <a:effectLst/>
          </c:spPr>
          <c:invertIfNegative val="0"/>
          <c:dLbls>
            <c:numFmt formatCode="0.0&quot;%&quot;"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dPt>
            <c:idx val="0"/>
            <c:invertIfNegative val="0"/>
            <c:bubble3D val="0"/>
            <c:spPr>
              <a:solidFill>
                <a:srgbClr val="C8553D"/>
              </a:solidFill>
              <a:effectLst/>
            </c:spPr>
          </c:dPt>
          <c:dPt>
            <c:idx val="1"/>
            <c:invertIfNegative val="0"/>
            <c:bubble3D val="0"/>
            <c:spPr>
              <a:solidFill>
                <a:srgbClr val="2B66EA"/>
              </a:solidFill>
              <a:effectLst/>
            </c:spPr>
          </c:dPt>
          <c:dPt>
            <c:idx val="2"/>
            <c:invertIfNegative val="0"/>
            <c:bubble3D val="0"/>
            <c:spPr>
              <a:solidFill>
                <a:srgbClr val="10B981"/>
              </a:solidFill>
              <a:effectLst/>
            </c:spPr>
          </c:dPt>
          <c:cat>
            <c:multiLvlStrRef>
              <c:f>Sheet1!$A$2:$A$4</c:f>
              <c:multiLvlStrCache>
                <c:ptCount val="3"/>
                <c:lvl>
                  <c:pt idx="0">
                    <c:v>Downside</c:v>
                  </c:pt>
                  <c:pt idx="1">
                    <c:v>Base case</c:v>
                  </c:pt>
                  <c:pt idx="2">
                    <c:v>BDA's own case</c:v>
                  </c:pt>
                </c:lvl>
              </c:multiLvlStrCache>
            </c:multiLvlStrRef>
          </c:cat>
          <c:val>
            <c:numRef>
              <c:f>Sheet1!$B$2:$B$4</c:f>
              <c:numCache>
                <c:formatCode>General</c:formatCode>
                <c:ptCount val="3"/>
                <c:pt idx="0">
                  <c:v>-36.5</c:v>
                </c:pt>
                <c:pt idx="1">
                  <c:v>11.4</c:v>
                </c:pt>
                <c:pt idx="2">
                  <c:v>36.1</c:v>
                </c:pt>
              </c:numCache>
            </c:numRef>
          </c:val>
        </c:ser>
        <c:dLbls>
          <c:numFmt formatCode="0.0&quot;%&quot;"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466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4EA"/>
              </a:solidFill>
              <a:prstDash val="solid"/>
              <a:round/>
            </a:ln>
          </c:spPr>
        </c:majorGridlines>
        <c:title>
          <c:tx>
            <c:rich>
              <a:bodyPr/>
              <a:lstStyle/>
              <a:p>
                <a:pPr>
                  <a:defRPr sz="1000" b="0" i="0" u="none" strike="noStrike">
                    <a:solidFill>
                      <a:srgbClr val="6E7689"/>
                    </a:solidFill>
                    <a:latin typeface="Calibri"/>
                  </a:defRPr>
                </a:pPr>
                <a:r>
                  <a:rPr sz="1000" b="0" i="0" u="none" strike="noStrike">
                    <a:solidFill>
                      <a:srgbClr val="6E7689"/>
                    </a:solidFill>
                    <a:latin typeface="Calibri"/>
                  </a:rPr>
                  <a:t>Project IRR,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9"/>
                </a:solidFill>
                <a:latin typeface="Calibri"/>
              </a:defRPr>
            </a:pPr>
            <a:endParaRPr lang="en-US"/>
          </a:p>
        </c:txPr>
        <c:crossAx val="2094734554"/>
        <c:crosses val="autoZero"/>
        <c:crossBetween val="between"/>
      </c:valAx>
      <c:spPr>
        <a:solidFill>
          <a:srgbClr val="FFFFFF"/>
        </a:solidFill>
        <a:ln w="12700" cap="flat">
          <a:solidFill>
            <a:srgbClr val="363636"/>
          </a:solid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Debt service</c:v>
                </c:pt>
              </c:strCache>
            </c:strRef>
          </c:tx>
          <c:spPr>
            <a:solidFill>
              <a:srgbClr val="C8553D"/>
            </a:solidFill>
            <a:effectLst/>
          </c:spPr>
          <c:invertIfNegative val="0"/>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Yr 1</c:v>
                  </c:pt>
                  <c:pt idx="1">
                    <c:v>Yr 2</c:v>
                  </c:pt>
                  <c:pt idx="2">
                    <c:v>Yr 3</c:v>
                  </c:pt>
                  <c:pt idx="3">
                    <c:v>Yr 4</c:v>
                  </c:pt>
                  <c:pt idx="4">
                    <c:v>Yr 5</c:v>
                  </c:pt>
                  <c:pt idx="5">
                    <c:v>Yr 6</c:v>
                  </c:pt>
                  <c:pt idx="6">
                    <c:v>Yr 7</c:v>
                  </c:pt>
                  <c:pt idx="7">
                    <c:v>Yr 8</c:v>
                  </c:pt>
                  <c:pt idx="8">
                    <c:v>Yr 9</c:v>
                  </c:pt>
                </c:lvl>
              </c:multiLvlStrCache>
            </c:multiLvlStrRef>
          </c:cat>
          <c:val>
            <c:numRef>
              <c:f>Sheet1!$B$2:$B$10</c:f>
              <c:numCache>
                <c:formatCode>General</c:formatCode>
                <c:ptCount val="9"/>
                <c:pt idx="0">
                  <c:v>0.39</c:v>
                </c:pt>
                <c:pt idx="1">
                  <c:v>0.42</c:v>
                </c:pt>
                <c:pt idx="2">
                  <c:v>0.39</c:v>
                </c:pt>
                <c:pt idx="3">
                  <c:v>0.35</c:v>
                </c:pt>
                <c:pt idx="4">
                  <c:v>0.69</c:v>
                </c:pt>
                <c:pt idx="5">
                  <c:v>0.62</c:v>
                </c:pt>
                <c:pt idx="6">
                  <c:v>0.55</c:v>
                </c:pt>
                <c:pt idx="7">
                  <c:v>0.49</c:v>
                </c:pt>
                <c:pt idx="8">
                  <c:v>0.44</c:v>
                </c:pt>
              </c:numCache>
            </c:numRef>
          </c:val>
        </c:ser>
        <c:ser>
          <c:idx val="1"/>
          <c:order val="1"/>
          <c:tx>
            <c:strRef>
              <c:f>Sheet1!$C$1</c:f>
              <c:strCache>
                <c:ptCount val="1"/>
                <c:pt idx="0">
                  <c:v>Cash available (EBITDA)</c:v>
                </c:pt>
              </c:strCache>
            </c:strRef>
          </c:tx>
          <c:spPr>
            <a:solidFill>
              <a:srgbClr val="2B66EA"/>
            </a:solidFill>
            <a:effectLst/>
          </c:spPr>
          <c:invertIfNegative val="0"/>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Yr 1</c:v>
                  </c:pt>
                  <c:pt idx="1">
                    <c:v>Yr 2</c:v>
                  </c:pt>
                  <c:pt idx="2">
                    <c:v>Yr 3</c:v>
                  </c:pt>
                  <c:pt idx="3">
                    <c:v>Yr 4</c:v>
                  </c:pt>
                  <c:pt idx="4">
                    <c:v>Yr 5</c:v>
                  </c:pt>
                  <c:pt idx="5">
                    <c:v>Yr 6</c:v>
                  </c:pt>
                  <c:pt idx="6">
                    <c:v>Yr 7</c:v>
                  </c:pt>
                  <c:pt idx="7">
                    <c:v>Yr 8</c:v>
                  </c:pt>
                  <c:pt idx="8">
                    <c:v>Yr 9</c:v>
                  </c:pt>
                </c:lvl>
              </c:multiLvlStrCache>
            </c:multiLvlStrRef>
          </c:cat>
          <c:val>
            <c:numRef>
              <c:f>Sheet1!$C$2:$C$10</c:f>
              <c:numCache>
                <c:formatCode>General</c:formatCode>
                <c:ptCount val="9"/>
                <c:pt idx="0">
                  <c:v>-0.41</c:v>
                </c:pt>
                <c:pt idx="1">
                  <c:v>-0.05</c:v>
                </c:pt>
                <c:pt idx="2">
                  <c:v>0.35</c:v>
                </c:pt>
                <c:pt idx="3">
                  <c:v>0.51</c:v>
                </c:pt>
                <c:pt idx="4">
                  <c:v>0.75</c:v>
                </c:pt>
                <c:pt idx="5">
                  <c:v>0.81</c:v>
                </c:pt>
                <c:pt idx="6">
                  <c:v>1</c:v>
                </c:pt>
                <c:pt idx="7">
                  <c:v>1.01</c:v>
                </c:pt>
                <c:pt idx="8">
                  <c:v>1.15</c:v>
                </c:pt>
              </c:numCache>
            </c:numRef>
          </c:val>
        </c:ser>
        <c:dLbls>
          <c:numFmt formatCode="0.00" sourceLinked="0"/>
          <c:txPr>
            <a:bodyPr/>
            <a:lstStyle/>
            <a:p>
              <a:pPr>
                <a:defRPr b="0" i="0" strike="noStrike" sz="900" u="none">
                  <a:solidFill>
                    <a:srgbClr val="3B466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B466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2E4EA"/>
              </a:solidFill>
              <a:prstDash val="solid"/>
              <a:round/>
            </a:ln>
          </c:spPr>
        </c:majorGridlines>
        <c:title>
          <c:tx>
            <c:rich>
              <a:bodyPr/>
              <a:lstStyle/>
              <a:p>
                <a:pPr>
                  <a:defRPr sz="1000" b="0" i="0" u="none" strike="noStrike">
                    <a:solidFill>
                      <a:srgbClr val="6E7689"/>
                    </a:solidFill>
                    <a:latin typeface="Calibri"/>
                  </a:defRPr>
                </a:pPr>
                <a:r>
                  <a:rPr sz="1000" b="0" i="0" u="none" strike="noStrike">
                    <a:solidFill>
                      <a:srgbClr val="6E7689"/>
                    </a:solidFill>
                    <a:latin typeface="Calibri"/>
                  </a:rPr>
                  <a:t>₹ crore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689"/>
                </a:solidFill>
                <a:latin typeface="Calibri"/>
              </a:defRPr>
            </a:pPr>
            <a:endParaRPr lang="en-US"/>
          </a:p>
        </c:txPr>
        <c:crossAx val="2094734554"/>
        <c:crosses val="autoZero"/>
        <c:crossBetween val="between"/>
      </c:valAx>
      <c:spPr>
        <a:solidFill>
          <a:srgbClr val="FFFFFF"/>
        </a:solidFill>
        <a:ln w="12700" cap="flat">
          <a:solidFill>
            <a:srgbClr val="363636"/>
          </a:solidFill>
        </a:ln>
        <a:effectLst/>
      </c:spPr>
    </c:plotArea>
    <c:legend>
      <c:legendPos val="t"/>
      <c:overlay val="0"/>
      <c:txPr>
        <a:bodyPr/>
        <a:lstStyle/>
        <a:p>
          <a:pPr>
            <a:defRPr sz="1000">
              <a:solidFill>
                <a:srgbClr val="3B46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26"/>
        </a:solidFill>
      </p:bgPr>
    </p:bg>
    <p:spTree>
      <p:nvGrpSpPr>
        <p:cNvPr id="1" name=""/>
        <p:cNvGrpSpPr/>
        <p:nvPr/>
      </p:nvGrpSpPr>
      <p:grpSpPr>
        <a:xfrm>
          <a:off x="0" y="0"/>
          <a:ext cx="0" cy="0"/>
          <a:chOff x="0" y="0"/>
          <a:chExt cx="0" cy="0"/>
        </a:xfrm>
      </p:grpSpPr>
      <p:sp>
        <p:nvSpPr>
          <p:cNvPr id="2" name="Text 0"/>
          <p:cNvSpPr/>
          <p:nvPr/>
        </p:nvSpPr>
        <p:spPr>
          <a:xfrm>
            <a:off x="566928" y="566928"/>
            <a:ext cx="7498080" cy="274320"/>
          </a:xfrm>
          <a:prstGeom prst="rect">
            <a:avLst/>
          </a:prstGeom>
          <a:noFill/>
          <a:ln/>
        </p:spPr>
        <p:txBody>
          <a:bodyPr wrap="square" lIns="0" tIns="0" rIns="0" bIns="0" rtlCol="0" anchor="ctr"/>
          <a:lstStyle/>
          <a:p>
            <a:pPr indent="0" marL="0">
              <a:buNone/>
            </a:pPr>
            <a:r>
              <a:rPr lang="en-US" sz="1200" b="1" spc="240" kern="0" dirty="0">
                <a:solidFill>
                  <a:srgbClr val="C8553D"/>
                </a:solidFill>
                <a:latin typeface="Calibri" pitchFamily="34" charset="0"/>
                <a:ea typeface="Calibri" pitchFamily="34" charset="-122"/>
                <a:cs typeface="Calibri" pitchFamily="34" charset="-120"/>
              </a:rPr>
              <a:t>PROJECT FINANCE · 02 OF 04</a:t>
            </a:r>
            <a:endParaRPr lang="en-US" sz="1200" dirty="0"/>
          </a:p>
        </p:txBody>
      </p:sp>
      <p:sp>
        <p:nvSpPr>
          <p:cNvPr id="3" name="Text 1"/>
          <p:cNvSpPr/>
          <p:nvPr/>
        </p:nvSpPr>
        <p:spPr>
          <a:xfrm>
            <a:off x="566928" y="960120"/>
            <a:ext cx="8595360" cy="1691640"/>
          </a:xfrm>
          <a:prstGeom prst="rect">
            <a:avLst/>
          </a:prstGeom>
          <a:noFill/>
          <a:ln/>
        </p:spPr>
        <p:txBody>
          <a:bodyPr wrap="square" lIns="0" tIns="0" rIns="0" bIns="0" rtlCol="0" anchor="t"/>
          <a:lstStyle/>
          <a:p>
            <a:pPr indent="0" marL="0">
              <a:lnSpc>
                <a:spcPts val="5200"/>
              </a:lnSpc>
              <a:buNone/>
            </a:pPr>
            <a:r>
              <a:rPr lang="en-US" sz="5000" b="1" dirty="0">
                <a:solidFill>
                  <a:srgbClr val="FFFFFF"/>
                </a:solidFill>
                <a:latin typeface="Calibri" pitchFamily="34" charset="0"/>
                <a:ea typeface="Calibri" pitchFamily="34" charset="-122"/>
                <a:cs typeface="Calibri" pitchFamily="34" charset="-120"/>
              </a:rPr>
              <a:t>Ramayan</a:t>
            </a:r>
            <a:endParaRPr lang="en-US" sz="5000" dirty="0"/>
          </a:p>
          <a:p>
            <a:pPr indent="0" marL="0">
              <a:lnSpc>
                <a:spcPts val="5200"/>
              </a:lnSpc>
              <a:buNone/>
            </a:pPr>
            <a:r>
              <a:rPr lang="en-US" sz="5000" b="1" dirty="0">
                <a:solidFill>
                  <a:srgbClr val="FFFFFF"/>
                </a:solidFill>
                <a:latin typeface="Calibri" pitchFamily="34" charset="0"/>
                <a:ea typeface="Calibri" pitchFamily="34" charset="-122"/>
                <a:cs typeface="Calibri" pitchFamily="34" charset="-120"/>
              </a:rPr>
              <a:t>Vatika</a:t>
            </a:r>
            <a:endParaRPr lang="en-US" sz="5000" dirty="0"/>
          </a:p>
        </p:txBody>
      </p:sp>
      <p:sp>
        <p:nvSpPr>
          <p:cNvPr id="4" name="Text 2"/>
          <p:cNvSpPr/>
          <p:nvPr/>
        </p:nvSpPr>
        <p:spPr>
          <a:xfrm>
            <a:off x="566928" y="2706624"/>
            <a:ext cx="10241280" cy="911352"/>
          </a:xfrm>
          <a:prstGeom prst="rect">
            <a:avLst/>
          </a:prstGeom>
          <a:noFill/>
          <a:ln/>
        </p:spPr>
        <p:txBody>
          <a:bodyPr wrap="square" lIns="0" tIns="0" rIns="0" bIns="0" rtlCol="0" anchor="t"/>
          <a:lstStyle/>
          <a:p>
            <a:pPr indent="0" marL="0">
              <a:lnSpc>
                <a:spcPts val="2300"/>
              </a:lnSpc>
              <a:buNone/>
            </a:pPr>
            <a:r>
              <a:rPr lang="en-US" sz="1500" i="1" dirty="0">
                <a:solidFill>
                  <a:srgbClr val="C9D0DE"/>
                </a:solidFill>
                <a:latin typeface="Calibri" pitchFamily="34" charset="0"/>
                <a:ea typeface="Calibri" pitchFamily="34" charset="-122"/>
                <a:cs typeface="Calibri" pitchFamily="34" charset="-120"/>
              </a:rPr>
              <a:t>Fifteen years of operating rights over a 51-foot bronze Ram, a holographic show projected onto it, and 16,000 Miyawaki trees in Bareilly. The longest contract in the portfolio, the tightest margin, and the only one where the RFP forbids pledging anything.</a:t>
            </a:r>
            <a:endParaRPr lang="en-US" sz="1500" dirty="0"/>
          </a:p>
        </p:txBody>
      </p:sp>
      <p:sp>
        <p:nvSpPr>
          <p:cNvPr id="5" name="Text 3"/>
          <p:cNvSpPr/>
          <p:nvPr/>
        </p:nvSpPr>
        <p:spPr>
          <a:xfrm>
            <a:off x="566928" y="3764280"/>
            <a:ext cx="10241280" cy="694944"/>
          </a:xfrm>
          <a:prstGeom prst="rect">
            <a:avLst/>
          </a:prstGeom>
          <a:noFill/>
          <a:ln/>
        </p:spPr>
        <p:txBody>
          <a:bodyPr wrap="square" lIns="0" tIns="0" rIns="0" bIns="0" rtlCol="0" anchor="t"/>
          <a:lstStyle/>
          <a:p>
            <a:pPr indent="0" marL="0">
              <a:lnSpc>
                <a:spcPts val="1800"/>
              </a:lnSpc>
              <a:buNone/>
            </a:pPr>
            <a:r>
              <a:rPr lang="en-US" sz="1150" dirty="0">
                <a:solidFill>
                  <a:srgbClr val="8A93A6"/>
                </a:solidFill>
                <a:latin typeface="Calibri" pitchFamily="34" charset="0"/>
                <a:ea typeface="Calibri" pitchFamily="34" charset="-122"/>
                <a:cs typeface="Calibri" pitchFamily="34" charset="-120"/>
              </a:rPr>
              <a:t>Bareilly Development Authority · 10 + 5 years · 5-year lock-in</a:t>
            </a:r>
            <a:endParaRPr lang="en-US" sz="1150" dirty="0"/>
          </a:p>
          <a:p>
            <a:pPr indent="0" marL="0">
              <a:lnSpc>
                <a:spcPts val="1800"/>
              </a:lnSpc>
              <a:buNone/>
            </a:pPr>
            <a:r>
              <a:rPr lang="en-US" sz="1150" dirty="0">
                <a:solidFill>
                  <a:srgbClr val="8A93A6"/>
                </a:solidFill>
                <a:latin typeface="Calibri" pitchFamily="34" charset="0"/>
                <a:ea typeface="Calibri" pitchFamily="34" charset="-122"/>
                <a:cs typeface="Calibri" pitchFamily="34" charset="-120"/>
              </a:rPr>
              <a:t>Reserve licence fee ₹30 lakh a year · sealed H1 bid · performance security ₹30 lakh</a:t>
            </a:r>
            <a:endParaRPr lang="en-US" sz="1150" dirty="0"/>
          </a:p>
        </p:txBody>
      </p:sp>
      <p:sp>
        <p:nvSpPr>
          <p:cNvPr id="6" name="Shape 4"/>
          <p:cNvSpPr/>
          <p:nvPr/>
        </p:nvSpPr>
        <p:spPr>
          <a:xfrm>
            <a:off x="566928" y="4681728"/>
            <a:ext cx="11057839" cy="10973"/>
          </a:xfrm>
          <a:prstGeom prst="rect">
            <a:avLst/>
          </a:prstGeom>
          <a:solidFill>
            <a:srgbClr val="2A3247"/>
          </a:solidFill>
          <a:ln/>
        </p:spPr>
      </p:sp>
      <p:sp>
        <p:nvSpPr>
          <p:cNvPr id="7" name="Text 5"/>
          <p:cNvSpPr/>
          <p:nvPr/>
        </p:nvSpPr>
        <p:spPr>
          <a:xfrm>
            <a:off x="566928"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FACILITY AS BRIEFED</a:t>
            </a:r>
            <a:endParaRPr lang="en-US" sz="950" dirty="0"/>
          </a:p>
        </p:txBody>
      </p:sp>
      <p:sp>
        <p:nvSpPr>
          <p:cNvPr id="8" name="Text 6"/>
          <p:cNvSpPr/>
          <p:nvPr/>
        </p:nvSpPr>
        <p:spPr>
          <a:xfrm>
            <a:off x="566928"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₹4.17 Cr</a:t>
            </a:r>
            <a:endParaRPr lang="en-US" sz="2900" dirty="0"/>
          </a:p>
        </p:txBody>
      </p:sp>
      <p:sp>
        <p:nvSpPr>
          <p:cNvPr id="9" name="Text 7"/>
          <p:cNvSpPr/>
          <p:nvPr/>
        </p:nvSpPr>
        <p:spPr>
          <a:xfrm>
            <a:off x="566928"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Two years of operating cost</a:t>
            </a:r>
            <a:endParaRPr lang="en-US" sz="1000" dirty="0"/>
          </a:p>
        </p:txBody>
      </p:sp>
      <p:sp>
        <p:nvSpPr>
          <p:cNvPr id="10" name="Text 8"/>
          <p:cNvSpPr/>
          <p:nvPr/>
        </p:nvSpPr>
        <p:spPr>
          <a:xfrm>
            <a:off x="3395396"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DEBT THE PROJECT CARRIES</a:t>
            </a:r>
            <a:endParaRPr lang="en-US" sz="950" dirty="0"/>
          </a:p>
        </p:txBody>
      </p:sp>
      <p:sp>
        <p:nvSpPr>
          <p:cNvPr id="11" name="Text 9"/>
          <p:cNvSpPr/>
          <p:nvPr/>
        </p:nvSpPr>
        <p:spPr>
          <a:xfrm>
            <a:off x="3395396"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₹3.40 Cr</a:t>
            </a:r>
            <a:endParaRPr lang="en-US" sz="2900" dirty="0"/>
          </a:p>
        </p:txBody>
      </p:sp>
      <p:sp>
        <p:nvSpPr>
          <p:cNvPr id="12" name="Text 10"/>
          <p:cNvSpPr/>
          <p:nvPr/>
        </p:nvSpPr>
        <p:spPr>
          <a:xfrm>
            <a:off x="3395396"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At a 1.3× DSCR floor</a:t>
            </a:r>
            <a:endParaRPr lang="en-US" sz="1000" dirty="0"/>
          </a:p>
        </p:txBody>
      </p:sp>
      <p:sp>
        <p:nvSpPr>
          <p:cNvPr id="13" name="Text 11"/>
          <p:cNvSpPr/>
          <p:nvPr/>
        </p:nvSpPr>
        <p:spPr>
          <a:xfrm>
            <a:off x="6223864"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PROJECT IRR</a:t>
            </a:r>
            <a:endParaRPr lang="en-US" sz="950" dirty="0"/>
          </a:p>
        </p:txBody>
      </p:sp>
      <p:sp>
        <p:nvSpPr>
          <p:cNvPr id="14" name="Text 12"/>
          <p:cNvSpPr/>
          <p:nvPr/>
        </p:nvSpPr>
        <p:spPr>
          <a:xfrm>
            <a:off x="6223864"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11.4%</a:t>
            </a:r>
            <a:endParaRPr lang="en-US" sz="2900" dirty="0"/>
          </a:p>
        </p:txBody>
      </p:sp>
      <p:sp>
        <p:nvSpPr>
          <p:cNvPr id="15" name="Text 13"/>
          <p:cNvSpPr/>
          <p:nvPr/>
        </p:nvSpPr>
        <p:spPr>
          <a:xfrm>
            <a:off x="6223864"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Against 12.50% guaranteed debt</a:t>
            </a:r>
            <a:endParaRPr lang="en-US" sz="1000" dirty="0"/>
          </a:p>
        </p:txBody>
      </p:sp>
      <p:sp>
        <p:nvSpPr>
          <p:cNvPr id="16" name="Text 14"/>
          <p:cNvSpPr/>
          <p:nvPr/>
        </p:nvSpPr>
        <p:spPr>
          <a:xfrm>
            <a:off x="9052331" y="4901184"/>
            <a:ext cx="2572436" cy="237744"/>
          </a:xfrm>
          <a:prstGeom prst="rect">
            <a:avLst/>
          </a:prstGeom>
          <a:noFill/>
          <a:ln/>
        </p:spPr>
        <p:txBody>
          <a:bodyPr wrap="square" lIns="0" tIns="0" rIns="0" bIns="0" rtlCol="0" anchor="ctr"/>
          <a:lstStyle/>
          <a:p>
            <a:pPr indent="0" marL="0">
              <a:buNone/>
            </a:pPr>
            <a:r>
              <a:rPr lang="en-US" sz="950" b="1" spc="140" kern="0" dirty="0">
                <a:solidFill>
                  <a:srgbClr val="8A93A6"/>
                </a:solidFill>
                <a:latin typeface="Calibri" pitchFamily="34" charset="0"/>
                <a:ea typeface="Calibri" pitchFamily="34" charset="-122"/>
                <a:cs typeface="Calibri" pitchFamily="34" charset="-120"/>
              </a:rPr>
              <a:t>RESERVE LICENCE FEE</a:t>
            </a:r>
            <a:endParaRPr lang="en-US" sz="950" dirty="0"/>
          </a:p>
        </p:txBody>
      </p:sp>
      <p:sp>
        <p:nvSpPr>
          <p:cNvPr id="17" name="Text 15"/>
          <p:cNvSpPr/>
          <p:nvPr/>
        </p:nvSpPr>
        <p:spPr>
          <a:xfrm>
            <a:off x="9052331" y="5148072"/>
            <a:ext cx="2572436" cy="512064"/>
          </a:xfrm>
          <a:prstGeom prst="rect">
            <a:avLst/>
          </a:prstGeom>
          <a:noFill/>
          <a:ln/>
        </p:spPr>
        <p:txBody>
          <a:bodyPr wrap="square" lIns="0" tIns="0" rIns="0" bIns="0" rtlCol="0" anchor="t"/>
          <a:lstStyle/>
          <a:p>
            <a:pPr indent="0" marL="0">
              <a:buNone/>
            </a:pPr>
            <a:r>
              <a:rPr lang="en-US" sz="2900" b="1" dirty="0">
                <a:solidFill>
                  <a:srgbClr val="FFFFFF"/>
                </a:solidFill>
                <a:latin typeface="Calibri" pitchFamily="34" charset="0"/>
                <a:ea typeface="Calibri" pitchFamily="34" charset="-122"/>
                <a:cs typeface="Calibri" pitchFamily="34" charset="-120"/>
              </a:rPr>
              <a:t>₹30 L</a:t>
            </a:r>
            <a:endParaRPr lang="en-US" sz="2900" dirty="0"/>
          </a:p>
        </p:txBody>
      </p:sp>
      <p:sp>
        <p:nvSpPr>
          <p:cNvPr id="18" name="Text 16"/>
          <p:cNvSpPr/>
          <p:nvPr/>
        </p:nvSpPr>
        <p:spPr>
          <a:xfrm>
            <a:off x="9052331" y="5669280"/>
            <a:ext cx="2572436" cy="566928"/>
          </a:xfrm>
          <a:prstGeom prst="rect">
            <a:avLst/>
          </a:prstGeom>
          <a:noFill/>
          <a:ln/>
        </p:spPr>
        <p:txBody>
          <a:bodyPr wrap="square" lIns="0" tIns="0" rIns="0" bIns="0" rtlCol="0" anchor="t"/>
          <a:lstStyle/>
          <a:p>
            <a:pPr indent="0" marL="0">
              <a:lnSpc>
                <a:spcPts val="1350"/>
              </a:lnSpc>
              <a:buNone/>
            </a:pPr>
            <a:r>
              <a:rPr lang="en-US" sz="1000" dirty="0">
                <a:solidFill>
                  <a:srgbClr val="A8B2C4"/>
                </a:solidFill>
                <a:latin typeface="Calibri" pitchFamily="34" charset="0"/>
                <a:ea typeface="Calibri" pitchFamily="34" charset="-122"/>
                <a:cs typeface="Calibri" pitchFamily="34" charset="-120"/>
              </a:rPr>
              <a:t>BDA's floor in a sealed highest-bid process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1057839" cy="2651760"/>
          </a:xfrm>
          <a:prstGeom prst="roundRect">
            <a:avLst>
              <a:gd name="adj" fmla="val 1724"/>
            </a:avLst>
          </a:prstGeom>
          <a:solidFill>
            <a:srgbClr val="FBEFEC"/>
          </a:solidFill>
          <a:ln w="15875">
            <a:solidFill>
              <a:srgbClr val="C8553D"/>
            </a:solidFill>
            <a:prstDash val="solid"/>
          </a:ln>
        </p:spPr>
      </p:sp>
      <p:sp>
        <p:nvSpPr>
          <p:cNvPr id="3" name="Text 1"/>
          <p:cNvSpPr/>
          <p:nvPr/>
        </p:nvSpPr>
        <p:spPr>
          <a:xfrm>
            <a:off x="804672" y="566928"/>
            <a:ext cx="2743200" cy="182880"/>
          </a:xfrm>
          <a:prstGeom prst="rect">
            <a:avLst/>
          </a:prstGeom>
          <a:noFill/>
          <a:ln/>
        </p:spPr>
        <p:txBody>
          <a:bodyPr wrap="square" lIns="0" tIns="0" rIns="0" bIns="0" rtlCol="0" anchor="ctr"/>
          <a:lstStyle/>
          <a:p>
            <a:pPr indent="0" marL="0">
              <a:buNone/>
            </a:pPr>
            <a:r>
              <a:rPr lang="en-US" sz="850" b="1" spc="160" kern="0" dirty="0">
                <a:solidFill>
                  <a:srgbClr val="C8553D"/>
                </a:solidFill>
                <a:latin typeface="Calibri" pitchFamily="34" charset="0"/>
                <a:ea typeface="Calibri" pitchFamily="34" charset="-122"/>
                <a:cs typeface="Calibri" pitchFamily="34" charset="-120"/>
              </a:rPr>
              <a:t>VERDICT</a:t>
            </a:r>
            <a:endParaRPr lang="en-US" sz="850" dirty="0"/>
          </a:p>
        </p:txBody>
      </p:sp>
      <p:sp>
        <p:nvSpPr>
          <p:cNvPr id="4" name="Text 2"/>
          <p:cNvSpPr/>
          <p:nvPr/>
        </p:nvSpPr>
        <p:spPr>
          <a:xfrm>
            <a:off x="804672" y="749808"/>
            <a:ext cx="10582351" cy="288595"/>
          </a:xfrm>
          <a:prstGeom prst="rect">
            <a:avLst/>
          </a:prstGeom>
          <a:noFill/>
          <a:ln/>
        </p:spPr>
        <p:txBody>
          <a:bodyPr wrap="square" lIns="0" tIns="0" rIns="0" bIns="0" rtlCol="0" anchor="t"/>
          <a:lstStyle/>
          <a:p>
            <a:pPr indent="0" marL="0">
              <a:lnSpc>
                <a:spcPts val="2185"/>
              </a:lnSpc>
              <a:buNone/>
            </a:pPr>
            <a:r>
              <a:rPr lang="en-US" sz="1900" b="1" dirty="0">
                <a:solidFill>
                  <a:srgbClr val="0A1426"/>
                </a:solidFill>
                <a:latin typeface="Calibri" pitchFamily="34" charset="0"/>
                <a:ea typeface="Calibri" pitchFamily="34" charset="-122"/>
                <a:cs typeface="Calibri" pitchFamily="34" charset="-120"/>
              </a:rPr>
              <a:t>Read this before the rest of the deck</a:t>
            </a:r>
            <a:endParaRPr lang="en-US" sz="1900" dirty="0"/>
          </a:p>
        </p:txBody>
      </p:sp>
      <p:sp>
        <p:nvSpPr>
          <p:cNvPr id="5" name="Text 3"/>
          <p:cNvSpPr/>
          <p:nvPr/>
        </p:nvSpPr>
        <p:spPr>
          <a:xfrm>
            <a:off x="804672" y="1093267"/>
            <a:ext cx="10582351" cy="1942541"/>
          </a:xfrm>
          <a:prstGeom prst="rect">
            <a:avLst/>
          </a:prstGeom>
          <a:noFill/>
          <a:ln/>
        </p:spPr>
        <p:txBody>
          <a:bodyPr wrap="square" lIns="0" tIns="0" rIns="0" bIns="0" rtlCol="0" anchor="t"/>
          <a:lstStyle/>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This deck does not conclude that Ramayan Vatika should be funded on the terms briefed. On the base assumptions the project returns 11.4% against a 12.50% cost of guaranteed debt, and services ₹3.40 Cr of facility against the ₹4.17 Cr asked for.</a:t>
            </a:r>
            <a:endParaRPr lang="en-US" sz="1200" dirty="0"/>
          </a:p>
          <a:p>
            <a:pPr indent="0" marL="0">
              <a:lnSpc>
                <a:spcPts val="1704"/>
              </a:lnSpc>
              <a:buNone/>
            </a:pPr>
            <a:endParaRPr lang="en-US" sz="1200" dirty="0"/>
          </a:p>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The three financing structures are set out in full because they were asked for, and because the project does work on BDA's own revenue assumptions. But the bid discipline is the part that matters: at BDA's ₹30 L reserve the project already returns less than its own cost of debt, and the fee escalates for the full term — so every rupee of premium in a sealed highest-bid process compounds against it.</a:t>
            </a:r>
            <a:endParaRPr lang="en-US" sz="1200" dirty="0"/>
          </a:p>
        </p:txBody>
      </p:sp>
      <p:sp>
        <p:nvSpPr>
          <p:cNvPr id="6" name="Shape 4"/>
          <p:cNvSpPr/>
          <p:nvPr/>
        </p:nvSpPr>
        <p:spPr>
          <a:xfrm>
            <a:off x="566928" y="3383280"/>
            <a:ext cx="3539642" cy="1298448"/>
          </a:xfrm>
          <a:prstGeom prst="roundRect">
            <a:avLst>
              <a:gd name="adj" fmla="val 4225"/>
            </a:avLst>
          </a:prstGeom>
          <a:solidFill>
            <a:srgbClr val="FBF1EE"/>
          </a:solidFill>
          <a:ln w="12700">
            <a:solidFill>
              <a:srgbClr val="C8553D"/>
            </a:solidFill>
            <a:prstDash val="solid"/>
          </a:ln>
        </p:spPr>
      </p:sp>
      <p:sp>
        <p:nvSpPr>
          <p:cNvPr id="7" name="Text 5"/>
          <p:cNvSpPr/>
          <p:nvPr/>
        </p:nvSpPr>
        <p:spPr>
          <a:xfrm>
            <a:off x="749808" y="3502152"/>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BASE CASE PROJECT IRR</a:t>
            </a:r>
            <a:endParaRPr lang="en-US" sz="850" dirty="0"/>
          </a:p>
        </p:txBody>
      </p:sp>
      <p:sp>
        <p:nvSpPr>
          <p:cNvPr id="8" name="Text 6"/>
          <p:cNvSpPr/>
          <p:nvPr/>
        </p:nvSpPr>
        <p:spPr>
          <a:xfrm>
            <a:off x="749808" y="3749040"/>
            <a:ext cx="3173882" cy="457200"/>
          </a:xfrm>
          <a:prstGeom prst="rect">
            <a:avLst/>
          </a:prstGeom>
          <a:noFill/>
          <a:ln/>
        </p:spPr>
        <p:txBody>
          <a:bodyPr wrap="square" lIns="0" tIns="0" rIns="0" bIns="0" rtlCol="0" anchor="t">
            <a:normAutofit/>
          </a:bodyPr>
          <a:lstStyle/>
          <a:p>
            <a:pPr indent="0" marL="0">
              <a:buNone/>
            </a:pPr>
            <a:r>
              <a:rPr lang="en-US" sz="2600" b="1" dirty="0">
                <a:solidFill>
                  <a:srgbClr val="C8553D"/>
                </a:solidFill>
                <a:latin typeface="Calibri" pitchFamily="34" charset="0"/>
                <a:ea typeface="Calibri" pitchFamily="34" charset="-122"/>
                <a:cs typeface="Calibri" pitchFamily="34" charset="-120"/>
              </a:rPr>
              <a:t>11.4%</a:t>
            </a:r>
            <a:endParaRPr lang="en-US" sz="2600" dirty="0"/>
          </a:p>
        </p:txBody>
      </p:sp>
      <p:sp>
        <p:nvSpPr>
          <p:cNvPr id="9" name="Text 7"/>
          <p:cNvSpPr/>
          <p:nvPr/>
        </p:nvSpPr>
        <p:spPr>
          <a:xfrm>
            <a:off x="749808" y="4224528"/>
            <a:ext cx="3173882" cy="384048"/>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Below the cost of its own debt</a:t>
            </a:r>
            <a:endParaRPr lang="en-US" sz="950" dirty="0"/>
          </a:p>
        </p:txBody>
      </p:sp>
      <p:sp>
        <p:nvSpPr>
          <p:cNvPr id="10" name="Shape 8"/>
          <p:cNvSpPr/>
          <p:nvPr/>
        </p:nvSpPr>
        <p:spPr>
          <a:xfrm>
            <a:off x="4326026" y="3383280"/>
            <a:ext cx="3539642" cy="1298448"/>
          </a:xfrm>
          <a:prstGeom prst="roundRect">
            <a:avLst>
              <a:gd name="adj" fmla="val 4225"/>
            </a:avLst>
          </a:prstGeom>
          <a:solidFill>
            <a:srgbClr val="EDFAF4"/>
          </a:solidFill>
          <a:ln w="12700">
            <a:solidFill>
              <a:srgbClr val="10B981"/>
            </a:solidFill>
            <a:prstDash val="solid"/>
          </a:ln>
        </p:spPr>
      </p:sp>
      <p:sp>
        <p:nvSpPr>
          <p:cNvPr id="11" name="Text 9"/>
          <p:cNvSpPr/>
          <p:nvPr/>
        </p:nvSpPr>
        <p:spPr>
          <a:xfrm>
            <a:off x="4508906" y="3502152"/>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ON BDA'S OWN ASSUMPTION</a:t>
            </a:r>
            <a:endParaRPr lang="en-US" sz="850" dirty="0"/>
          </a:p>
        </p:txBody>
      </p:sp>
      <p:sp>
        <p:nvSpPr>
          <p:cNvPr id="12" name="Text 10"/>
          <p:cNvSpPr/>
          <p:nvPr/>
        </p:nvSpPr>
        <p:spPr>
          <a:xfrm>
            <a:off x="4508906" y="3749040"/>
            <a:ext cx="3173882" cy="457200"/>
          </a:xfrm>
          <a:prstGeom prst="rect">
            <a:avLst/>
          </a:prstGeom>
          <a:noFill/>
          <a:ln/>
        </p:spPr>
        <p:txBody>
          <a:bodyPr wrap="square" lIns="0" tIns="0" rIns="0" bIns="0" rtlCol="0" anchor="t">
            <a:normAutofit/>
          </a:bodyPr>
          <a:lstStyle/>
          <a:p>
            <a:pPr indent="0" marL="0">
              <a:buNone/>
            </a:pPr>
            <a:r>
              <a:rPr lang="en-US" sz="2600" b="1" dirty="0">
                <a:solidFill>
                  <a:srgbClr val="10B981"/>
                </a:solidFill>
                <a:latin typeface="Calibri" pitchFamily="34" charset="0"/>
                <a:ea typeface="Calibri" pitchFamily="34" charset="-122"/>
                <a:cs typeface="Calibri" pitchFamily="34" charset="-120"/>
              </a:rPr>
              <a:t>36.1%</a:t>
            </a:r>
            <a:endParaRPr lang="en-US" sz="2600" dirty="0"/>
          </a:p>
        </p:txBody>
      </p:sp>
      <p:sp>
        <p:nvSpPr>
          <p:cNvPr id="13" name="Text 11"/>
          <p:cNvSpPr/>
          <p:nvPr/>
        </p:nvSpPr>
        <p:spPr>
          <a:xfrm>
            <a:off x="4508906" y="4224528"/>
            <a:ext cx="3173882" cy="384048"/>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500 visitors a day, 60% buying the show</a:t>
            </a:r>
            <a:endParaRPr lang="en-US" sz="950" dirty="0"/>
          </a:p>
        </p:txBody>
      </p:sp>
      <p:sp>
        <p:nvSpPr>
          <p:cNvPr id="14" name="Shape 12"/>
          <p:cNvSpPr/>
          <p:nvPr/>
        </p:nvSpPr>
        <p:spPr>
          <a:xfrm>
            <a:off x="8085125" y="3383280"/>
            <a:ext cx="3539642" cy="1298448"/>
          </a:xfrm>
          <a:prstGeom prst="roundRect">
            <a:avLst>
              <a:gd name="adj" fmla="val 4225"/>
            </a:avLst>
          </a:prstGeom>
          <a:solidFill>
            <a:srgbClr val="F5F6F8"/>
          </a:solidFill>
          <a:ln w="12700">
            <a:solidFill>
              <a:srgbClr val="E2E4EA"/>
            </a:solidFill>
            <a:prstDash val="solid"/>
          </a:ln>
        </p:spPr>
      </p:sp>
      <p:sp>
        <p:nvSpPr>
          <p:cNvPr id="15" name="Text 13"/>
          <p:cNvSpPr/>
          <p:nvPr/>
        </p:nvSpPr>
        <p:spPr>
          <a:xfrm>
            <a:off x="8268005" y="3502152"/>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THE WHOLE DIFFERENCE</a:t>
            </a:r>
            <a:endParaRPr lang="en-US" sz="850" dirty="0"/>
          </a:p>
        </p:txBody>
      </p:sp>
      <p:sp>
        <p:nvSpPr>
          <p:cNvPr id="16" name="Text 14"/>
          <p:cNvSpPr/>
          <p:nvPr/>
        </p:nvSpPr>
        <p:spPr>
          <a:xfrm>
            <a:off x="8268005" y="3749040"/>
            <a:ext cx="3173882" cy="457200"/>
          </a:xfrm>
          <a:prstGeom prst="rect">
            <a:avLst/>
          </a:prstGeom>
          <a:noFill/>
          <a:ln/>
        </p:spPr>
        <p:txBody>
          <a:bodyPr wrap="square" lIns="0" tIns="0" rIns="0" bIns="0" rtlCol="0" anchor="t">
            <a:normAutofit/>
          </a:bodyPr>
          <a:lstStyle/>
          <a:p>
            <a:pPr indent="0" marL="0">
              <a:buNone/>
            </a:pPr>
            <a:r>
              <a:rPr lang="en-US" sz="2000" b="1" dirty="0">
                <a:solidFill>
                  <a:srgbClr val="0A1426"/>
                </a:solidFill>
                <a:latin typeface="Calibri" pitchFamily="34" charset="0"/>
                <a:ea typeface="Calibri" pitchFamily="34" charset="-122"/>
                <a:cs typeface="Calibri" pitchFamily="34" charset="-120"/>
              </a:rPr>
              <a:t>Show conversion</a:t>
            </a:r>
            <a:endParaRPr lang="en-US" sz="2000" dirty="0"/>
          </a:p>
        </p:txBody>
      </p:sp>
      <p:sp>
        <p:nvSpPr>
          <p:cNvPr id="17" name="Text 15"/>
          <p:cNvSpPr/>
          <p:nvPr/>
        </p:nvSpPr>
        <p:spPr>
          <a:xfrm>
            <a:off x="8268005" y="4224528"/>
            <a:ext cx="3173882" cy="384048"/>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42% → 52% modelled here against BDA's 60%. There is no operating history to calibrate against.</a:t>
            </a:r>
            <a:endParaRPr lang="en-US" sz="950" dirty="0"/>
          </a:p>
        </p:txBody>
      </p:sp>
      <p:sp>
        <p:nvSpPr>
          <p:cNvPr id="18" name="Shape 16"/>
          <p:cNvSpPr/>
          <p:nvPr/>
        </p:nvSpPr>
        <p:spPr>
          <a:xfrm>
            <a:off x="566928" y="4956048"/>
            <a:ext cx="11057839" cy="1234664"/>
          </a:xfrm>
          <a:prstGeom prst="roundRect">
            <a:avLst>
              <a:gd name="adj" fmla="val 3703"/>
            </a:avLst>
          </a:prstGeom>
          <a:solidFill>
            <a:srgbClr val="F1F5FE"/>
          </a:solidFill>
          <a:ln w="15875">
            <a:solidFill>
              <a:srgbClr val="2B66EA"/>
            </a:solidFill>
            <a:prstDash val="solid"/>
          </a:ln>
        </p:spPr>
      </p:sp>
      <p:sp>
        <p:nvSpPr>
          <p:cNvPr id="19" name="Text 17"/>
          <p:cNvSpPr/>
          <p:nvPr/>
        </p:nvSpPr>
        <p:spPr>
          <a:xfrm>
            <a:off x="804672" y="5065776"/>
            <a:ext cx="2743200" cy="182880"/>
          </a:xfrm>
          <a:prstGeom prst="rect">
            <a:avLst/>
          </a:prstGeom>
          <a:noFill/>
          <a:ln/>
        </p:spPr>
        <p:txBody>
          <a:bodyPr wrap="square" lIns="0" tIns="0" rIns="0" bIns="0" rtlCol="0" anchor="ctr"/>
          <a:lstStyle/>
          <a:p>
            <a:pPr indent="0" marL="0">
              <a:buNone/>
            </a:pPr>
            <a:r>
              <a:rPr lang="en-US" sz="850" b="1" spc="160" kern="0" dirty="0">
                <a:solidFill>
                  <a:srgbClr val="2A51A3"/>
                </a:solidFill>
                <a:latin typeface="Calibri" pitchFamily="34" charset="0"/>
                <a:ea typeface="Calibri" pitchFamily="34" charset="-122"/>
                <a:cs typeface="Calibri" pitchFamily="34" charset="-120"/>
              </a:rPr>
              <a:t>NOTE</a:t>
            </a:r>
            <a:endParaRPr lang="en-US" sz="850" dirty="0"/>
          </a:p>
        </p:txBody>
      </p:sp>
      <p:sp>
        <p:nvSpPr>
          <p:cNvPr id="20" name="Text 18"/>
          <p:cNvSpPr/>
          <p:nvPr/>
        </p:nvSpPr>
        <p:spPr>
          <a:xfrm>
            <a:off x="804672" y="5248656"/>
            <a:ext cx="10582351" cy="273406"/>
          </a:xfrm>
          <a:prstGeom prst="rect">
            <a:avLst/>
          </a:prstGeom>
          <a:noFill/>
          <a:ln/>
        </p:spPr>
        <p:txBody>
          <a:bodyPr wrap="square" lIns="0" tIns="0" rIns="0" bIns="0" rtlCol="0" anchor="t"/>
          <a:lstStyle/>
          <a:p>
            <a:pPr indent="0" marL="0">
              <a:lnSpc>
                <a:spcPts val="2070"/>
              </a:lnSpc>
              <a:buNone/>
            </a:pPr>
            <a:r>
              <a:rPr lang="en-US" sz="1800" b="1" dirty="0">
                <a:solidFill>
                  <a:srgbClr val="0A1426"/>
                </a:solidFill>
                <a:latin typeface="Calibri" pitchFamily="34" charset="0"/>
                <a:ea typeface="Calibri" pitchFamily="34" charset="-122"/>
                <a:cs typeface="Calibri" pitchFamily="34" charset="-120"/>
              </a:rPr>
              <a:t>What would change the recommendation</a:t>
            </a:r>
            <a:endParaRPr lang="en-US" sz="1800" dirty="0"/>
          </a:p>
        </p:txBody>
      </p:sp>
      <p:sp>
        <p:nvSpPr>
          <p:cNvPr id="21" name="Text 19"/>
          <p:cNvSpPr/>
          <p:nvPr/>
        </p:nvSpPr>
        <p:spPr>
          <a:xfrm>
            <a:off x="804672" y="5576926"/>
            <a:ext cx="10582351" cy="540634"/>
          </a:xfrm>
          <a:prstGeom prst="rect">
            <a:avLst/>
          </a:prstGeom>
          <a:noFill/>
          <a:ln/>
        </p:spPr>
        <p:txBody>
          <a:bodyPr wrap="square" lIns="0" tIns="0" rIns="0" bIns="0" rtlCol="0" anchor="t"/>
          <a:lstStyle/>
          <a:p>
            <a:pPr indent="0" marL="0">
              <a:lnSpc>
                <a:spcPts val="1562"/>
              </a:lnSpc>
              <a:buNone/>
            </a:pPr>
            <a:r>
              <a:rPr lang="en-US" sz="1100" dirty="0">
                <a:solidFill>
                  <a:srgbClr val="3B4660"/>
                </a:solidFill>
                <a:latin typeface="Calibri" pitchFamily="34" charset="0"/>
                <a:ea typeface="Calibri" pitchFamily="34" charset="-122"/>
                <a:cs typeface="Calibri" pitchFamily="34" charset="-120"/>
              </a:rPr>
              <a:t>Three written answers from BDA move this from marginal to clearly fundable: the show's capacity, slot count and any soft-launch footfall; an agreed tariff with a contractual escalation path; and resolution of the five-versus-seven-year lock-in conflict. All three are free to ask.</a:t>
            </a:r>
            <a:endParaRPr lang="en-US" sz="1100" dirty="0"/>
          </a:p>
        </p:txBody>
      </p:sp>
      <p:sp>
        <p:nvSpPr>
          <p:cNvPr id="22" name="Text 20"/>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The project</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BDA has built a 33,000 square metre thematic park around the Ramayana. The centrepiece is a 51-foot bronze Lord Ram by Ram Sutar, with a 3D holographic laser and sound programme projected onto the statue.</a:t>
            </a:r>
            <a:endParaRPr lang="en-US" sz="12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541272"/>
          <a:ext cx="11057839" cy="914400"/>
        </p:xfrm>
        <a:graphic>
          <a:graphicData uri="http://schemas.openxmlformats.org/drawingml/2006/table">
            <a:tbl>
              <a:tblPr/>
              <a:tblGrid>
                <a:gridCol w="2743200"/>
                <a:gridCol w="8314639"/>
              </a:tblGrid>
              <a:tr h="329184">
                <a:tc>
                  <a:txBody>
                    <a:bodyPr/>
                    <a:lstStyle/>
                    <a:p>
                      <a:pPr algn="l" indent="0" marL="0">
                        <a:buNone/>
                      </a:pPr>
                      <a:r>
                        <a:rPr lang="en-US" sz="950" b="1" spc="100" kern="0" dirty="0">
                          <a:solidFill>
                            <a:srgbClr val="6E7689"/>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What the RFP says</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Authority</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Bareilly Development Authority (BDA)</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Contract period</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10 years + 5 years extendable · 33,000 sq m (~8.15 acres)</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Lock-in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5 years in the initial term; 2 years in the extended term  —  clause 9 says seven years where clause 14 says five. Unresolved.</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Selection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Technically qualified plus financially H1, sealed bid, with presentation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Reserve licence fee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₹30 L a year · ₹7.50 L quarterly in advance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Performance security</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₹30 L, interest-free, held until three months after completion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Statutory burden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EPF and ESI mandatory; agreement compulsorily registered, stamp duty on the operator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501388"/>
            <a:ext cx="11057839" cy="1791513"/>
          </a:xfrm>
          <a:prstGeom prst="roundRect">
            <a:avLst>
              <a:gd name="adj" fmla="val 2552"/>
            </a:avLst>
          </a:prstGeom>
          <a:solidFill>
            <a:srgbClr val="FBEFEC"/>
          </a:solidFill>
          <a:ln w="15875">
            <a:solidFill>
              <a:srgbClr val="C8553D"/>
            </a:solidFill>
            <a:prstDash val="solid"/>
          </a:ln>
        </p:spPr>
      </p:sp>
      <p:sp>
        <p:nvSpPr>
          <p:cNvPr id="8" name="Text 5"/>
          <p:cNvSpPr/>
          <p:nvPr/>
        </p:nvSpPr>
        <p:spPr>
          <a:xfrm>
            <a:off x="804672" y="4611116"/>
            <a:ext cx="2743200" cy="182880"/>
          </a:xfrm>
          <a:prstGeom prst="rect">
            <a:avLst/>
          </a:prstGeom>
          <a:noFill/>
          <a:ln/>
        </p:spPr>
        <p:txBody>
          <a:bodyPr wrap="square" lIns="0" tIns="0" rIns="0" bIns="0" rtlCol="0" anchor="ctr"/>
          <a:lstStyle/>
          <a:p>
            <a:pPr indent="0" marL="0">
              <a:buNone/>
            </a:pPr>
            <a:r>
              <a:rPr lang="en-US" sz="850" b="1" spc="160" kern="0" dirty="0">
                <a:solidFill>
                  <a:srgbClr val="C8553D"/>
                </a:solidFill>
                <a:latin typeface="Calibri" pitchFamily="34" charset="0"/>
                <a:ea typeface="Calibri" pitchFamily="34" charset="-122"/>
                <a:cs typeface="Calibri" pitchFamily="34" charset="-120"/>
              </a:rPr>
              <a:t>VERDICT</a:t>
            </a:r>
            <a:endParaRPr lang="en-US" sz="850" dirty="0"/>
          </a:p>
        </p:txBody>
      </p:sp>
      <p:sp>
        <p:nvSpPr>
          <p:cNvPr id="9" name="Text 6"/>
          <p:cNvSpPr/>
          <p:nvPr/>
        </p:nvSpPr>
        <p:spPr>
          <a:xfrm>
            <a:off x="804672" y="4793996"/>
            <a:ext cx="10582351" cy="258216"/>
          </a:xfrm>
          <a:prstGeom prst="rect">
            <a:avLst/>
          </a:prstGeom>
          <a:noFill/>
          <a:ln/>
        </p:spPr>
        <p:txBody>
          <a:bodyPr wrap="square" lIns="0" tIns="0" rIns="0" bIns="0" rtlCol="0" anchor="t"/>
          <a:lstStyle/>
          <a:p>
            <a:pPr indent="0" marL="0">
              <a:lnSpc>
                <a:spcPts val="1955"/>
              </a:lnSpc>
              <a:buNone/>
            </a:pPr>
            <a:r>
              <a:rPr lang="en-US" sz="1700" b="1" dirty="0">
                <a:solidFill>
                  <a:srgbClr val="0A1426"/>
                </a:solidFill>
                <a:latin typeface="Calibri" pitchFamily="34" charset="0"/>
                <a:ea typeface="Calibri" pitchFamily="34" charset="-122"/>
                <a:cs typeface="Calibri" pitchFamily="34" charset="-120"/>
              </a:rPr>
              <a:t>Two clauses that decide how this can be financed</a:t>
            </a:r>
            <a:endParaRPr lang="en-US" sz="1700" dirty="0"/>
          </a:p>
        </p:txBody>
      </p:sp>
      <p:sp>
        <p:nvSpPr>
          <p:cNvPr id="10" name="Text 7"/>
          <p:cNvSpPr/>
          <p:nvPr/>
        </p:nvSpPr>
        <p:spPr>
          <a:xfrm>
            <a:off x="804672" y="5107076"/>
            <a:ext cx="10582351" cy="1112672"/>
          </a:xfrm>
          <a:prstGeom prst="rect">
            <a:avLst/>
          </a:prstGeom>
          <a:noFill/>
          <a:ln/>
        </p:spPr>
        <p:txBody>
          <a:bodyPr wrap="square" lIns="0" tIns="0" rIns="0" bIns="0" rtlCol="0" anchor="t"/>
          <a:lstStyle/>
          <a:p>
            <a:pPr indent="0" marL="0">
              <a:lnSpc>
                <a:spcPts val="1491"/>
              </a:lnSpc>
              <a:buNone/>
            </a:pPr>
            <a:r>
              <a:rPr lang="en-US" sz="1050" dirty="0">
                <a:solidFill>
                  <a:srgbClr val="3B4660"/>
                </a:solidFill>
                <a:latin typeface="Calibri" pitchFamily="34" charset="0"/>
                <a:ea typeface="Calibri" pitchFamily="34" charset="-122"/>
                <a:cs typeface="Calibri" pitchFamily="34" charset="-120"/>
              </a:rPr>
              <a:t>No charge over the asset. The Vatika cannot be mortgaged, pledged or hypothecated to any bank, FI or NBFC. That removes conventional project finance and leaves a collateral-free CGTMSE facility as the only sensible debt route — the guarantee substitutes for the security the contract forbids.</a:t>
            </a:r>
            <a:endParaRPr lang="en-US" sz="1050" dirty="0"/>
          </a:p>
          <a:p>
            <a:pPr indent="0" marL="0">
              <a:lnSpc>
                <a:spcPts val="1491"/>
              </a:lnSpc>
              <a:buNone/>
            </a:pPr>
            <a:endParaRPr lang="en-US" sz="1050" dirty="0"/>
          </a:p>
          <a:p>
            <a:pPr indent="0" marL="0">
              <a:lnSpc>
                <a:spcPts val="1491"/>
              </a:lnSpc>
              <a:buNone/>
            </a:pPr>
            <a:r>
              <a:rPr lang="en-US" sz="1050" dirty="0">
                <a:solidFill>
                  <a:srgbClr val="3B4660"/>
                </a:solidFill>
                <a:latin typeface="Calibri" pitchFamily="34" charset="0"/>
                <a:ea typeface="Calibri" pitchFamily="34" charset="-122"/>
                <a:cs typeface="Calibri" pitchFamily="34" charset="-120"/>
              </a:rPr>
              <a:t>No change of control without consent. No change in ownership pattern, shareholding structure or controlling interest during the lock-in without BDA's prior written approval. That is a condition precedent on Options A and C, not a footnote.</a:t>
            </a:r>
            <a:endParaRPr lang="en-US" sz="1050" dirty="0"/>
          </a:p>
        </p:txBody>
      </p:sp>
      <p:sp>
        <p:nvSpPr>
          <p:cNvPr id="11" name="Text 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What the money is for</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The brief was two years of opex. Sized literally that is ₹4.17 Cr. The project's capacity to service debt is ₹3.40 Cr. The gap between those two numbers is the whole question.</a:t>
            </a:r>
            <a:endParaRPr lang="en-US" sz="1250" dirty="0"/>
          </a:p>
        </p:txBody>
      </p:sp>
      <p:sp>
        <p:nvSpPr>
          <p:cNvPr id="6" name="Shape 4"/>
          <p:cNvSpPr/>
          <p:nvPr/>
        </p:nvSpPr>
        <p:spPr>
          <a:xfrm>
            <a:off x="566928" y="1541272"/>
            <a:ext cx="3539642" cy="1152144"/>
          </a:xfrm>
          <a:prstGeom prst="roundRect">
            <a:avLst>
              <a:gd name="adj" fmla="val 4762"/>
            </a:avLst>
          </a:prstGeom>
          <a:solidFill>
            <a:srgbClr val="F5F6F8"/>
          </a:solidFill>
          <a:ln w="12700">
            <a:solidFill>
              <a:srgbClr val="E2E4EA"/>
            </a:solidFill>
            <a:prstDash val="solid"/>
          </a:ln>
        </p:spPr>
      </p:sp>
      <p:sp>
        <p:nvSpPr>
          <p:cNvPr id="7" name="Text 5"/>
          <p:cNvSpPr/>
          <p:nvPr/>
        </p:nvSpPr>
        <p:spPr>
          <a:xfrm>
            <a:off x="749808" y="1660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FACILITY AS BRIEFED</a:t>
            </a:r>
            <a:endParaRPr lang="en-US" sz="850" dirty="0"/>
          </a:p>
        </p:txBody>
      </p:sp>
      <p:sp>
        <p:nvSpPr>
          <p:cNvPr id="8" name="Text 6"/>
          <p:cNvSpPr/>
          <p:nvPr/>
        </p:nvSpPr>
        <p:spPr>
          <a:xfrm>
            <a:off x="749808" y="1907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₹4.17 Cr</a:t>
            </a:r>
            <a:endParaRPr lang="en-US" sz="2600" dirty="0"/>
          </a:p>
        </p:txBody>
      </p:sp>
      <p:sp>
        <p:nvSpPr>
          <p:cNvPr id="9" name="Text 7"/>
          <p:cNvSpPr/>
          <p:nvPr/>
        </p:nvSpPr>
        <p:spPr>
          <a:xfrm>
            <a:off x="749808" y="2382520"/>
            <a:ext cx="3173882" cy="237744"/>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Two full years of operating cost</a:t>
            </a:r>
            <a:endParaRPr lang="en-US" sz="950" dirty="0"/>
          </a:p>
        </p:txBody>
      </p:sp>
      <p:sp>
        <p:nvSpPr>
          <p:cNvPr id="10" name="Shape 8"/>
          <p:cNvSpPr/>
          <p:nvPr/>
        </p:nvSpPr>
        <p:spPr>
          <a:xfrm>
            <a:off x="4326026" y="1541272"/>
            <a:ext cx="3539642" cy="1152144"/>
          </a:xfrm>
          <a:prstGeom prst="roundRect">
            <a:avLst>
              <a:gd name="adj" fmla="val 4762"/>
            </a:avLst>
          </a:prstGeom>
          <a:solidFill>
            <a:srgbClr val="F5F6F8"/>
          </a:solidFill>
          <a:ln w="12700">
            <a:solidFill>
              <a:srgbClr val="E2E4EA"/>
            </a:solidFill>
            <a:prstDash val="solid"/>
          </a:ln>
        </p:spPr>
      </p:sp>
      <p:sp>
        <p:nvSpPr>
          <p:cNvPr id="11" name="Text 9"/>
          <p:cNvSpPr/>
          <p:nvPr/>
        </p:nvSpPr>
        <p:spPr>
          <a:xfrm>
            <a:off x="4508906" y="1660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TRUE CAPITAL AT RISK</a:t>
            </a:r>
            <a:endParaRPr lang="en-US" sz="850" dirty="0"/>
          </a:p>
        </p:txBody>
      </p:sp>
      <p:sp>
        <p:nvSpPr>
          <p:cNvPr id="12" name="Text 10"/>
          <p:cNvSpPr/>
          <p:nvPr/>
        </p:nvSpPr>
        <p:spPr>
          <a:xfrm>
            <a:off x="4508906" y="1907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₹2.36 Cr</a:t>
            </a:r>
            <a:endParaRPr lang="en-US" sz="2600" dirty="0"/>
          </a:p>
        </p:txBody>
      </p:sp>
      <p:sp>
        <p:nvSpPr>
          <p:cNvPr id="13" name="Text 11"/>
          <p:cNvSpPr/>
          <p:nvPr/>
        </p:nvSpPr>
        <p:spPr>
          <a:xfrm>
            <a:off x="4508906" y="2382520"/>
            <a:ext cx="3173882" cy="237744"/>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Mobilisation, toy train, and two years of deficit</a:t>
            </a:r>
            <a:endParaRPr lang="en-US" sz="950" dirty="0"/>
          </a:p>
        </p:txBody>
      </p:sp>
      <p:sp>
        <p:nvSpPr>
          <p:cNvPr id="14" name="Shape 12"/>
          <p:cNvSpPr/>
          <p:nvPr/>
        </p:nvSpPr>
        <p:spPr>
          <a:xfrm>
            <a:off x="8085125" y="1541272"/>
            <a:ext cx="3539642" cy="1152144"/>
          </a:xfrm>
          <a:prstGeom prst="roundRect">
            <a:avLst>
              <a:gd name="adj" fmla="val 4762"/>
            </a:avLst>
          </a:prstGeom>
          <a:solidFill>
            <a:srgbClr val="FBF1EE"/>
          </a:solidFill>
          <a:ln w="12700">
            <a:solidFill>
              <a:srgbClr val="C8553D"/>
            </a:solidFill>
            <a:prstDash val="solid"/>
          </a:ln>
        </p:spPr>
      </p:sp>
      <p:sp>
        <p:nvSpPr>
          <p:cNvPr id="15" name="Text 13"/>
          <p:cNvSpPr/>
          <p:nvPr/>
        </p:nvSpPr>
        <p:spPr>
          <a:xfrm>
            <a:off x="8268005" y="1660144"/>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SERVICEABLE AT 1.30× DSCR</a:t>
            </a:r>
            <a:endParaRPr lang="en-US" sz="850" dirty="0"/>
          </a:p>
        </p:txBody>
      </p:sp>
      <p:sp>
        <p:nvSpPr>
          <p:cNvPr id="16" name="Text 14"/>
          <p:cNvSpPr/>
          <p:nvPr/>
        </p:nvSpPr>
        <p:spPr>
          <a:xfrm>
            <a:off x="8268005" y="1907032"/>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₹3.40 Cr</a:t>
            </a:r>
            <a:endParaRPr lang="en-US" sz="2600" dirty="0"/>
          </a:p>
        </p:txBody>
      </p:sp>
      <p:sp>
        <p:nvSpPr>
          <p:cNvPr id="17" name="Text 15"/>
          <p:cNvSpPr/>
          <p:nvPr/>
        </p:nvSpPr>
        <p:spPr>
          <a:xfrm>
            <a:off x="8268005" y="2382520"/>
            <a:ext cx="3173882" cy="237744"/>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Gap to the brief: ₹0.77 Cr</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931160"/>
          <a:ext cx="11057839" cy="914400"/>
        </p:xfrm>
        <a:graphic>
          <a:graphicData uri="http://schemas.openxmlformats.org/drawingml/2006/table">
            <a:tbl>
              <a:tblPr/>
              <a:tblGrid>
                <a:gridCol w="9144000"/>
                <a:gridCol w="1913839"/>
              </a:tblGrid>
              <a:tr h="301752">
                <a:tc>
                  <a:txBody>
                    <a:bodyPr/>
                    <a:lstStyle/>
                    <a:p>
                      <a:pPr algn="l" indent="0" marL="0">
                        <a:buNone/>
                      </a:pPr>
                      <a:r>
                        <a:rPr lang="en-US" sz="950" b="1" spc="100" kern="0" dirty="0">
                          <a:solidFill>
                            <a:srgbClr val="6E7689"/>
                          </a:solidFill>
                          <a:latin typeface="Calibri" pitchFamily="34" charset="0"/>
                          <a:ea typeface="Calibri" pitchFamily="34" charset="-122"/>
                          <a:cs typeface="Calibri" pitchFamily="34" charset="-120"/>
                        </a:rPr>
                        <a:t>Requirement</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Amount</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Mobilisation capex — ticketing, food court, activity equipment, signage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₹102.0 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Performance security — interest-free for the whole 15-year term</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₹30.0 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EMD, bid fee, stamp duty, registration and the first quarter's licence fee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₹19.4 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3B4660"/>
                          </a:solidFill>
                          <a:latin typeface="Calibri" pitchFamily="34" charset="0"/>
                          <a:ea typeface="Calibri" pitchFamily="34" charset="-122"/>
                          <a:cs typeface="Calibri" pitchFamily="34" charset="-120"/>
                        </a:rPr>
                        <a:t>Sub-total — mobilisation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₹151.4 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r>
              <a:tr h="301752">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Toy train (year 2, optional) and two years of operating expenditure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₹454.7 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0A1426"/>
                          </a:solidFill>
                          <a:latin typeface="Calibri" pitchFamily="34" charset="0"/>
                          <a:ea typeface="Calibri" pitchFamily="34" charset="-122"/>
                          <a:cs typeface="Calibri" pitchFamily="34" charset="-120"/>
                        </a:rPr>
                        <a:t>Facility requested</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100" b="1" dirty="0">
                          <a:solidFill>
                            <a:srgbClr val="0A1426"/>
                          </a:solidFill>
                          <a:latin typeface="Calibri" pitchFamily="34" charset="0"/>
                          <a:ea typeface="Calibri" pitchFamily="34" charset="-122"/>
                          <a:cs typeface="Calibri" pitchFamily="34" charset="-120"/>
                        </a:rPr>
                        <a:t>₹416.7 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bl>
          </a:graphicData>
        </a:graphic>
      </p:graphicFrame>
      <p:sp>
        <p:nvSpPr>
          <p:cNvPr id="19" name="Shape 16"/>
          <p:cNvSpPr/>
          <p:nvPr/>
        </p:nvSpPr>
        <p:spPr>
          <a:xfrm>
            <a:off x="566928" y="5255260"/>
            <a:ext cx="11057839" cy="1098885"/>
          </a:xfrm>
          <a:prstGeom prst="roundRect">
            <a:avLst>
              <a:gd name="adj" fmla="val 4161"/>
            </a:avLst>
          </a:prstGeom>
          <a:solidFill>
            <a:srgbClr val="FDF6EC"/>
          </a:solidFill>
          <a:ln w="15875">
            <a:solidFill>
              <a:srgbClr val="D97706"/>
            </a:solidFill>
            <a:prstDash val="solid"/>
          </a:ln>
        </p:spPr>
      </p:sp>
      <p:sp>
        <p:nvSpPr>
          <p:cNvPr id="20" name="Text 17"/>
          <p:cNvSpPr/>
          <p:nvPr/>
        </p:nvSpPr>
        <p:spPr>
          <a:xfrm>
            <a:off x="804672" y="5364988"/>
            <a:ext cx="2743200" cy="182880"/>
          </a:xfrm>
          <a:prstGeom prst="rect">
            <a:avLst/>
          </a:prstGeom>
          <a:noFill/>
          <a:ln/>
        </p:spPr>
        <p:txBody>
          <a:bodyPr wrap="square" lIns="0" tIns="0" rIns="0" bIns="0" rtlCol="0" anchor="ctr"/>
          <a:lstStyle/>
          <a:p>
            <a:pPr indent="0" marL="0">
              <a:buNone/>
            </a:pPr>
            <a:r>
              <a:rPr lang="en-US" sz="850" b="1" spc="160" kern="0" dirty="0">
                <a:solidFill>
                  <a:srgbClr val="D97706"/>
                </a:solidFill>
                <a:latin typeface="Calibri" pitchFamily="34" charset="0"/>
                <a:ea typeface="Calibri" pitchFamily="34" charset="-122"/>
                <a:cs typeface="Calibri" pitchFamily="34" charset="-120"/>
              </a:rPr>
              <a:t>VERDICT</a:t>
            </a:r>
            <a:endParaRPr lang="en-US" sz="850" dirty="0"/>
          </a:p>
        </p:txBody>
      </p:sp>
      <p:sp>
        <p:nvSpPr>
          <p:cNvPr id="21" name="Text 18"/>
          <p:cNvSpPr/>
          <p:nvPr/>
        </p:nvSpPr>
        <p:spPr>
          <a:xfrm>
            <a:off x="804672" y="5547868"/>
            <a:ext cx="10582351" cy="212649"/>
          </a:xfrm>
          <a:prstGeom prst="rect">
            <a:avLst/>
          </a:prstGeom>
          <a:noFill/>
          <a:ln/>
        </p:spPr>
        <p:txBody>
          <a:bodyPr wrap="square" lIns="0" tIns="0" rIns="0" bIns="0" rtlCol="0" anchor="t"/>
          <a:lstStyle/>
          <a:p>
            <a:pPr indent="0" marL="0">
              <a:lnSpc>
                <a:spcPts val="1610"/>
              </a:lnSpc>
              <a:buNone/>
            </a:pPr>
            <a:r>
              <a:rPr lang="en-US" sz="1400" b="1" dirty="0">
                <a:solidFill>
                  <a:srgbClr val="0A1426"/>
                </a:solidFill>
                <a:latin typeface="Calibri" pitchFamily="34" charset="0"/>
                <a:ea typeface="Calibri" pitchFamily="34" charset="-122"/>
                <a:cs typeface="Calibri" pitchFamily="34" charset="-120"/>
              </a:rPr>
              <a:t>The performance security is the hidden cost</a:t>
            </a:r>
            <a:endParaRPr lang="en-US" sz="1400" dirty="0"/>
          </a:p>
        </p:txBody>
      </p:sp>
      <p:sp>
        <p:nvSpPr>
          <p:cNvPr id="22" name="Text 19"/>
          <p:cNvSpPr/>
          <p:nvPr/>
        </p:nvSpPr>
        <p:spPr>
          <a:xfrm>
            <a:off x="804672" y="5815381"/>
            <a:ext cx="10582351" cy="465612"/>
          </a:xfrm>
          <a:prstGeom prst="rect">
            <a:avLst/>
          </a:prstGeom>
          <a:noFill/>
          <a:ln/>
        </p:spPr>
        <p:txBody>
          <a:bodyPr wrap="square" lIns="0" tIns="0" rIns="0" bIns="0" rtlCol="0" anchor="t"/>
          <a:lstStyle/>
          <a:p>
            <a:pPr indent="0" marL="0">
              <a:lnSpc>
                <a:spcPts val="1278"/>
              </a:lnSpc>
              <a:buNone/>
            </a:pPr>
            <a:r>
              <a:rPr lang="en-US" sz="900" dirty="0">
                <a:solidFill>
                  <a:srgbClr val="3B4660"/>
                </a:solidFill>
                <a:latin typeface="Calibri" pitchFamily="34" charset="0"/>
                <a:ea typeface="Calibri" pitchFamily="34" charset="-122"/>
                <a:cs typeface="Calibri" pitchFamily="34" charset="-120"/>
              </a:rPr>
              <a:t>₹30 L sits with BDA interest-free for fifteen years — roughly ₹52 lakh of foregone return at an 11.5% opportunity cost, more than a year and a half of licence fee. Price it into the bid.</a:t>
            </a:r>
            <a:endParaRPr lang="en-US" sz="900" dirty="0"/>
          </a:p>
        </p:txBody>
      </p:sp>
      <p:sp>
        <p:nvSpPr>
          <p:cNvPr id="23" name="Text 20"/>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Revenue model</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BDA published its own indicative revenue of ₹2.25–2.30 crore a year. This model sits below it early and reaches it in year 3 — because the assumption BDA's number rests on is the one most likely to be wrong.</a:t>
            </a:r>
            <a:endParaRPr lang="en-US" sz="1250" dirty="0"/>
          </a:p>
        </p:txBody>
      </p:sp>
      <p:graphicFrame>
        <p:nvGraphicFramePr>
          <p:cNvPr id="6" name="Chart 0" descr=""/>
          <p:cNvGraphicFramePr/>
          <p:nvPr/>
        </p:nvGraphicFramePr>
        <p:xfrm>
          <a:off x="566928" y="1541272"/>
          <a:ext cx="11057839" cy="2560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 y="4330192"/>
            <a:ext cx="11057839" cy="1512428"/>
          </a:xfrm>
          <a:prstGeom prst="roundRect">
            <a:avLst>
              <a:gd name="adj" fmla="val 3023"/>
            </a:avLst>
          </a:prstGeom>
          <a:solidFill>
            <a:srgbClr val="FBEFEC"/>
          </a:solidFill>
          <a:ln w="15875">
            <a:solidFill>
              <a:srgbClr val="C8553D"/>
            </a:solidFill>
            <a:prstDash val="solid"/>
          </a:ln>
        </p:spPr>
      </p:sp>
      <p:sp>
        <p:nvSpPr>
          <p:cNvPr id="8" name="Text 5"/>
          <p:cNvSpPr/>
          <p:nvPr/>
        </p:nvSpPr>
        <p:spPr>
          <a:xfrm>
            <a:off x="804672" y="4439920"/>
            <a:ext cx="2743200" cy="182880"/>
          </a:xfrm>
          <a:prstGeom prst="rect">
            <a:avLst/>
          </a:prstGeom>
          <a:noFill/>
          <a:ln/>
        </p:spPr>
        <p:txBody>
          <a:bodyPr wrap="square" lIns="0" tIns="0" rIns="0" bIns="0" rtlCol="0" anchor="ctr"/>
          <a:lstStyle/>
          <a:p>
            <a:pPr indent="0" marL="0">
              <a:buNone/>
            </a:pPr>
            <a:r>
              <a:rPr lang="en-US" sz="850" b="1" spc="160" kern="0" dirty="0">
                <a:solidFill>
                  <a:srgbClr val="C8553D"/>
                </a:solidFill>
                <a:latin typeface="Calibri" pitchFamily="34" charset="0"/>
                <a:ea typeface="Calibri" pitchFamily="34" charset="-122"/>
                <a:cs typeface="Calibri" pitchFamily="34" charset="-120"/>
              </a:rPr>
              <a:t>VERDICT</a:t>
            </a:r>
            <a:endParaRPr lang="en-US" sz="850" dirty="0"/>
          </a:p>
        </p:txBody>
      </p:sp>
      <p:sp>
        <p:nvSpPr>
          <p:cNvPr id="9" name="Text 6"/>
          <p:cNvSpPr/>
          <p:nvPr/>
        </p:nvSpPr>
        <p:spPr>
          <a:xfrm>
            <a:off x="804672" y="4622800"/>
            <a:ext cx="10582351" cy="288595"/>
          </a:xfrm>
          <a:prstGeom prst="rect">
            <a:avLst/>
          </a:prstGeom>
          <a:noFill/>
          <a:ln/>
        </p:spPr>
        <p:txBody>
          <a:bodyPr wrap="square" lIns="0" tIns="0" rIns="0" bIns="0" rtlCol="0" anchor="t"/>
          <a:lstStyle/>
          <a:p>
            <a:pPr indent="0" marL="0">
              <a:lnSpc>
                <a:spcPts val="2185"/>
              </a:lnSpc>
              <a:buNone/>
            </a:pPr>
            <a:r>
              <a:rPr lang="en-US" sz="1900" b="1" dirty="0">
                <a:solidFill>
                  <a:srgbClr val="0A1426"/>
                </a:solidFill>
                <a:latin typeface="Calibri" pitchFamily="34" charset="0"/>
                <a:ea typeface="Calibri" pitchFamily="34" charset="-122"/>
                <a:cs typeface="Calibri" pitchFamily="34" charset="-120"/>
              </a:rPr>
              <a:t>Where this model parts company with BDA</a:t>
            </a:r>
            <a:endParaRPr lang="en-US" sz="1900" dirty="0"/>
          </a:p>
        </p:txBody>
      </p:sp>
      <p:sp>
        <p:nvSpPr>
          <p:cNvPr id="10" name="Text 7"/>
          <p:cNvSpPr/>
          <p:nvPr/>
        </p:nvSpPr>
        <p:spPr>
          <a:xfrm>
            <a:off x="804672" y="4966259"/>
            <a:ext cx="10582351" cy="803209"/>
          </a:xfrm>
          <a:prstGeom prst="rect">
            <a:avLst/>
          </a:prstGeom>
          <a:noFill/>
          <a:ln/>
        </p:spPr>
        <p:txBody>
          <a:bodyPr wrap="square" lIns="0" tIns="0" rIns="0" bIns="0" rtlCol="0" anchor="t"/>
          <a:lstStyle/>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BDA's ₹2.30 crore assumes 500 visitors a day with 300 of them paying ₹125 for the show — a 60% conversion, implying three in five visitors including morning walkers, families with small children and school groups buy an evening show. This model starts at 42% and reaches 52% by year 10. That single assumption is worth about ₹52 L a year at year-5 volumes.</a:t>
            </a:r>
            <a:endParaRPr lang="en-US" sz="1200" dirty="0"/>
          </a:p>
        </p:txBody>
      </p:sp>
      <p:sp>
        <p:nvSpPr>
          <p:cNvPr id="11" name="Text 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Cost model</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A maintenance-heavy contract. BDA transfers the entire comprehensive maintenance obligation — civil, electrical, horticultural, statuary and IT — to the operator, at the operator's cost.</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541272"/>
          <a:ext cx="11057839" cy="914400"/>
        </p:xfrm>
        <a:graphic>
          <a:graphicData uri="http://schemas.openxmlformats.org/drawingml/2006/table">
            <a:tbl>
              <a:tblPr/>
              <a:tblGrid>
                <a:gridCol w="3840480"/>
                <a:gridCol w="1443472"/>
                <a:gridCol w="1443472"/>
                <a:gridCol w="1443472"/>
                <a:gridCol w="1443472"/>
                <a:gridCol w="1443472"/>
              </a:tblGrid>
              <a:tr h="292608">
                <a:tc>
                  <a:txBody>
                    <a:bodyPr/>
                    <a:lstStyle/>
                    <a:p>
                      <a:pPr algn="l" indent="0" marL="0">
                        <a:buNone/>
                      </a:pPr>
                      <a:r>
                        <a:rPr lang="en-US" sz="950" b="1" spc="100" kern="0" dirty="0">
                          <a:solidFill>
                            <a:srgbClr val="6E7689"/>
                          </a:solidFill>
                          <a:latin typeface="Calibri" pitchFamily="34" charset="0"/>
                          <a:ea typeface="Calibri" pitchFamily="34" charset="-122"/>
                          <a:cs typeface="Calibri" pitchFamily="34" charset="-120"/>
                        </a:rPr>
                        <a:t>₹ crore</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Yr 1</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Yr 3</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Yr 5</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Yr 7</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Yr 9</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Licence fee to BDA</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0.33</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0.36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0.40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0.49</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Payroll</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0.66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0.88</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1.09</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1.31</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1.56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Electricity</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0.22</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0.26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0.30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0.35</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0.40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Horticulture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0.11</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0.14</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0.18</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Show AMC</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0.14</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0.18</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0.20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0.23</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Statue and artefact upkeep</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0.09</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3B4660"/>
                          </a:solidFill>
                          <a:latin typeface="Calibri" pitchFamily="34" charset="0"/>
                          <a:ea typeface="Calibri" pitchFamily="34" charset="-122"/>
                          <a:cs typeface="Calibri" pitchFamily="34" charset="-120"/>
                        </a:rPr>
                        <a:t>Other operating cost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0.43</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0.75</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0.88</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1.01</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050" b="1" dirty="0">
                          <a:solidFill>
                            <a:srgbClr val="0A1426"/>
                          </a:solidFill>
                          <a:latin typeface="Calibri" pitchFamily="34" charset="0"/>
                          <a:ea typeface="Calibri" pitchFamily="34" charset="-122"/>
                          <a:cs typeface="Calibri" pitchFamily="34" charset="-120"/>
                        </a:rPr>
                        <a:t>Total operating cost</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1.96</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2.47</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2.95</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3.45</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3.99</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r h="292608">
                <a:tc>
                  <a:txBody>
                    <a:bodyPr/>
                    <a:lstStyle/>
                    <a:p>
                      <a:pPr algn="l" indent="0" marL="0">
                        <a:buNone/>
                      </a:pPr>
                      <a:r>
                        <a:rPr lang="en-US" sz="1050" b="1" dirty="0">
                          <a:solidFill>
                            <a:srgbClr val="3B4660"/>
                          </a:solidFill>
                          <a:latin typeface="Calibri" pitchFamily="34" charset="0"/>
                          <a:ea typeface="Calibri" pitchFamily="34" charset="-122"/>
                          <a:cs typeface="Calibri" pitchFamily="34" charset="-120"/>
                        </a:rPr>
                        <a:t>Revenue</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1.54</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2.82</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3.70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4.44</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c>
                  <a:txBody>
                    <a:bodyPr/>
                    <a:lstStyle/>
                    <a:p>
                      <a:pPr algn="r" indent="0" marL="0">
                        <a:buNone/>
                      </a:pPr>
                      <a:r>
                        <a:rPr lang="en-US" sz="1050" dirty="0">
                          <a:solidFill>
                            <a:srgbClr val="3B4660"/>
                          </a:solidFill>
                          <a:latin typeface="Calibri" pitchFamily="34" charset="0"/>
                          <a:ea typeface="Calibri" pitchFamily="34" charset="-122"/>
                          <a:cs typeface="Calibri" pitchFamily="34" charset="-120"/>
                        </a:rPr>
                        <a:t>5.14</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2F6FE"/>
                    </a:solidFill>
                  </a:tcPr>
                </a:tc>
              </a:tr>
              <a:tr h="292608">
                <a:tc>
                  <a:txBody>
                    <a:bodyPr/>
                    <a:lstStyle/>
                    <a:p>
                      <a:pPr algn="l" indent="0" marL="0">
                        <a:buNone/>
                      </a:pPr>
                      <a:r>
                        <a:rPr lang="en-US" sz="1050" b="1" dirty="0">
                          <a:solidFill>
                            <a:srgbClr val="0A1426"/>
                          </a:solidFill>
                          <a:latin typeface="Calibri" pitchFamily="34" charset="0"/>
                          <a:ea typeface="Calibri" pitchFamily="34" charset="-122"/>
                          <a:cs typeface="Calibri" pitchFamily="34" charset="-120"/>
                        </a:rPr>
                        <a:t>EBITDA margin</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050" b="1" dirty="0">
                          <a:solidFill>
                            <a:srgbClr val="0A1426"/>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bl>
          </a:graphicData>
        </a:graphic>
      </p:graphicFrame>
      <p:sp>
        <p:nvSpPr>
          <p:cNvPr id="7" name="Shape 4"/>
          <p:cNvSpPr/>
          <p:nvPr/>
        </p:nvSpPr>
        <p:spPr>
          <a:xfrm>
            <a:off x="566928" y="5012182"/>
            <a:ext cx="11057839" cy="1166774"/>
          </a:xfrm>
          <a:prstGeom prst="roundRect">
            <a:avLst>
              <a:gd name="adj" fmla="val 3918"/>
            </a:avLst>
          </a:prstGeom>
          <a:solidFill>
            <a:srgbClr val="FDF6EC"/>
          </a:solidFill>
          <a:ln w="15875">
            <a:solidFill>
              <a:srgbClr val="D97706"/>
            </a:solidFill>
            <a:prstDash val="solid"/>
          </a:ln>
        </p:spPr>
      </p:sp>
      <p:sp>
        <p:nvSpPr>
          <p:cNvPr id="8" name="Text 5"/>
          <p:cNvSpPr/>
          <p:nvPr/>
        </p:nvSpPr>
        <p:spPr>
          <a:xfrm>
            <a:off x="804672" y="5121910"/>
            <a:ext cx="2743200" cy="182880"/>
          </a:xfrm>
          <a:prstGeom prst="rect">
            <a:avLst/>
          </a:prstGeom>
          <a:noFill/>
          <a:ln/>
        </p:spPr>
        <p:txBody>
          <a:bodyPr wrap="square" lIns="0" tIns="0" rIns="0" bIns="0" rtlCol="0" anchor="ctr"/>
          <a:lstStyle/>
          <a:p>
            <a:pPr indent="0" marL="0">
              <a:buNone/>
            </a:pPr>
            <a:r>
              <a:rPr lang="en-US" sz="850" b="1" spc="160" kern="0" dirty="0">
                <a:solidFill>
                  <a:srgbClr val="D97706"/>
                </a:solidFill>
                <a:latin typeface="Calibri" pitchFamily="34" charset="0"/>
                <a:ea typeface="Calibri" pitchFamily="34" charset="-122"/>
                <a:cs typeface="Calibri" pitchFamily="34" charset="-120"/>
              </a:rPr>
              <a:t>VERDICT</a:t>
            </a:r>
            <a:endParaRPr lang="en-US" sz="850" dirty="0"/>
          </a:p>
        </p:txBody>
      </p:sp>
      <p:sp>
        <p:nvSpPr>
          <p:cNvPr id="9" name="Text 6"/>
          <p:cNvSpPr/>
          <p:nvPr/>
        </p:nvSpPr>
        <p:spPr>
          <a:xfrm>
            <a:off x="804672" y="5304790"/>
            <a:ext cx="10582351" cy="243027"/>
          </a:xfrm>
          <a:prstGeom prst="rect">
            <a:avLst/>
          </a:prstGeom>
          <a:noFill/>
          <a:ln/>
        </p:spPr>
        <p:txBody>
          <a:bodyPr wrap="square" lIns="0" tIns="0" rIns="0" bIns="0" rtlCol="0" anchor="t"/>
          <a:lstStyle/>
          <a:p>
            <a:pPr indent="0" marL="0">
              <a:lnSpc>
                <a:spcPts val="1840"/>
              </a:lnSpc>
              <a:buNone/>
            </a:pPr>
            <a:r>
              <a:rPr lang="en-US" sz="1600" b="1" dirty="0">
                <a:solidFill>
                  <a:srgbClr val="0A1426"/>
                </a:solidFill>
                <a:latin typeface="Calibri" pitchFamily="34" charset="0"/>
                <a:ea typeface="Calibri" pitchFamily="34" charset="-122"/>
                <a:cs typeface="Calibri" pitchFamily="34" charset="-120"/>
              </a:rPr>
              <a:t>The manpower floor is contractual, not discretionary</a:t>
            </a:r>
            <a:endParaRPr lang="en-US" sz="1600" dirty="0"/>
          </a:p>
        </p:txBody>
      </p:sp>
      <p:sp>
        <p:nvSpPr>
          <p:cNvPr id="10" name="Text 7"/>
          <p:cNvSpPr/>
          <p:nvPr/>
        </p:nvSpPr>
        <p:spPr>
          <a:xfrm>
            <a:off x="804672" y="5602681"/>
            <a:ext cx="10582351" cy="503123"/>
          </a:xfrm>
          <a:prstGeom prst="rect">
            <a:avLst/>
          </a:prstGeom>
          <a:noFill/>
          <a:ln/>
        </p:spPr>
        <p:txBody>
          <a:bodyPr wrap="square" lIns="0" tIns="0" rIns="0" bIns="0" rtlCol="0" anchor="t"/>
          <a:lstStyle/>
          <a:p>
            <a:pPr indent="0" marL="0">
              <a:lnSpc>
                <a:spcPts val="1420"/>
              </a:lnSpc>
              <a:buNone/>
            </a:pPr>
            <a:r>
              <a:rPr lang="en-US" sz="1000" dirty="0">
                <a:solidFill>
                  <a:srgbClr val="3B4660"/>
                </a:solidFill>
                <a:latin typeface="Calibri" pitchFamily="34" charset="0"/>
                <a:ea typeface="Calibri" pitchFamily="34" charset="-122"/>
                <a:cs typeface="Calibri" pitchFamily="34" charset="-120"/>
              </a:rPr>
              <a:t>BDA prescribes 4 sweepers and 5 security per shift plus 8 gardeners, a site manager, an electrician and a plumber per day — about 29 heads before a ticket is sold, and roughly 37 with ticketing and show staff. Payroll cannot flex in a bad season. That is why the margin here is thinner than at Geeta Govind Vatika.</a:t>
            </a:r>
            <a:endParaRPr lang="en-US" sz="1000" dirty="0"/>
          </a:p>
        </p:txBody>
      </p:sp>
      <p:sp>
        <p:nvSpPr>
          <p:cNvPr id="11" name="Text 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Projection</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Two loss-making years, then a slow climb. The shape is the direct consequence of a fixed manpower floor meeting a ramping revenue line.</a:t>
            </a:r>
            <a:endParaRPr lang="en-US" sz="1250" dirty="0"/>
          </a:p>
        </p:txBody>
      </p:sp>
      <p:graphicFrame>
        <p:nvGraphicFramePr>
          <p:cNvPr id="6" name="Chart 0" descr=""/>
          <p:cNvGraphicFramePr/>
          <p:nvPr/>
        </p:nvGraphicFramePr>
        <p:xfrm>
          <a:off x="566928" y="1541272"/>
          <a:ext cx="11057839" cy="2697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 y="4956048"/>
            <a:ext cx="3539642" cy="1133856"/>
          </a:xfrm>
          <a:prstGeom prst="roundRect">
            <a:avLst>
              <a:gd name="adj" fmla="val 4839"/>
            </a:avLst>
          </a:prstGeom>
          <a:solidFill>
            <a:srgbClr val="F5F6F8"/>
          </a:solidFill>
          <a:ln w="12700">
            <a:solidFill>
              <a:srgbClr val="E2E4EA"/>
            </a:solidFill>
            <a:prstDash val="solid"/>
          </a:ln>
        </p:spPr>
      </p:sp>
      <p:sp>
        <p:nvSpPr>
          <p:cNvPr id="8" name="Text 5"/>
          <p:cNvSpPr/>
          <p:nvPr/>
        </p:nvSpPr>
        <p:spPr>
          <a:xfrm>
            <a:off x="749808" y="5074920"/>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EBITDA BREAKEVEN</a:t>
            </a:r>
            <a:endParaRPr lang="en-US" sz="850" dirty="0"/>
          </a:p>
        </p:txBody>
      </p:sp>
      <p:sp>
        <p:nvSpPr>
          <p:cNvPr id="9" name="Text 6"/>
          <p:cNvSpPr/>
          <p:nvPr/>
        </p:nvSpPr>
        <p:spPr>
          <a:xfrm>
            <a:off x="749808" y="5321808"/>
            <a:ext cx="3173882" cy="457200"/>
          </a:xfrm>
          <a:prstGeom prst="rect">
            <a:avLst/>
          </a:prstGeom>
          <a:noFill/>
          <a:ln/>
        </p:spPr>
        <p:txBody>
          <a:bodyPr wrap="square" lIns="0" tIns="0" rIns="0" bIns="0" rtlCol="0" anchor="t">
            <a:normAutofit/>
          </a:bodyPr>
          <a:lstStyle/>
          <a:p>
            <a:pPr indent="0" marL="0">
              <a:buNone/>
            </a:pPr>
            <a:r>
              <a:rPr lang="en-US" sz="2000" b="1" dirty="0">
                <a:solidFill>
                  <a:srgbClr val="0A1426"/>
                </a:solidFill>
                <a:latin typeface="Calibri" pitchFamily="34" charset="0"/>
                <a:ea typeface="Calibri" pitchFamily="34" charset="-122"/>
                <a:cs typeface="Calibri" pitchFamily="34" charset="-120"/>
              </a:rPr>
              <a:t>Year 3</a:t>
            </a:r>
            <a:endParaRPr lang="en-US" sz="2000" dirty="0"/>
          </a:p>
        </p:txBody>
      </p:sp>
      <p:sp>
        <p:nvSpPr>
          <p:cNvPr id="10" name="Text 7"/>
          <p:cNvSpPr/>
          <p:nvPr/>
        </p:nvSpPr>
        <p:spPr>
          <a:xfrm>
            <a:off x="749808" y="5797296"/>
            <a:ext cx="3173882" cy="219456"/>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After ₹0.46 Cr of cumulative operating deficit</a:t>
            </a:r>
            <a:endParaRPr lang="en-US" sz="950" dirty="0"/>
          </a:p>
        </p:txBody>
      </p:sp>
      <p:sp>
        <p:nvSpPr>
          <p:cNvPr id="11" name="Shape 8"/>
          <p:cNvSpPr/>
          <p:nvPr/>
        </p:nvSpPr>
        <p:spPr>
          <a:xfrm>
            <a:off x="4326026" y="4956048"/>
            <a:ext cx="3539642" cy="1133856"/>
          </a:xfrm>
          <a:prstGeom prst="roundRect">
            <a:avLst>
              <a:gd name="adj" fmla="val 4839"/>
            </a:avLst>
          </a:prstGeom>
          <a:solidFill>
            <a:srgbClr val="F5F6F8"/>
          </a:solidFill>
          <a:ln w="12700">
            <a:solidFill>
              <a:srgbClr val="E2E4EA"/>
            </a:solidFill>
            <a:prstDash val="solid"/>
          </a:ln>
        </p:spPr>
      </p:sp>
      <p:sp>
        <p:nvSpPr>
          <p:cNvPr id="12" name="Text 9"/>
          <p:cNvSpPr/>
          <p:nvPr/>
        </p:nvSpPr>
        <p:spPr>
          <a:xfrm>
            <a:off x="4508906" y="5074920"/>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MARGIN AT MATURITY</a:t>
            </a:r>
            <a:endParaRPr lang="en-US" sz="850" dirty="0"/>
          </a:p>
        </p:txBody>
      </p:sp>
      <p:sp>
        <p:nvSpPr>
          <p:cNvPr id="13" name="Text 10"/>
          <p:cNvSpPr/>
          <p:nvPr/>
        </p:nvSpPr>
        <p:spPr>
          <a:xfrm>
            <a:off x="4508906" y="5321808"/>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20.8%</a:t>
            </a:r>
            <a:endParaRPr lang="en-US" sz="2600" dirty="0"/>
          </a:p>
        </p:txBody>
      </p:sp>
      <p:sp>
        <p:nvSpPr>
          <p:cNvPr id="14" name="Text 11"/>
          <p:cNvSpPr/>
          <p:nvPr/>
        </p:nvSpPr>
        <p:spPr>
          <a:xfrm>
            <a:off x="4508906" y="5797296"/>
            <a:ext cx="3173882" cy="219456"/>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Final year of the modelled term</a:t>
            </a:r>
            <a:endParaRPr lang="en-US" sz="950" dirty="0"/>
          </a:p>
        </p:txBody>
      </p:sp>
      <p:sp>
        <p:nvSpPr>
          <p:cNvPr id="15" name="Shape 12"/>
          <p:cNvSpPr/>
          <p:nvPr/>
        </p:nvSpPr>
        <p:spPr>
          <a:xfrm>
            <a:off x="8085125" y="4956048"/>
            <a:ext cx="3539642" cy="1133856"/>
          </a:xfrm>
          <a:prstGeom prst="roundRect">
            <a:avLst>
              <a:gd name="adj" fmla="val 4839"/>
            </a:avLst>
          </a:prstGeom>
          <a:solidFill>
            <a:srgbClr val="F5F6F8"/>
          </a:solidFill>
          <a:ln w="12700">
            <a:solidFill>
              <a:srgbClr val="E2E4EA"/>
            </a:solidFill>
            <a:prstDash val="solid"/>
          </a:ln>
        </p:spPr>
      </p:sp>
      <p:sp>
        <p:nvSpPr>
          <p:cNvPr id="16" name="Text 13"/>
          <p:cNvSpPr/>
          <p:nvPr/>
        </p:nvSpPr>
        <p:spPr>
          <a:xfrm>
            <a:off x="8268005" y="5074920"/>
            <a:ext cx="3173882"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CUMULATIVE EBITDA</a:t>
            </a:r>
            <a:endParaRPr lang="en-US" sz="850" dirty="0"/>
          </a:p>
        </p:txBody>
      </p:sp>
      <p:sp>
        <p:nvSpPr>
          <p:cNvPr id="17" name="Text 14"/>
          <p:cNvSpPr/>
          <p:nvPr/>
        </p:nvSpPr>
        <p:spPr>
          <a:xfrm>
            <a:off x="8268005" y="5321808"/>
            <a:ext cx="3173882"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₹6.24 Cr</a:t>
            </a:r>
            <a:endParaRPr lang="en-US" sz="2600" dirty="0"/>
          </a:p>
        </p:txBody>
      </p:sp>
      <p:sp>
        <p:nvSpPr>
          <p:cNvPr id="18" name="Text 15"/>
          <p:cNvSpPr/>
          <p:nvPr/>
        </p:nvSpPr>
        <p:spPr>
          <a:xfrm>
            <a:off x="8268005" y="5797296"/>
            <a:ext cx="3173882" cy="219456"/>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Across the modelled term</a:t>
            </a:r>
            <a:endParaRPr lang="en-US" sz="950" dirty="0"/>
          </a:p>
        </p:txBody>
      </p:sp>
      <p:sp>
        <p:nvSpPr>
          <p:cNvPr id="19" name="Text 16"/>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Project returns</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Unlevered free cash flow to the project. Capital deployed is the true project cost — the revolving opex facility is financing, not project cost, so it is excluded here.</a:t>
            </a:r>
            <a:endParaRPr lang="en-US" sz="1250" dirty="0"/>
          </a:p>
        </p:txBody>
      </p:sp>
      <p:graphicFrame>
        <p:nvGraphicFramePr>
          <p:cNvPr id="6" name="Chart 0" descr=""/>
          <p:cNvGraphicFramePr/>
          <p:nvPr/>
        </p:nvGraphicFramePr>
        <p:xfrm>
          <a:off x="566928" y="1541272"/>
          <a:ext cx="11057839" cy="2194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 y="3964432"/>
            <a:ext cx="2599868" cy="1207008"/>
          </a:xfrm>
          <a:prstGeom prst="roundRect">
            <a:avLst>
              <a:gd name="adj" fmla="val 4545"/>
            </a:avLst>
          </a:prstGeom>
          <a:solidFill>
            <a:srgbClr val="F5F6F8"/>
          </a:solidFill>
          <a:ln w="12700">
            <a:solidFill>
              <a:srgbClr val="E2E4EA"/>
            </a:solidFill>
            <a:prstDash val="solid"/>
          </a:ln>
        </p:spPr>
      </p:sp>
      <p:sp>
        <p:nvSpPr>
          <p:cNvPr id="8" name="Text 5"/>
          <p:cNvSpPr/>
          <p:nvPr/>
        </p:nvSpPr>
        <p:spPr>
          <a:xfrm>
            <a:off x="749808" y="4083304"/>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PROJECT IRR</a:t>
            </a:r>
            <a:endParaRPr lang="en-US" sz="850" dirty="0"/>
          </a:p>
        </p:txBody>
      </p:sp>
      <p:sp>
        <p:nvSpPr>
          <p:cNvPr id="9" name="Text 6"/>
          <p:cNvSpPr/>
          <p:nvPr/>
        </p:nvSpPr>
        <p:spPr>
          <a:xfrm>
            <a:off x="749808" y="4330192"/>
            <a:ext cx="2234108" cy="457200"/>
          </a:xfrm>
          <a:prstGeom prst="rect">
            <a:avLst/>
          </a:prstGeom>
          <a:noFill/>
          <a:ln/>
        </p:spPr>
        <p:txBody>
          <a:bodyPr wrap="square" lIns="0" tIns="0" rIns="0" bIns="0" rtlCol="0" anchor="t">
            <a:normAutofit/>
          </a:bodyPr>
          <a:lstStyle/>
          <a:p>
            <a:pPr indent="0" marL="0">
              <a:buNone/>
            </a:pPr>
            <a:r>
              <a:rPr lang="en-US" sz="2600" b="1" dirty="0">
                <a:solidFill>
                  <a:srgbClr val="C8553D"/>
                </a:solidFill>
                <a:latin typeface="Calibri" pitchFamily="34" charset="0"/>
                <a:ea typeface="Calibri" pitchFamily="34" charset="-122"/>
                <a:cs typeface="Calibri" pitchFamily="34" charset="-120"/>
              </a:rPr>
              <a:t>11.4%</a:t>
            </a:r>
            <a:endParaRPr lang="en-US" sz="2600" dirty="0"/>
          </a:p>
        </p:txBody>
      </p:sp>
      <p:sp>
        <p:nvSpPr>
          <p:cNvPr id="10" name="Text 7"/>
          <p:cNvSpPr/>
          <p:nvPr/>
        </p:nvSpPr>
        <p:spPr>
          <a:xfrm>
            <a:off x="749808" y="4805680"/>
            <a:ext cx="2234108" cy="292608"/>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Unlevered, no extension value</a:t>
            </a:r>
            <a:endParaRPr lang="en-US" sz="950" dirty="0"/>
          </a:p>
        </p:txBody>
      </p:sp>
      <p:sp>
        <p:nvSpPr>
          <p:cNvPr id="11" name="Shape 8"/>
          <p:cNvSpPr/>
          <p:nvPr/>
        </p:nvSpPr>
        <p:spPr>
          <a:xfrm>
            <a:off x="3386252" y="3964432"/>
            <a:ext cx="2599868" cy="1207008"/>
          </a:xfrm>
          <a:prstGeom prst="roundRect">
            <a:avLst>
              <a:gd name="adj" fmla="val 4545"/>
            </a:avLst>
          </a:prstGeom>
          <a:solidFill>
            <a:srgbClr val="F5F6F8"/>
          </a:solidFill>
          <a:ln w="12700">
            <a:solidFill>
              <a:srgbClr val="E2E4EA"/>
            </a:solidFill>
            <a:prstDash val="solid"/>
          </a:ln>
        </p:spPr>
      </p:sp>
      <p:sp>
        <p:nvSpPr>
          <p:cNvPr id="12" name="Text 9"/>
          <p:cNvSpPr/>
          <p:nvPr/>
        </p:nvSpPr>
        <p:spPr>
          <a:xfrm>
            <a:off x="3569132" y="4083304"/>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PAYBACK</a:t>
            </a:r>
            <a:endParaRPr lang="en-US" sz="850" dirty="0"/>
          </a:p>
        </p:txBody>
      </p:sp>
      <p:sp>
        <p:nvSpPr>
          <p:cNvPr id="13" name="Text 10"/>
          <p:cNvSpPr/>
          <p:nvPr/>
        </p:nvSpPr>
        <p:spPr>
          <a:xfrm>
            <a:off x="3569132" y="4330192"/>
            <a:ext cx="2234108"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7.0 yrs</a:t>
            </a:r>
            <a:endParaRPr lang="en-US" sz="2600" dirty="0"/>
          </a:p>
        </p:txBody>
      </p:sp>
      <p:sp>
        <p:nvSpPr>
          <p:cNvPr id="14" name="Text 11"/>
          <p:cNvSpPr/>
          <p:nvPr/>
        </p:nvSpPr>
        <p:spPr>
          <a:xfrm>
            <a:off x="3569132" y="4805680"/>
            <a:ext cx="2234108" cy="292608"/>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From first deployment</a:t>
            </a:r>
            <a:endParaRPr lang="en-US" sz="950" dirty="0"/>
          </a:p>
        </p:txBody>
      </p:sp>
      <p:sp>
        <p:nvSpPr>
          <p:cNvPr id="15" name="Shape 12"/>
          <p:cNvSpPr/>
          <p:nvPr/>
        </p:nvSpPr>
        <p:spPr>
          <a:xfrm>
            <a:off x="6205576" y="3964432"/>
            <a:ext cx="2599868" cy="1207008"/>
          </a:xfrm>
          <a:prstGeom prst="roundRect">
            <a:avLst>
              <a:gd name="adj" fmla="val 4545"/>
            </a:avLst>
          </a:prstGeom>
          <a:solidFill>
            <a:srgbClr val="F5F6F8"/>
          </a:solidFill>
          <a:ln w="12700">
            <a:solidFill>
              <a:srgbClr val="E2E4EA"/>
            </a:solidFill>
            <a:prstDash val="solid"/>
          </a:ln>
        </p:spPr>
      </p:sp>
      <p:sp>
        <p:nvSpPr>
          <p:cNvPr id="16" name="Text 13"/>
          <p:cNvSpPr/>
          <p:nvPr/>
        </p:nvSpPr>
        <p:spPr>
          <a:xfrm>
            <a:off x="6388456" y="4083304"/>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ALL-IN COST OF CGTMSE DEBT</a:t>
            </a:r>
            <a:endParaRPr lang="en-US" sz="850" dirty="0"/>
          </a:p>
        </p:txBody>
      </p:sp>
      <p:sp>
        <p:nvSpPr>
          <p:cNvPr id="17" name="Text 14"/>
          <p:cNvSpPr/>
          <p:nvPr/>
        </p:nvSpPr>
        <p:spPr>
          <a:xfrm>
            <a:off x="6388456" y="4330192"/>
            <a:ext cx="2234108"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12.50%</a:t>
            </a:r>
            <a:endParaRPr lang="en-US" sz="2600" dirty="0"/>
          </a:p>
        </p:txBody>
      </p:sp>
      <p:sp>
        <p:nvSpPr>
          <p:cNvPr id="18" name="Text 15"/>
          <p:cNvSpPr/>
          <p:nvPr/>
        </p:nvSpPr>
        <p:spPr>
          <a:xfrm>
            <a:off x="6388456" y="4805680"/>
            <a:ext cx="2234108" cy="292608"/>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Interest plus guarantee fee</a:t>
            </a:r>
            <a:endParaRPr lang="en-US" sz="950" dirty="0"/>
          </a:p>
        </p:txBody>
      </p:sp>
      <p:sp>
        <p:nvSpPr>
          <p:cNvPr id="19" name="Shape 16"/>
          <p:cNvSpPr/>
          <p:nvPr/>
        </p:nvSpPr>
        <p:spPr>
          <a:xfrm>
            <a:off x="9024899" y="3964432"/>
            <a:ext cx="2599868" cy="1207008"/>
          </a:xfrm>
          <a:prstGeom prst="roundRect">
            <a:avLst>
              <a:gd name="adj" fmla="val 4545"/>
            </a:avLst>
          </a:prstGeom>
          <a:solidFill>
            <a:srgbClr val="F5F6F8"/>
          </a:solidFill>
          <a:ln w="12700">
            <a:solidFill>
              <a:srgbClr val="E2E4EA"/>
            </a:solidFill>
            <a:prstDash val="solid"/>
          </a:ln>
        </p:spPr>
      </p:sp>
      <p:sp>
        <p:nvSpPr>
          <p:cNvPr id="20" name="Text 17"/>
          <p:cNvSpPr/>
          <p:nvPr/>
        </p:nvSpPr>
        <p:spPr>
          <a:xfrm>
            <a:off x="9207779" y="4083304"/>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SPREAD OVER DEBT</a:t>
            </a:r>
            <a:endParaRPr lang="en-US" sz="850" dirty="0"/>
          </a:p>
        </p:txBody>
      </p:sp>
      <p:sp>
        <p:nvSpPr>
          <p:cNvPr id="21" name="Text 18"/>
          <p:cNvSpPr/>
          <p:nvPr/>
        </p:nvSpPr>
        <p:spPr>
          <a:xfrm>
            <a:off x="9207779" y="4330192"/>
            <a:ext cx="2234108" cy="457200"/>
          </a:xfrm>
          <a:prstGeom prst="rect">
            <a:avLst/>
          </a:prstGeom>
          <a:noFill/>
          <a:ln/>
        </p:spPr>
        <p:txBody>
          <a:bodyPr wrap="square" lIns="0" tIns="0" rIns="0" bIns="0" rtlCol="0" anchor="t">
            <a:normAutofit/>
          </a:bodyPr>
          <a:lstStyle/>
          <a:p>
            <a:pPr indent="0" marL="0">
              <a:buNone/>
            </a:pPr>
            <a:r>
              <a:rPr lang="en-US" sz="2600" b="1" dirty="0">
                <a:solidFill>
                  <a:srgbClr val="C8553D"/>
                </a:solidFill>
                <a:latin typeface="Calibri" pitchFamily="34" charset="0"/>
                <a:ea typeface="Calibri" pitchFamily="34" charset="-122"/>
                <a:cs typeface="Calibri" pitchFamily="34" charset="-120"/>
              </a:rPr>
              <a:t>-1.1 pp</a:t>
            </a:r>
            <a:endParaRPr lang="en-US" sz="2600" dirty="0"/>
          </a:p>
        </p:txBody>
      </p:sp>
      <p:sp>
        <p:nvSpPr>
          <p:cNvPr id="22" name="Text 19"/>
          <p:cNvSpPr/>
          <p:nvPr/>
        </p:nvSpPr>
        <p:spPr>
          <a:xfrm>
            <a:off x="9207779" y="4805680"/>
            <a:ext cx="2234108" cy="292608"/>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Below the cost of its own guaranteed debt</a:t>
            </a:r>
            <a:endParaRPr lang="en-US" sz="950" dirty="0"/>
          </a:p>
        </p:txBody>
      </p:sp>
      <p:sp>
        <p:nvSpPr>
          <p:cNvPr id="23" name="Text 20"/>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Scenarios</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One assumption separates a project that should not be bid from one that comfortably clears its cost of capital: how many visitors buy the show.</a:t>
            </a:r>
            <a:endParaRPr lang="en-US" sz="1250" dirty="0"/>
          </a:p>
        </p:txBody>
      </p:sp>
      <p:graphicFrame>
        <p:nvGraphicFramePr>
          <p:cNvPr id="6" name="Chart 0" descr=""/>
          <p:cNvGraphicFramePr/>
          <p:nvPr/>
        </p:nvGraphicFramePr>
        <p:xfrm>
          <a:off x="566928" y="1541272"/>
          <a:ext cx="11057839" cy="19659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3735832"/>
          <a:ext cx="11057839" cy="914400"/>
        </p:xfrm>
        <a:graphic>
          <a:graphicData uri="http://schemas.openxmlformats.org/drawingml/2006/table">
            <a:tbl>
              <a:tblPr/>
              <a:tblGrid>
                <a:gridCol w="3291840"/>
                <a:gridCol w="2588666"/>
                <a:gridCol w="2588666"/>
                <a:gridCol w="2588666"/>
              </a:tblGrid>
              <a:tr h="292608">
                <a:tc>
                  <a:txBody>
                    <a:bodyPr/>
                    <a:lstStyle/>
                    <a:p>
                      <a:pPr algn="l" indent="0" marL="0">
                        <a:buNone/>
                      </a:pP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Downside</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Base case</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BDA's own case</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Year 1 EBITDA</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₹-0.86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₹-0.41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₹0.03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Stabilised revenue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₹3.02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₹3.70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₹4.90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Stabilised EBITDA margin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20.3%</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36.5%</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A1426"/>
                          </a:solidFill>
                          <a:latin typeface="Calibri" pitchFamily="34" charset="0"/>
                          <a:ea typeface="Calibri" pitchFamily="34" charset="-122"/>
                          <a:cs typeface="Calibri" pitchFamily="34" charset="-120"/>
                        </a:rPr>
                        <a:t>Payback</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100" b="1" dirty="0">
                          <a:solidFill>
                            <a:srgbClr val="0A1426"/>
                          </a:solidFill>
                          <a:latin typeface="Calibri" pitchFamily="34" charset="0"/>
                          <a:ea typeface="Calibri" pitchFamily="34" charset="-122"/>
                          <a:cs typeface="Calibri" pitchFamily="34" charset="-120"/>
                        </a:rPr>
                        <a:t>Not within term</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100" b="1" dirty="0">
                          <a:solidFill>
                            <a:srgbClr val="0A1426"/>
                          </a:solidFill>
                          <a:latin typeface="Calibri" pitchFamily="34" charset="0"/>
                          <a:ea typeface="Calibri" pitchFamily="34" charset="-122"/>
                          <a:cs typeface="Calibri" pitchFamily="34" charset="-120"/>
                        </a:rPr>
                        <a:t>7.0 yrs</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100" b="1" dirty="0">
                          <a:solidFill>
                            <a:srgbClr val="0A1426"/>
                          </a:solidFill>
                          <a:latin typeface="Calibri" pitchFamily="34" charset="0"/>
                          <a:ea typeface="Calibri" pitchFamily="34" charset="-122"/>
                          <a:cs typeface="Calibri" pitchFamily="34" charset="-120"/>
                        </a:rPr>
                        <a:t>3.6 yrs</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bl>
          </a:graphicData>
        </a:graphic>
      </p:graphicFrame>
      <p:sp>
        <p:nvSpPr>
          <p:cNvPr id="8" name="Shape 4"/>
          <p:cNvSpPr/>
          <p:nvPr/>
        </p:nvSpPr>
        <p:spPr>
          <a:xfrm>
            <a:off x="566928" y="3836416"/>
            <a:ext cx="11057839" cy="1062299"/>
          </a:xfrm>
          <a:prstGeom prst="roundRect">
            <a:avLst>
              <a:gd name="adj" fmla="val 4304"/>
            </a:avLst>
          </a:prstGeom>
          <a:solidFill>
            <a:srgbClr val="EDFAF4"/>
          </a:solidFill>
          <a:ln w="15875">
            <a:solidFill>
              <a:srgbClr val="10B981"/>
            </a:solidFill>
            <a:prstDash val="solid"/>
          </a:ln>
        </p:spPr>
      </p:sp>
      <p:sp>
        <p:nvSpPr>
          <p:cNvPr id="9" name="Text 5"/>
          <p:cNvSpPr/>
          <p:nvPr/>
        </p:nvSpPr>
        <p:spPr>
          <a:xfrm>
            <a:off x="804672" y="3946144"/>
            <a:ext cx="2743200" cy="182880"/>
          </a:xfrm>
          <a:prstGeom prst="rect">
            <a:avLst/>
          </a:prstGeom>
          <a:noFill/>
          <a:ln/>
        </p:spPr>
        <p:txBody>
          <a:bodyPr wrap="square" lIns="0" tIns="0" rIns="0" bIns="0" rtlCol="0" anchor="ctr"/>
          <a:lstStyle/>
          <a:p>
            <a:pPr indent="0" marL="0">
              <a:buNone/>
            </a:pPr>
            <a:r>
              <a:rPr lang="en-US" sz="850" b="1" spc="160" kern="0" dirty="0">
                <a:solidFill>
                  <a:srgbClr val="10B981"/>
                </a:solidFill>
                <a:latin typeface="Calibri" pitchFamily="34" charset="0"/>
                <a:ea typeface="Calibri" pitchFamily="34" charset="-122"/>
                <a:cs typeface="Calibri" pitchFamily="34" charset="-120"/>
              </a:rPr>
              <a:t>VERDICT</a:t>
            </a:r>
            <a:endParaRPr lang="en-US" sz="850" dirty="0"/>
          </a:p>
        </p:txBody>
      </p:sp>
      <p:sp>
        <p:nvSpPr>
          <p:cNvPr id="10" name="Text 6"/>
          <p:cNvSpPr/>
          <p:nvPr/>
        </p:nvSpPr>
        <p:spPr>
          <a:xfrm>
            <a:off x="804672" y="4129024"/>
            <a:ext cx="10582351" cy="288595"/>
          </a:xfrm>
          <a:prstGeom prst="rect">
            <a:avLst/>
          </a:prstGeom>
          <a:noFill/>
          <a:ln/>
        </p:spPr>
        <p:txBody>
          <a:bodyPr wrap="square" lIns="0" tIns="0" rIns="0" bIns="0" rtlCol="0" anchor="t"/>
          <a:lstStyle/>
          <a:p>
            <a:pPr indent="0" marL="0">
              <a:lnSpc>
                <a:spcPts val="2185"/>
              </a:lnSpc>
              <a:buNone/>
            </a:pPr>
            <a:r>
              <a:rPr lang="en-US" sz="1900" b="1" dirty="0">
                <a:solidFill>
                  <a:srgbClr val="0A1426"/>
                </a:solidFill>
                <a:latin typeface="Calibri" pitchFamily="34" charset="0"/>
                <a:ea typeface="Calibri" pitchFamily="34" charset="-122"/>
                <a:cs typeface="Calibri" pitchFamily="34" charset="-120"/>
              </a:rPr>
              <a:t>BDA's own case works — and it is not implausible</a:t>
            </a:r>
            <a:endParaRPr lang="en-US" sz="1900" dirty="0"/>
          </a:p>
        </p:txBody>
      </p:sp>
      <p:sp>
        <p:nvSpPr>
          <p:cNvPr id="11" name="Text 7"/>
          <p:cNvSpPr/>
          <p:nvPr/>
        </p:nvSpPr>
        <p:spPr>
          <a:xfrm>
            <a:off x="804672" y="4472483"/>
            <a:ext cx="10582351" cy="353080"/>
          </a:xfrm>
          <a:prstGeom prst="rect">
            <a:avLst/>
          </a:prstGeom>
          <a:noFill/>
          <a:ln/>
        </p:spPr>
        <p:txBody>
          <a:bodyPr wrap="square" lIns="0" tIns="0" rIns="0" bIns="0" rtlCol="0" anchor="t"/>
          <a:lstStyle/>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On BDA's own assumptions the project returns 36.1%. Bid a price that survives the base case and rewards the BDA case.</a:t>
            </a:r>
            <a:endParaRPr lang="en-US" sz="1200" dirty="0"/>
          </a:p>
        </p:txBody>
      </p:sp>
      <p:sp>
        <p:nvSpPr>
          <p:cNvPr id="12" name="Text 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Option A · Equity</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Sized to the true capital requirement rather than the gross facility, and valued at exit on the discounted cash flow still to come over the balance of the concession.</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541272"/>
          <a:ext cx="11057839" cy="914400"/>
        </p:xfrm>
        <a:graphic>
          <a:graphicData uri="http://schemas.openxmlformats.org/drawingml/2006/table">
            <a:tbl>
              <a:tblPr/>
              <a:tblGrid>
                <a:gridCol w="6766560"/>
                <a:gridCol w="4291279"/>
              </a:tblGrid>
              <a:tr h="329184">
                <a:tc>
                  <a:txBody>
                    <a:bodyPr/>
                    <a:lstStyle/>
                    <a:p>
                      <a:pPr algn="l" indent="0" marL="0">
                        <a:buNone/>
                      </a:pPr>
                      <a:r>
                        <a:rPr lang="en-US" sz="950" b="1" spc="100" kern="0" dirty="0">
                          <a:solidFill>
                            <a:srgbClr val="6E7689"/>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Structure</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Capital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₹2.36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Stake offered</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Exit</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End of year 7, at ₹2.19 Cr of project equity value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0A1426"/>
                          </a:solidFill>
                          <a:latin typeface="Calibri" pitchFamily="34" charset="0"/>
                          <a:ea typeface="Calibri" pitchFamily="34" charset="-122"/>
                          <a:cs typeface="Calibri" pitchFamily="34" charset="-120"/>
                        </a:rPr>
                        <a:t>Investor IRR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100" b="1" dirty="0">
                          <a:solidFill>
                            <a:srgbClr val="0A1426"/>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r h="329184">
                <a:tc>
                  <a:txBody>
                    <a:bodyPr/>
                    <a:lstStyle/>
                    <a:p>
                      <a:pPr algn="l" indent="0" marL="0">
                        <a:buNone/>
                      </a:pPr>
                      <a:r>
                        <a:rPr lang="en-US" sz="1100" b="1" dirty="0">
                          <a:solidFill>
                            <a:srgbClr val="0A1426"/>
                          </a:solidFill>
                          <a:latin typeface="Calibri" pitchFamily="34" charset="0"/>
                          <a:ea typeface="Calibri" pitchFamily="34" charset="-122"/>
                          <a:cs typeface="Calibri" pitchFamily="34" charset="-120"/>
                        </a:rPr>
                        <a:t>Stake needed to clear a 22% hurdle</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100" b="1" dirty="0">
                          <a:solidFill>
                            <a:srgbClr val="0A1426"/>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bl>
          </a:graphicData>
        </a:graphic>
      </p:graphicFrame>
      <p:sp>
        <p:nvSpPr>
          <p:cNvPr id="7" name="Shape 4"/>
          <p:cNvSpPr/>
          <p:nvPr/>
        </p:nvSpPr>
        <p:spPr>
          <a:xfrm>
            <a:off x="566928" y="3900424"/>
            <a:ext cx="11057839" cy="1737492"/>
          </a:xfrm>
          <a:prstGeom prst="roundRect">
            <a:avLst>
              <a:gd name="adj" fmla="val 2631"/>
            </a:avLst>
          </a:prstGeom>
          <a:solidFill>
            <a:srgbClr val="FBEFEC"/>
          </a:solidFill>
          <a:ln w="15875">
            <a:solidFill>
              <a:srgbClr val="C8553D"/>
            </a:solidFill>
            <a:prstDash val="solid"/>
          </a:ln>
        </p:spPr>
      </p:sp>
      <p:sp>
        <p:nvSpPr>
          <p:cNvPr id="8" name="Text 5"/>
          <p:cNvSpPr/>
          <p:nvPr/>
        </p:nvSpPr>
        <p:spPr>
          <a:xfrm>
            <a:off x="804672" y="4010152"/>
            <a:ext cx="2743200" cy="182880"/>
          </a:xfrm>
          <a:prstGeom prst="rect">
            <a:avLst/>
          </a:prstGeom>
          <a:noFill/>
          <a:ln/>
        </p:spPr>
        <p:txBody>
          <a:bodyPr wrap="square" lIns="0" tIns="0" rIns="0" bIns="0" rtlCol="0" anchor="ctr"/>
          <a:lstStyle/>
          <a:p>
            <a:pPr indent="0" marL="0">
              <a:buNone/>
            </a:pPr>
            <a:r>
              <a:rPr lang="en-US" sz="850" b="1" spc="160" kern="0" dirty="0">
                <a:solidFill>
                  <a:srgbClr val="C8553D"/>
                </a:solidFill>
                <a:latin typeface="Calibri" pitchFamily="34" charset="0"/>
                <a:ea typeface="Calibri" pitchFamily="34" charset="-122"/>
                <a:cs typeface="Calibri" pitchFamily="34" charset="-120"/>
              </a:rPr>
              <a:t>VERDICT</a:t>
            </a:r>
            <a:endParaRPr lang="en-US" sz="850" dirty="0"/>
          </a:p>
        </p:txBody>
      </p:sp>
      <p:sp>
        <p:nvSpPr>
          <p:cNvPr id="9" name="Text 6"/>
          <p:cNvSpPr/>
          <p:nvPr/>
        </p:nvSpPr>
        <p:spPr>
          <a:xfrm>
            <a:off x="804672" y="4193032"/>
            <a:ext cx="10582351" cy="288595"/>
          </a:xfrm>
          <a:prstGeom prst="rect">
            <a:avLst/>
          </a:prstGeom>
          <a:noFill/>
          <a:ln/>
        </p:spPr>
        <p:txBody>
          <a:bodyPr wrap="square" lIns="0" tIns="0" rIns="0" bIns="0" rtlCol="0" anchor="t"/>
          <a:lstStyle/>
          <a:p>
            <a:pPr indent="0" marL="0">
              <a:lnSpc>
                <a:spcPts val="2185"/>
              </a:lnSpc>
              <a:buNone/>
            </a:pPr>
            <a:r>
              <a:rPr lang="en-US" sz="1900" b="1" dirty="0">
                <a:solidFill>
                  <a:srgbClr val="0A1426"/>
                </a:solidFill>
                <a:latin typeface="Calibri" pitchFamily="34" charset="0"/>
                <a:ea typeface="Calibri" pitchFamily="34" charset="-122"/>
                <a:cs typeface="Calibri" pitchFamily="34" charset="-120"/>
              </a:rPr>
              <a:t>The arithmetic does not work — and it needs BDA's consent</a:t>
            </a:r>
            <a:endParaRPr lang="en-US" sz="1900" dirty="0"/>
          </a:p>
        </p:txBody>
      </p:sp>
      <p:sp>
        <p:nvSpPr>
          <p:cNvPr id="10" name="Text 7"/>
          <p:cNvSpPr/>
          <p:nvPr/>
        </p:nvSpPr>
        <p:spPr>
          <a:xfrm>
            <a:off x="804672" y="4536491"/>
            <a:ext cx="10582351" cy="1028273"/>
          </a:xfrm>
          <a:prstGeom prst="rect">
            <a:avLst/>
          </a:prstGeom>
          <a:noFill/>
          <a:ln/>
        </p:spPr>
        <p:txBody>
          <a:bodyPr wrap="square" lIns="0" tIns="0" rIns="0" bIns="0" rtlCol="0" anchor="t"/>
          <a:lstStyle/>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At 70% of the project an investor earns 5.4%; a 22% hurdle would take 100% — the whole project and then some.</a:t>
            </a:r>
            <a:endParaRPr lang="en-US" sz="1200" dirty="0"/>
          </a:p>
          <a:p>
            <a:pPr indent="0" marL="0">
              <a:lnSpc>
                <a:spcPts val="1704"/>
              </a:lnSpc>
              <a:buNone/>
            </a:pPr>
            <a:endParaRPr lang="en-US" sz="1200" dirty="0"/>
          </a:p>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Any structure that changes VAPPL's shareholding also needs BDA's prior written approval during the lock-in, with forfeiture of the performance security as the stated consequence. The equity conversation starts at BDA's office.</a:t>
            </a:r>
            <a:endParaRPr lang="en-US" sz="1200" dirty="0"/>
          </a:p>
        </p:txBody>
      </p:sp>
      <p:sp>
        <p:nvSpPr>
          <p:cNvPr id="11" name="Text 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Option B · Debt under CGTMSE</a:t>
            </a:r>
            <a:endParaRPr lang="en-US" sz="3000" dirty="0"/>
          </a:p>
        </p:txBody>
      </p:sp>
      <p:sp>
        <p:nvSpPr>
          <p:cNvPr id="5" name="Text 3"/>
          <p:cNvSpPr/>
          <p:nvPr/>
        </p:nvSpPr>
        <p:spPr>
          <a:xfrm>
            <a:off x="566928" y="950976"/>
            <a:ext cx="11057839" cy="46228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The RFP forbids any charge over the Vatika. That is not an obstacle to a CGTMSE facility — it is the reason to use one. The guarantee replaces the security the contract will not allow.</a:t>
            </a:r>
            <a:endParaRPr lang="en-US" sz="1250" dirty="0"/>
          </a:p>
        </p:txBody>
      </p:sp>
      <p:graphicFrame>
        <p:nvGraphicFramePr>
          <p:cNvPr id="6" name="Chart 0" descr=""/>
          <p:cNvGraphicFramePr/>
          <p:nvPr/>
        </p:nvGraphicFramePr>
        <p:xfrm>
          <a:off x="566928" y="1541272"/>
          <a:ext cx="11057839" cy="1874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 y="3616960"/>
            <a:ext cx="2599868" cy="1152144"/>
          </a:xfrm>
          <a:prstGeom prst="roundRect">
            <a:avLst>
              <a:gd name="adj" fmla="val 4762"/>
            </a:avLst>
          </a:prstGeom>
          <a:solidFill>
            <a:srgbClr val="F5F6F8"/>
          </a:solidFill>
          <a:ln w="12700">
            <a:solidFill>
              <a:srgbClr val="E2E4EA"/>
            </a:solidFill>
            <a:prstDash val="solid"/>
          </a:ln>
        </p:spPr>
      </p:sp>
      <p:sp>
        <p:nvSpPr>
          <p:cNvPr id="8" name="Text 5"/>
          <p:cNvSpPr/>
          <p:nvPr/>
        </p:nvSpPr>
        <p:spPr>
          <a:xfrm>
            <a:off x="749808" y="3735832"/>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TOTAL FACILITY</a:t>
            </a:r>
            <a:endParaRPr lang="en-US" sz="850" dirty="0"/>
          </a:p>
        </p:txBody>
      </p:sp>
      <p:sp>
        <p:nvSpPr>
          <p:cNvPr id="9" name="Text 6"/>
          <p:cNvSpPr/>
          <p:nvPr/>
        </p:nvSpPr>
        <p:spPr>
          <a:xfrm>
            <a:off x="749808" y="3982720"/>
            <a:ext cx="2234108"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₹4.17 Cr</a:t>
            </a:r>
            <a:endParaRPr lang="en-US" sz="2600" dirty="0"/>
          </a:p>
        </p:txBody>
      </p:sp>
      <p:sp>
        <p:nvSpPr>
          <p:cNvPr id="10" name="Text 7"/>
          <p:cNvSpPr/>
          <p:nvPr/>
        </p:nvSpPr>
        <p:spPr>
          <a:xfrm>
            <a:off x="749808" y="4458208"/>
            <a:ext cx="2234108" cy="237744"/>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Term loan ₹1.89 Cr + working capital ₹2.27 Cr</a:t>
            </a:r>
            <a:endParaRPr lang="en-US" sz="950" dirty="0"/>
          </a:p>
        </p:txBody>
      </p:sp>
      <p:sp>
        <p:nvSpPr>
          <p:cNvPr id="11" name="Shape 8"/>
          <p:cNvSpPr/>
          <p:nvPr/>
        </p:nvSpPr>
        <p:spPr>
          <a:xfrm>
            <a:off x="3386252" y="3616960"/>
            <a:ext cx="2599868" cy="1152144"/>
          </a:xfrm>
          <a:prstGeom prst="roundRect">
            <a:avLst>
              <a:gd name="adj" fmla="val 4762"/>
            </a:avLst>
          </a:prstGeom>
          <a:solidFill>
            <a:srgbClr val="F5F6F8"/>
          </a:solidFill>
          <a:ln w="12700">
            <a:solidFill>
              <a:srgbClr val="E2E4EA"/>
            </a:solidFill>
            <a:prstDash val="solid"/>
          </a:ln>
        </p:spPr>
      </p:sp>
      <p:sp>
        <p:nvSpPr>
          <p:cNvPr id="12" name="Text 9"/>
          <p:cNvSpPr/>
          <p:nvPr/>
        </p:nvSpPr>
        <p:spPr>
          <a:xfrm>
            <a:off x="3569132" y="3735832"/>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ALL-IN RATE</a:t>
            </a:r>
            <a:endParaRPr lang="en-US" sz="850" dirty="0"/>
          </a:p>
        </p:txBody>
      </p:sp>
      <p:sp>
        <p:nvSpPr>
          <p:cNvPr id="13" name="Text 10"/>
          <p:cNvSpPr/>
          <p:nvPr/>
        </p:nvSpPr>
        <p:spPr>
          <a:xfrm>
            <a:off x="3569132" y="3982720"/>
            <a:ext cx="2234108" cy="457200"/>
          </a:xfrm>
          <a:prstGeom prst="rect">
            <a:avLst/>
          </a:prstGeom>
          <a:noFill/>
          <a:ln/>
        </p:spPr>
        <p:txBody>
          <a:bodyPr wrap="square" lIns="0" tIns="0" rIns="0" bIns="0" rtlCol="0" anchor="t">
            <a:normAutofit/>
          </a:bodyPr>
          <a:lstStyle/>
          <a:p>
            <a:pPr indent="0" marL="0">
              <a:buNone/>
            </a:pPr>
            <a:r>
              <a:rPr lang="en-US" sz="2000" b="1" dirty="0">
                <a:solidFill>
                  <a:srgbClr val="0A1426"/>
                </a:solidFill>
                <a:latin typeface="Calibri" pitchFamily="34" charset="0"/>
                <a:ea typeface="Calibri" pitchFamily="34" charset="-122"/>
                <a:cs typeface="Calibri" pitchFamily="34" charset="-120"/>
              </a:rPr>
              <a:t>11.50% + 1.00%</a:t>
            </a:r>
            <a:endParaRPr lang="en-US" sz="2000" dirty="0"/>
          </a:p>
        </p:txBody>
      </p:sp>
      <p:sp>
        <p:nvSpPr>
          <p:cNvPr id="14" name="Text 11"/>
          <p:cNvSpPr/>
          <p:nvPr/>
        </p:nvSpPr>
        <p:spPr>
          <a:xfrm>
            <a:off x="3569132" y="4458208"/>
            <a:ext cx="2234108" cy="237744"/>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Interest plus annual guarantee fee</a:t>
            </a:r>
            <a:endParaRPr lang="en-US" sz="950" dirty="0"/>
          </a:p>
        </p:txBody>
      </p:sp>
      <p:sp>
        <p:nvSpPr>
          <p:cNvPr id="15" name="Shape 12"/>
          <p:cNvSpPr/>
          <p:nvPr/>
        </p:nvSpPr>
        <p:spPr>
          <a:xfrm>
            <a:off x="6205576" y="3616960"/>
            <a:ext cx="2599868" cy="1152144"/>
          </a:xfrm>
          <a:prstGeom prst="roundRect">
            <a:avLst>
              <a:gd name="adj" fmla="val 4762"/>
            </a:avLst>
          </a:prstGeom>
          <a:solidFill>
            <a:srgbClr val="F5F6F8"/>
          </a:solidFill>
          <a:ln w="12700">
            <a:solidFill>
              <a:srgbClr val="E2E4EA"/>
            </a:solidFill>
            <a:prstDash val="solid"/>
          </a:ln>
        </p:spPr>
      </p:sp>
      <p:sp>
        <p:nvSpPr>
          <p:cNvPr id="16" name="Text 13"/>
          <p:cNvSpPr/>
          <p:nvPr/>
        </p:nvSpPr>
        <p:spPr>
          <a:xfrm>
            <a:off x="6388456" y="3735832"/>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MINIMUM DSCR</a:t>
            </a:r>
            <a:endParaRPr lang="en-US" sz="850" dirty="0"/>
          </a:p>
        </p:txBody>
      </p:sp>
      <p:sp>
        <p:nvSpPr>
          <p:cNvPr id="17" name="Text 14"/>
          <p:cNvSpPr/>
          <p:nvPr/>
        </p:nvSpPr>
        <p:spPr>
          <a:xfrm>
            <a:off x="6388456" y="3982720"/>
            <a:ext cx="2234108" cy="457200"/>
          </a:xfrm>
          <a:prstGeom prst="rect">
            <a:avLst/>
          </a:prstGeom>
          <a:noFill/>
          <a:ln/>
        </p:spPr>
        <p:txBody>
          <a:bodyPr wrap="square" lIns="0" tIns="0" rIns="0" bIns="0" rtlCol="0" anchor="t">
            <a:normAutofit/>
          </a:bodyPr>
          <a:lstStyle/>
          <a:p>
            <a:pPr indent="0" marL="0">
              <a:buNone/>
            </a:pPr>
            <a:r>
              <a:rPr lang="en-US" sz="2600" b="1" dirty="0">
                <a:solidFill>
                  <a:srgbClr val="C8553D"/>
                </a:solidFill>
                <a:latin typeface="Calibri" pitchFamily="34" charset="0"/>
                <a:ea typeface="Calibri" pitchFamily="34" charset="-122"/>
                <a:cs typeface="Calibri" pitchFamily="34" charset="-120"/>
              </a:rPr>
              <a:t>1.09×</a:t>
            </a:r>
            <a:endParaRPr lang="en-US" sz="2600" dirty="0"/>
          </a:p>
        </p:txBody>
      </p:sp>
      <p:sp>
        <p:nvSpPr>
          <p:cNvPr id="18" name="Text 15"/>
          <p:cNvSpPr/>
          <p:nvPr/>
        </p:nvSpPr>
        <p:spPr>
          <a:xfrm>
            <a:off x="6388456" y="4458208"/>
            <a:ext cx="2234108" cy="237744"/>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After the 4-year moratorium. Banks underwrite to 1.30×</a:t>
            </a:r>
            <a:endParaRPr lang="en-US" sz="950" dirty="0"/>
          </a:p>
        </p:txBody>
      </p:sp>
      <p:sp>
        <p:nvSpPr>
          <p:cNvPr id="19" name="Shape 16"/>
          <p:cNvSpPr/>
          <p:nvPr/>
        </p:nvSpPr>
        <p:spPr>
          <a:xfrm>
            <a:off x="9024899" y="3616960"/>
            <a:ext cx="2599868" cy="1152144"/>
          </a:xfrm>
          <a:prstGeom prst="roundRect">
            <a:avLst>
              <a:gd name="adj" fmla="val 4762"/>
            </a:avLst>
          </a:prstGeom>
          <a:solidFill>
            <a:srgbClr val="F5F6F8"/>
          </a:solidFill>
          <a:ln w="12700">
            <a:solidFill>
              <a:srgbClr val="E2E4EA"/>
            </a:solidFill>
            <a:prstDash val="solid"/>
          </a:ln>
        </p:spPr>
      </p:sp>
      <p:sp>
        <p:nvSpPr>
          <p:cNvPr id="20" name="Text 17"/>
          <p:cNvSpPr/>
          <p:nvPr/>
        </p:nvSpPr>
        <p:spPr>
          <a:xfrm>
            <a:off x="9207779" y="3735832"/>
            <a:ext cx="2234108" cy="237744"/>
          </a:xfrm>
          <a:prstGeom prst="rect">
            <a:avLst/>
          </a:prstGeom>
          <a:noFill/>
          <a:ln/>
        </p:spPr>
        <p:txBody>
          <a:bodyPr wrap="square" lIns="0" tIns="0" rIns="0" bIns="0" rtlCol="0" anchor="t"/>
          <a:lstStyle/>
          <a:p>
            <a:pPr indent="0" marL="0">
              <a:buNone/>
            </a:pPr>
            <a:r>
              <a:rPr lang="en-US" sz="850" b="1" spc="100" kern="0" dirty="0">
                <a:solidFill>
                  <a:srgbClr val="6E7689"/>
                </a:solidFill>
                <a:latin typeface="Calibri" pitchFamily="34" charset="0"/>
                <a:ea typeface="Calibri" pitchFamily="34" charset="-122"/>
                <a:cs typeface="Calibri" pitchFamily="34" charset="-120"/>
              </a:rPr>
              <a:t>DEBT CAPACITY</a:t>
            </a:r>
            <a:endParaRPr lang="en-US" sz="850" dirty="0"/>
          </a:p>
        </p:txBody>
      </p:sp>
      <p:sp>
        <p:nvSpPr>
          <p:cNvPr id="21" name="Text 18"/>
          <p:cNvSpPr/>
          <p:nvPr/>
        </p:nvSpPr>
        <p:spPr>
          <a:xfrm>
            <a:off x="9207779" y="3982720"/>
            <a:ext cx="2234108" cy="457200"/>
          </a:xfrm>
          <a:prstGeom prst="rect">
            <a:avLst/>
          </a:prstGeom>
          <a:noFill/>
          <a:ln/>
        </p:spPr>
        <p:txBody>
          <a:bodyPr wrap="square" lIns="0" tIns="0" rIns="0" bIns="0" rtlCol="0" anchor="t">
            <a:normAutofit/>
          </a:bodyPr>
          <a:lstStyle/>
          <a:p>
            <a:pPr indent="0" marL="0">
              <a:buNone/>
            </a:pPr>
            <a:r>
              <a:rPr lang="en-US" sz="2600" b="1" dirty="0">
                <a:solidFill>
                  <a:srgbClr val="0A1426"/>
                </a:solidFill>
                <a:latin typeface="Calibri" pitchFamily="34" charset="0"/>
                <a:ea typeface="Calibri" pitchFamily="34" charset="-122"/>
                <a:cs typeface="Calibri" pitchFamily="34" charset="-120"/>
              </a:rPr>
              <a:t>₹3.40 Cr</a:t>
            </a:r>
            <a:endParaRPr lang="en-US" sz="2600" dirty="0"/>
          </a:p>
        </p:txBody>
      </p:sp>
      <p:sp>
        <p:nvSpPr>
          <p:cNvPr id="22" name="Text 19"/>
          <p:cNvSpPr/>
          <p:nvPr/>
        </p:nvSpPr>
        <p:spPr>
          <a:xfrm>
            <a:off x="9207779" y="4458208"/>
            <a:ext cx="2234108" cy="237744"/>
          </a:xfrm>
          <a:prstGeom prst="rect">
            <a:avLst/>
          </a:prstGeom>
          <a:noFill/>
          <a:ln/>
        </p:spPr>
        <p:txBody>
          <a:bodyPr wrap="square" lIns="0" tIns="0" rIns="0" bIns="0" rtlCol="0" anchor="t"/>
          <a:lstStyle/>
          <a:p>
            <a:pPr indent="0" marL="0">
              <a:lnSpc>
                <a:spcPts val="1250"/>
              </a:lnSpc>
              <a:buNone/>
            </a:pPr>
            <a:r>
              <a:rPr lang="en-US" sz="950" dirty="0">
                <a:solidFill>
                  <a:srgbClr val="6E7689"/>
                </a:solidFill>
                <a:latin typeface="Calibri" pitchFamily="34" charset="0"/>
                <a:ea typeface="Calibri" pitchFamily="34" charset="-122"/>
                <a:cs typeface="Calibri" pitchFamily="34" charset="-120"/>
              </a:rPr>
              <a:t>Most the project services at a 1.3× floor</a:t>
            </a:r>
            <a:endParaRPr lang="en-US" sz="950" dirty="0"/>
          </a:p>
        </p:txBody>
      </p:sp>
      <p:sp>
        <p:nvSpPr>
          <p:cNvPr id="23" name="Shape 20"/>
          <p:cNvSpPr/>
          <p:nvPr/>
        </p:nvSpPr>
        <p:spPr>
          <a:xfrm>
            <a:off x="566928" y="5061712"/>
            <a:ext cx="11057839" cy="1287363"/>
          </a:xfrm>
          <a:prstGeom prst="roundRect">
            <a:avLst>
              <a:gd name="adj" fmla="val 3551"/>
            </a:avLst>
          </a:prstGeom>
          <a:solidFill>
            <a:srgbClr val="FBEFEC"/>
          </a:solidFill>
          <a:ln w="15875">
            <a:solidFill>
              <a:srgbClr val="C8553D"/>
            </a:solidFill>
            <a:prstDash val="solid"/>
          </a:ln>
        </p:spPr>
      </p:sp>
      <p:sp>
        <p:nvSpPr>
          <p:cNvPr id="24" name="Text 21"/>
          <p:cNvSpPr/>
          <p:nvPr/>
        </p:nvSpPr>
        <p:spPr>
          <a:xfrm>
            <a:off x="804672" y="5171440"/>
            <a:ext cx="2743200" cy="182880"/>
          </a:xfrm>
          <a:prstGeom prst="rect">
            <a:avLst/>
          </a:prstGeom>
          <a:noFill/>
          <a:ln/>
        </p:spPr>
        <p:txBody>
          <a:bodyPr wrap="square" lIns="0" tIns="0" rIns="0" bIns="0" rtlCol="0" anchor="ctr"/>
          <a:lstStyle/>
          <a:p>
            <a:pPr indent="0" marL="0">
              <a:buNone/>
            </a:pPr>
            <a:r>
              <a:rPr lang="en-US" sz="850" b="1" spc="160" kern="0" dirty="0">
                <a:solidFill>
                  <a:srgbClr val="C8553D"/>
                </a:solidFill>
                <a:latin typeface="Calibri" pitchFamily="34" charset="0"/>
                <a:ea typeface="Calibri" pitchFamily="34" charset="-122"/>
                <a:cs typeface="Calibri" pitchFamily="34" charset="-120"/>
              </a:rPr>
              <a:t>VERDICT</a:t>
            </a:r>
            <a:endParaRPr lang="en-US" sz="850" dirty="0"/>
          </a:p>
        </p:txBody>
      </p:sp>
      <p:sp>
        <p:nvSpPr>
          <p:cNvPr id="25" name="Text 22"/>
          <p:cNvSpPr/>
          <p:nvPr/>
        </p:nvSpPr>
        <p:spPr>
          <a:xfrm>
            <a:off x="804672" y="5354320"/>
            <a:ext cx="10582351" cy="288595"/>
          </a:xfrm>
          <a:prstGeom prst="rect">
            <a:avLst/>
          </a:prstGeom>
          <a:noFill/>
          <a:ln/>
        </p:spPr>
        <p:txBody>
          <a:bodyPr wrap="square" lIns="0" tIns="0" rIns="0" bIns="0" rtlCol="0" anchor="t"/>
          <a:lstStyle/>
          <a:p>
            <a:pPr indent="0" marL="0">
              <a:lnSpc>
                <a:spcPts val="2185"/>
              </a:lnSpc>
              <a:buNone/>
            </a:pPr>
            <a:r>
              <a:rPr lang="en-US" sz="1900" b="1" dirty="0">
                <a:solidFill>
                  <a:srgbClr val="0A1426"/>
                </a:solidFill>
                <a:latin typeface="Calibri" pitchFamily="34" charset="0"/>
                <a:ea typeface="Calibri" pitchFamily="34" charset="-122"/>
                <a:cs typeface="Calibri" pitchFamily="34" charset="-120"/>
              </a:rPr>
              <a:t>The facility as briefed does not clear a bank's coverage test</a:t>
            </a:r>
            <a:endParaRPr lang="en-US" sz="1900" dirty="0"/>
          </a:p>
        </p:txBody>
      </p:sp>
      <p:sp>
        <p:nvSpPr>
          <p:cNvPr id="26" name="Text 23"/>
          <p:cNvSpPr/>
          <p:nvPr/>
        </p:nvSpPr>
        <p:spPr>
          <a:xfrm>
            <a:off x="804672" y="5697779"/>
            <a:ext cx="10582351" cy="578145"/>
          </a:xfrm>
          <a:prstGeom prst="rect">
            <a:avLst/>
          </a:prstGeom>
          <a:noFill/>
          <a:ln/>
        </p:spPr>
        <p:txBody>
          <a:bodyPr wrap="square" lIns="0" tIns="0" rIns="0" bIns="0" rtlCol="0" anchor="t"/>
          <a:lstStyle/>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At ₹4.17 Cr the minimum post-moratorium DSCR is 1.09×; banks underwrite to 1.30×. The workable structure sanctions ₹4.17 Cr but commits ₹3.40 Cr. Two full years of opex presented as committed term money will be declined.</a:t>
            </a:r>
            <a:endParaRPr lang="en-US" sz="1200" dirty="0"/>
          </a:p>
        </p:txBody>
      </p:sp>
      <p:sp>
        <p:nvSpPr>
          <p:cNvPr id="27" name="Text 24"/>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Option C · Debt converted to equity</a:t>
            </a:r>
            <a:endParaRPr lang="en-US" sz="3000" dirty="0"/>
          </a:p>
        </p:txBody>
      </p:sp>
      <p:sp>
        <p:nvSpPr>
          <p:cNvPr id="5" name="Text 3"/>
          <p:cNvSpPr/>
          <p:nvPr/>
        </p:nvSpPr>
        <p:spPr>
          <a:xfrm>
            <a:off x="566928" y="950976"/>
            <a:ext cx="11057839" cy="231140"/>
          </a:xfrm>
          <a:prstGeom prst="rect">
            <a:avLst/>
          </a:prstGeom>
          <a:noFill/>
          <a:ln/>
        </p:spPr>
        <p:txBody>
          <a:bodyPr wrap="square" lIns="0" tIns="0" rIns="0" bIns="0" rtlCol="0" anchor="t"/>
          <a:lstStyle/>
          <a:p>
            <a:pPr indent="0" marL="0">
              <a:lnSpc>
                <a:spcPts val="1750"/>
              </a:lnSpc>
              <a:buNone/>
            </a:pPr>
            <a:r>
              <a:rPr lang="en-US" sz="1250" dirty="0">
                <a:solidFill>
                  <a:srgbClr val="3B4660"/>
                </a:solidFill>
                <a:latin typeface="Calibri" pitchFamily="34" charset="0"/>
                <a:ea typeface="Calibri" pitchFamily="34" charset="-122"/>
                <a:cs typeface="Calibri" pitchFamily="34" charset="-120"/>
              </a:rPr>
              <a:t>Money in as debt, a coupon while the park ramps, compulsory conversion into equity on a fixed formula.</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310132"/>
          <a:ext cx="11057839" cy="914400"/>
        </p:xfrm>
        <a:graphic>
          <a:graphicData uri="http://schemas.openxmlformats.org/drawingml/2006/table">
            <a:tbl>
              <a:tblPr/>
              <a:tblGrid>
                <a:gridCol w="7680960"/>
                <a:gridCol w="3376879"/>
              </a:tblGrid>
              <a:tr h="329184">
                <a:tc>
                  <a:txBody>
                    <a:bodyPr/>
                    <a:lstStyle/>
                    <a:p>
                      <a:pPr algn="l" indent="0" marL="0">
                        <a:buNone/>
                      </a:pPr>
                      <a:r>
                        <a:rPr lang="en-US" sz="950" b="1" spc="100" kern="0" dirty="0">
                          <a:solidFill>
                            <a:srgbClr val="6E7689"/>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c>
                  <a:txBody>
                    <a:bodyPr/>
                    <a:lstStyle/>
                    <a:p>
                      <a:pPr algn="r" indent="0" marL="0">
                        <a:buNone/>
                      </a:pPr>
                      <a:r>
                        <a:rPr lang="en-US" sz="950" b="1" spc="100" kern="0" dirty="0">
                          <a:solidFill>
                            <a:srgbClr val="6E7689"/>
                          </a:solidFill>
                          <a:latin typeface="Calibri" pitchFamily="34" charset="0"/>
                          <a:ea typeface="Calibri" pitchFamily="34" charset="-122"/>
                          <a:cs typeface="Calibri" pitchFamily="34" charset="-120"/>
                        </a:rPr>
                        <a:t>Structure</a:t>
                      </a:r>
                      <a:endParaRPr lang="en-US" sz="950" dirty="0">
                        <a:latin typeface="Calibri" charset="0"/>
                        <a:ea typeface="Calibri" charset="0"/>
                        <a:cs typeface="Calibri" charset="0"/>
                      </a:endParaRPr>
                    </a:p>
                  </a:txBody>
                  <a:tcPr marL="0" marR="76200" marT="25400" marB="63500" anchor="b">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17780" cap="flat" cmpd="sng" algn="ctr">
                      <a:solidFill>
                        <a:srgbClr val="0A1426"/>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₹2.36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Coupon, annual until conversion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Conversion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End of year 4, into 65% of project equity</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dirty="0">
                          <a:solidFill>
                            <a:srgbClr val="3B4660"/>
                          </a:solidFill>
                          <a:latin typeface="Calibri" pitchFamily="34" charset="0"/>
                          <a:ea typeface="Calibri" pitchFamily="34" charset="-122"/>
                          <a:cs typeface="Calibri" pitchFamily="34" charset="-120"/>
                        </a:rPr>
                        <a:t>Coupon paid to conversion</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B4660"/>
                          </a:solidFill>
                          <a:latin typeface="Calibri" pitchFamily="34" charset="0"/>
                          <a:ea typeface="Calibri" pitchFamily="34" charset="-122"/>
                          <a:cs typeface="Calibri" pitchFamily="34" charset="-120"/>
                        </a:rPr>
                        <a:t>₹0.75 Cr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FFFFF"/>
                    </a:solidFill>
                  </a:tcPr>
                </a:tc>
              </a:tr>
              <a:tr h="329184">
                <a:tc>
                  <a:txBody>
                    <a:bodyPr/>
                    <a:lstStyle/>
                    <a:p>
                      <a:pPr algn="l" indent="0" marL="0">
                        <a:buNone/>
                      </a:pPr>
                      <a:r>
                        <a:rPr lang="en-US" sz="1100" b="1" dirty="0">
                          <a:solidFill>
                            <a:srgbClr val="0A1426"/>
                          </a:solidFill>
                          <a:latin typeface="Calibri" pitchFamily="34" charset="0"/>
                          <a:ea typeface="Calibri" pitchFamily="34" charset="-122"/>
                          <a:cs typeface="Calibri" pitchFamily="34" charset="-120"/>
                        </a:rPr>
                        <a:t>Investor IRR</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c>
                  <a:txBody>
                    <a:bodyPr/>
                    <a:lstStyle/>
                    <a:p>
                      <a:pPr algn="r" indent="0" marL="0">
                        <a:buNone/>
                      </a:pPr>
                      <a:r>
                        <a:rPr lang="en-US" sz="1100" b="1" dirty="0">
                          <a:solidFill>
                            <a:srgbClr val="0A1426"/>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marL="0" marR="76200" marT="63500" marB="63500" anchor="ctr">
                    <a:lnL w="0" cap="flat" cmpd="sng" algn="ctr">
                      <a:solidFill>
                        <a:srgbClr val="666666"/>
                      </a:solidFill>
                      <a:prstDash val="solid"/>
                      <a:round/>
                      <a:headEnd type="none" w="med" len="med"/>
                      <a:tailEnd type="none" w="med" len="med"/>
                    </a:lnL>
                    <a:lnR w="0" cap="flat" cmpd="sng" algn="ctr">
                      <a:solidFill>
                        <a:srgbClr val="666666"/>
                      </a:solidFill>
                      <a:prstDash val="solid"/>
                      <a:round/>
                      <a:headEnd type="none" w="med" len="med"/>
                      <a:tailEnd type="none" w="med" len="med"/>
                    </a:lnR>
                    <a:lnT w="0" cap="flat" cmpd="sng" algn="ctr">
                      <a:solidFill>
                        <a:srgbClr val="666666"/>
                      </a:solidFill>
                      <a:prstDash val="solid"/>
                      <a:round/>
                      <a:headEnd type="none" w="med" len="med"/>
                      <a:tailEnd type="none" w="med" len="med"/>
                    </a:lnT>
                    <a:lnB w="7620" cap="flat" cmpd="sng" algn="ctr">
                      <a:solidFill>
                        <a:srgbClr val="E2E4EA"/>
                      </a:solidFill>
                      <a:prstDash val="solid"/>
                      <a:round/>
                      <a:headEnd type="none" w="med" len="med"/>
                      <a:tailEnd type="none" w="med" len="med"/>
                    </a:lnB>
                    <a:solidFill>
                      <a:srgbClr val="FBF1EE"/>
                    </a:solidFill>
                  </a:tcPr>
                </a:tc>
              </a:tr>
            </a:tbl>
          </a:graphicData>
        </a:graphic>
      </p:graphicFrame>
      <p:sp>
        <p:nvSpPr>
          <p:cNvPr id="7" name="Shape 4"/>
          <p:cNvSpPr/>
          <p:nvPr/>
        </p:nvSpPr>
        <p:spPr>
          <a:xfrm>
            <a:off x="566928" y="3724148"/>
            <a:ext cx="11057839" cy="2637749"/>
          </a:xfrm>
          <a:prstGeom prst="roundRect">
            <a:avLst>
              <a:gd name="adj" fmla="val 1733"/>
            </a:avLst>
          </a:prstGeom>
          <a:solidFill>
            <a:srgbClr val="FBEFEC"/>
          </a:solidFill>
          <a:ln w="15875">
            <a:solidFill>
              <a:srgbClr val="C8553D"/>
            </a:solidFill>
            <a:prstDash val="solid"/>
          </a:ln>
        </p:spPr>
      </p:sp>
      <p:sp>
        <p:nvSpPr>
          <p:cNvPr id="8" name="Text 5"/>
          <p:cNvSpPr/>
          <p:nvPr/>
        </p:nvSpPr>
        <p:spPr>
          <a:xfrm>
            <a:off x="804672" y="3833876"/>
            <a:ext cx="2743200" cy="182880"/>
          </a:xfrm>
          <a:prstGeom prst="rect">
            <a:avLst/>
          </a:prstGeom>
          <a:noFill/>
          <a:ln/>
        </p:spPr>
        <p:txBody>
          <a:bodyPr wrap="square" lIns="0" tIns="0" rIns="0" bIns="0" rtlCol="0" anchor="ctr"/>
          <a:lstStyle/>
          <a:p>
            <a:pPr indent="0" marL="0">
              <a:buNone/>
            </a:pPr>
            <a:r>
              <a:rPr lang="en-US" sz="850" b="1" spc="160" kern="0" dirty="0">
                <a:solidFill>
                  <a:srgbClr val="C8553D"/>
                </a:solidFill>
                <a:latin typeface="Calibri" pitchFamily="34" charset="0"/>
                <a:ea typeface="Calibri" pitchFamily="34" charset="-122"/>
                <a:cs typeface="Calibri" pitchFamily="34" charset="-120"/>
              </a:rPr>
              <a:t>VERDICT</a:t>
            </a:r>
            <a:endParaRPr lang="en-US" sz="850" dirty="0"/>
          </a:p>
        </p:txBody>
      </p:sp>
      <p:sp>
        <p:nvSpPr>
          <p:cNvPr id="9" name="Text 6"/>
          <p:cNvSpPr/>
          <p:nvPr/>
        </p:nvSpPr>
        <p:spPr>
          <a:xfrm>
            <a:off x="804672" y="4016756"/>
            <a:ext cx="10582351" cy="288595"/>
          </a:xfrm>
          <a:prstGeom prst="rect">
            <a:avLst/>
          </a:prstGeom>
          <a:noFill/>
          <a:ln/>
        </p:spPr>
        <p:txBody>
          <a:bodyPr wrap="square" lIns="0" tIns="0" rIns="0" bIns="0" rtlCol="0" anchor="t"/>
          <a:lstStyle/>
          <a:p>
            <a:pPr indent="0" marL="0">
              <a:lnSpc>
                <a:spcPts val="2185"/>
              </a:lnSpc>
              <a:buNone/>
            </a:pPr>
            <a:r>
              <a:rPr lang="en-US" sz="1900" b="1" dirty="0">
                <a:solidFill>
                  <a:srgbClr val="0A1426"/>
                </a:solidFill>
                <a:latin typeface="Calibri" pitchFamily="34" charset="0"/>
                <a:ea typeface="Calibri" pitchFamily="34" charset="-122"/>
                <a:cs typeface="Calibri" pitchFamily="34" charset="-120"/>
              </a:rPr>
              <a:t>Three separate reasons this is the worst of the three here</a:t>
            </a:r>
            <a:endParaRPr lang="en-US" sz="1900" dirty="0"/>
          </a:p>
        </p:txBody>
      </p:sp>
      <p:sp>
        <p:nvSpPr>
          <p:cNvPr id="10" name="Text 7"/>
          <p:cNvSpPr/>
          <p:nvPr/>
        </p:nvSpPr>
        <p:spPr>
          <a:xfrm>
            <a:off x="804672" y="4360215"/>
            <a:ext cx="10582351" cy="1928531"/>
          </a:xfrm>
          <a:prstGeom prst="rect">
            <a:avLst/>
          </a:prstGeom>
          <a:noFill/>
          <a:ln/>
        </p:spPr>
        <p:txBody>
          <a:bodyPr wrap="square" lIns="0" tIns="0" rIns="0" bIns="0" rtlCol="0" anchor="t"/>
          <a:lstStyle/>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Cash — the coupon falls due in years 1 to 4, precisely the years the project loses money at EBITDA. ₹0.75 Cr has to come from somewhere, and it is not coming from the gate.</a:t>
            </a:r>
            <a:endParaRPr lang="en-US" sz="1200" dirty="0"/>
          </a:p>
          <a:p>
            <a:pPr indent="0" marL="0">
              <a:lnSpc>
                <a:spcPts val="1704"/>
              </a:lnSpc>
              <a:buNone/>
            </a:pPr>
            <a:endParaRPr lang="en-US" sz="1200" dirty="0"/>
          </a:p>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Consent — conversion changes the shareholding pattern, which needs BDA's prior written approval inside the lock-in. An instrument that must convert on a fixed date, into a change a third party can refuse to approve, is a structural mismatch.</a:t>
            </a:r>
            <a:endParaRPr lang="en-US" sz="1200" dirty="0"/>
          </a:p>
          <a:p>
            <a:pPr indent="0" marL="0">
              <a:lnSpc>
                <a:spcPts val="1704"/>
              </a:lnSpc>
              <a:buNone/>
            </a:pPr>
            <a:endParaRPr lang="en-US" sz="1200" dirty="0"/>
          </a:p>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Leverage — until it converts a CCD is borrowing. Layered on VAPPL's 3.04× gearing it breaches the covenant on any CGTMSE facility running alongside it.</a:t>
            </a:r>
            <a:endParaRPr lang="en-US" sz="1200" dirty="0"/>
          </a:p>
        </p:txBody>
      </p:sp>
      <p:sp>
        <p:nvSpPr>
          <p:cNvPr id="11" name="Text 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Which option, and why</a:t>
            </a:r>
            <a:endParaRPr lang="en-US" sz="3000" dirty="0"/>
          </a:p>
        </p:txBody>
      </p:sp>
      <p:sp>
        <p:nvSpPr>
          <p:cNvPr id="5" name="Shape 3"/>
          <p:cNvSpPr/>
          <p:nvPr/>
        </p:nvSpPr>
        <p:spPr>
          <a:xfrm>
            <a:off x="566928" y="1133856"/>
            <a:ext cx="3527450" cy="2889504"/>
          </a:xfrm>
          <a:prstGeom prst="roundRect">
            <a:avLst>
              <a:gd name="adj" fmla="val 1899"/>
            </a:avLst>
          </a:prstGeom>
          <a:solidFill>
            <a:srgbClr val="FFFFFF"/>
          </a:solidFill>
          <a:ln w="12700">
            <a:solidFill>
              <a:srgbClr val="E2E4EA"/>
            </a:solidFill>
            <a:prstDash val="solid"/>
          </a:ln>
        </p:spPr>
      </p:sp>
      <p:sp>
        <p:nvSpPr>
          <p:cNvPr id="6" name="Text 4"/>
          <p:cNvSpPr/>
          <p:nvPr/>
        </p:nvSpPr>
        <p:spPr>
          <a:xfrm>
            <a:off x="768096" y="1298448"/>
            <a:ext cx="3125114" cy="201168"/>
          </a:xfrm>
          <a:prstGeom prst="rect">
            <a:avLst/>
          </a:prstGeom>
          <a:noFill/>
          <a:ln/>
        </p:spPr>
        <p:txBody>
          <a:bodyPr wrap="square" lIns="0" tIns="0" rIns="0" bIns="0" rtlCol="0" anchor="ctr"/>
          <a:lstStyle/>
          <a:p>
            <a:pPr indent="0" marL="0">
              <a:buNone/>
            </a:pPr>
            <a:r>
              <a:rPr lang="en-US" sz="850" b="1" spc="140" kern="0" dirty="0">
                <a:solidFill>
                  <a:srgbClr val="6E7689"/>
                </a:solidFill>
                <a:latin typeface="Calibri" pitchFamily="34" charset="0"/>
                <a:ea typeface="Calibri" pitchFamily="34" charset="-122"/>
                <a:cs typeface="Calibri" pitchFamily="34" charset="-120"/>
              </a:rPr>
              <a:t>OPTION A</a:t>
            </a:r>
            <a:endParaRPr lang="en-US" sz="850" dirty="0"/>
          </a:p>
        </p:txBody>
      </p:sp>
      <p:sp>
        <p:nvSpPr>
          <p:cNvPr id="7" name="Text 5"/>
          <p:cNvSpPr/>
          <p:nvPr/>
        </p:nvSpPr>
        <p:spPr>
          <a:xfrm>
            <a:off x="768096" y="1517904"/>
            <a:ext cx="3125114" cy="274320"/>
          </a:xfrm>
          <a:prstGeom prst="rect">
            <a:avLst/>
          </a:prstGeom>
          <a:noFill/>
          <a:ln/>
        </p:spPr>
        <p:txBody>
          <a:bodyPr wrap="square" lIns="0" tIns="0" rIns="0" bIns="0" rtlCol="0" anchor="t"/>
          <a:lstStyle/>
          <a:p>
            <a:pPr indent="0" marL="0">
              <a:buNone/>
            </a:pPr>
            <a:r>
              <a:rPr lang="en-US" sz="1500" b="1" dirty="0">
                <a:solidFill>
                  <a:srgbClr val="0A1426"/>
                </a:solidFill>
                <a:latin typeface="Calibri" pitchFamily="34" charset="0"/>
                <a:ea typeface="Calibri" pitchFamily="34" charset="-122"/>
                <a:cs typeface="Calibri" pitchFamily="34" charset="-120"/>
              </a:rPr>
              <a:t>Equity</a:t>
            </a:r>
            <a:endParaRPr lang="en-US" sz="1500" dirty="0"/>
          </a:p>
        </p:txBody>
      </p:sp>
      <p:sp>
        <p:nvSpPr>
          <p:cNvPr id="8" name="Text 6"/>
          <p:cNvSpPr/>
          <p:nvPr/>
        </p:nvSpPr>
        <p:spPr>
          <a:xfrm>
            <a:off x="768096" y="1847088"/>
            <a:ext cx="3125114" cy="475488"/>
          </a:xfrm>
          <a:prstGeom prst="rect">
            <a:avLst/>
          </a:prstGeom>
          <a:noFill/>
          <a:ln/>
        </p:spPr>
        <p:txBody>
          <a:bodyPr wrap="square" lIns="0" tIns="0" rIns="0" bIns="0" rtlCol="0" anchor="t"/>
          <a:lstStyle/>
          <a:p>
            <a:pPr indent="0" marL="0">
              <a:buNone/>
            </a:pPr>
            <a:r>
              <a:rPr lang="en-US" sz="3000" b="1" dirty="0">
                <a:solidFill>
                  <a:srgbClr val="C8553D"/>
                </a:solidFill>
                <a:latin typeface="Calibri" pitchFamily="34" charset="0"/>
                <a:ea typeface="Calibri" pitchFamily="34" charset="-122"/>
                <a:cs typeface="Calibri" pitchFamily="34" charset="-120"/>
              </a:rPr>
              <a:t>5.4%</a:t>
            </a:r>
            <a:endParaRPr lang="en-US" sz="3000" dirty="0"/>
          </a:p>
        </p:txBody>
      </p:sp>
      <p:sp>
        <p:nvSpPr>
          <p:cNvPr id="9" name="Text 7"/>
          <p:cNvSpPr/>
          <p:nvPr/>
        </p:nvSpPr>
        <p:spPr>
          <a:xfrm>
            <a:off x="768096" y="2340864"/>
            <a:ext cx="3125114" cy="219456"/>
          </a:xfrm>
          <a:prstGeom prst="rect">
            <a:avLst/>
          </a:prstGeom>
          <a:noFill/>
          <a:ln/>
        </p:spPr>
        <p:txBody>
          <a:bodyPr wrap="square" lIns="0" tIns="0" rIns="0" bIns="0" rtlCol="0" anchor="ctr"/>
          <a:lstStyle/>
          <a:p>
            <a:pPr indent="0" marL="0">
              <a:buNone/>
            </a:pPr>
            <a:r>
              <a:rPr lang="en-US" sz="850" b="1" spc="110" kern="0" dirty="0">
                <a:solidFill>
                  <a:srgbClr val="6E7689"/>
                </a:solidFill>
                <a:latin typeface="Calibri" pitchFamily="34" charset="0"/>
                <a:ea typeface="Calibri" pitchFamily="34" charset="-122"/>
                <a:cs typeface="Calibri" pitchFamily="34" charset="-120"/>
              </a:rPr>
              <a:t>INVESTOR IRR</a:t>
            </a:r>
            <a:endParaRPr lang="en-US" sz="850" dirty="0"/>
          </a:p>
        </p:txBody>
      </p:sp>
      <p:sp>
        <p:nvSpPr>
          <p:cNvPr id="10" name="Shape 8"/>
          <p:cNvSpPr/>
          <p:nvPr/>
        </p:nvSpPr>
        <p:spPr>
          <a:xfrm>
            <a:off x="768096" y="2651760"/>
            <a:ext cx="3125114" cy="7315"/>
          </a:xfrm>
          <a:prstGeom prst="rect">
            <a:avLst/>
          </a:prstGeom>
          <a:solidFill>
            <a:srgbClr val="E2E4EA"/>
          </a:solidFill>
          <a:ln/>
        </p:spPr>
      </p:sp>
      <p:sp>
        <p:nvSpPr>
          <p:cNvPr id="11" name="Text 9"/>
          <p:cNvSpPr/>
          <p:nvPr/>
        </p:nvSpPr>
        <p:spPr>
          <a:xfrm>
            <a:off x="768096" y="2697480"/>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Capital in</a:t>
            </a:r>
            <a:endParaRPr lang="en-US" sz="950" dirty="0"/>
          </a:p>
        </p:txBody>
      </p:sp>
      <p:sp>
        <p:nvSpPr>
          <p:cNvPr id="12" name="Text 10"/>
          <p:cNvSpPr/>
          <p:nvPr/>
        </p:nvSpPr>
        <p:spPr>
          <a:xfrm>
            <a:off x="2518160" y="2697480"/>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₹2.36 Cr</a:t>
            </a:r>
            <a:endParaRPr lang="en-US" sz="950" dirty="0"/>
          </a:p>
        </p:txBody>
      </p:sp>
      <p:sp>
        <p:nvSpPr>
          <p:cNvPr id="13" name="Shape 11"/>
          <p:cNvSpPr/>
          <p:nvPr/>
        </p:nvSpPr>
        <p:spPr>
          <a:xfrm>
            <a:off x="768096" y="2980944"/>
            <a:ext cx="3125114" cy="7315"/>
          </a:xfrm>
          <a:prstGeom prst="rect">
            <a:avLst/>
          </a:prstGeom>
          <a:solidFill>
            <a:srgbClr val="E2E4EA"/>
          </a:solidFill>
          <a:ln/>
        </p:spPr>
      </p:sp>
      <p:sp>
        <p:nvSpPr>
          <p:cNvPr id="14" name="Text 12"/>
          <p:cNvSpPr/>
          <p:nvPr/>
        </p:nvSpPr>
        <p:spPr>
          <a:xfrm>
            <a:off x="768096" y="3026664"/>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Stake offered</a:t>
            </a:r>
            <a:endParaRPr lang="en-US" sz="950" dirty="0"/>
          </a:p>
        </p:txBody>
      </p:sp>
      <p:sp>
        <p:nvSpPr>
          <p:cNvPr id="15" name="Text 13"/>
          <p:cNvSpPr/>
          <p:nvPr/>
        </p:nvSpPr>
        <p:spPr>
          <a:xfrm>
            <a:off x="2518160" y="3026664"/>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70%</a:t>
            </a:r>
            <a:endParaRPr lang="en-US" sz="950" dirty="0"/>
          </a:p>
        </p:txBody>
      </p:sp>
      <p:sp>
        <p:nvSpPr>
          <p:cNvPr id="16" name="Shape 14"/>
          <p:cNvSpPr/>
          <p:nvPr/>
        </p:nvSpPr>
        <p:spPr>
          <a:xfrm>
            <a:off x="768096" y="3310128"/>
            <a:ext cx="3125114" cy="7315"/>
          </a:xfrm>
          <a:prstGeom prst="rect">
            <a:avLst/>
          </a:prstGeom>
          <a:solidFill>
            <a:srgbClr val="E2E4EA"/>
          </a:solidFill>
          <a:ln/>
        </p:spPr>
      </p:sp>
      <p:sp>
        <p:nvSpPr>
          <p:cNvPr id="17" name="Text 15"/>
          <p:cNvSpPr/>
          <p:nvPr/>
        </p:nvSpPr>
        <p:spPr>
          <a:xfrm>
            <a:off x="768096" y="3355848"/>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Money multiple</a:t>
            </a:r>
            <a:endParaRPr lang="en-US" sz="950" dirty="0"/>
          </a:p>
        </p:txBody>
      </p:sp>
      <p:sp>
        <p:nvSpPr>
          <p:cNvPr id="18" name="Text 16"/>
          <p:cNvSpPr/>
          <p:nvPr/>
        </p:nvSpPr>
        <p:spPr>
          <a:xfrm>
            <a:off x="2518160" y="3355848"/>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1.38×</a:t>
            </a:r>
            <a:endParaRPr lang="en-US" sz="950" dirty="0"/>
          </a:p>
        </p:txBody>
      </p:sp>
      <p:sp>
        <p:nvSpPr>
          <p:cNvPr id="19" name="Shape 17"/>
          <p:cNvSpPr/>
          <p:nvPr/>
        </p:nvSpPr>
        <p:spPr>
          <a:xfrm>
            <a:off x="768096" y="3639312"/>
            <a:ext cx="3125114" cy="7315"/>
          </a:xfrm>
          <a:prstGeom prst="rect">
            <a:avLst/>
          </a:prstGeom>
          <a:solidFill>
            <a:srgbClr val="E2E4EA"/>
          </a:solidFill>
          <a:ln/>
        </p:spPr>
      </p:sp>
      <p:sp>
        <p:nvSpPr>
          <p:cNvPr id="20" name="Text 18"/>
          <p:cNvSpPr/>
          <p:nvPr/>
        </p:nvSpPr>
        <p:spPr>
          <a:xfrm>
            <a:off x="768096" y="3685032"/>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Stake for a 22% IRR</a:t>
            </a:r>
            <a:endParaRPr lang="en-US" sz="950" dirty="0"/>
          </a:p>
        </p:txBody>
      </p:sp>
      <p:sp>
        <p:nvSpPr>
          <p:cNvPr id="21" name="Text 19"/>
          <p:cNvSpPr/>
          <p:nvPr/>
        </p:nvSpPr>
        <p:spPr>
          <a:xfrm>
            <a:off x="2518160" y="3685032"/>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100%</a:t>
            </a:r>
            <a:endParaRPr lang="en-US" sz="950" dirty="0"/>
          </a:p>
        </p:txBody>
      </p:sp>
      <p:sp>
        <p:nvSpPr>
          <p:cNvPr id="22" name="Shape 20"/>
          <p:cNvSpPr/>
          <p:nvPr/>
        </p:nvSpPr>
        <p:spPr>
          <a:xfrm>
            <a:off x="4332122" y="1133856"/>
            <a:ext cx="3527450" cy="2889504"/>
          </a:xfrm>
          <a:prstGeom prst="roundRect">
            <a:avLst>
              <a:gd name="adj" fmla="val 1899"/>
            </a:avLst>
          </a:prstGeom>
          <a:solidFill>
            <a:srgbClr val="EDFAF4"/>
          </a:solidFill>
          <a:ln w="19050">
            <a:solidFill>
              <a:srgbClr val="10B981"/>
            </a:solidFill>
            <a:prstDash val="solid"/>
          </a:ln>
        </p:spPr>
      </p:sp>
      <p:sp>
        <p:nvSpPr>
          <p:cNvPr id="23" name="Text 21"/>
          <p:cNvSpPr/>
          <p:nvPr/>
        </p:nvSpPr>
        <p:spPr>
          <a:xfrm>
            <a:off x="4533290" y="1298448"/>
            <a:ext cx="3125114" cy="201168"/>
          </a:xfrm>
          <a:prstGeom prst="rect">
            <a:avLst/>
          </a:prstGeom>
          <a:noFill/>
          <a:ln/>
        </p:spPr>
        <p:txBody>
          <a:bodyPr wrap="square" lIns="0" tIns="0" rIns="0" bIns="0" rtlCol="0" anchor="ctr"/>
          <a:lstStyle/>
          <a:p>
            <a:pPr indent="0" marL="0">
              <a:buNone/>
            </a:pPr>
            <a:r>
              <a:rPr lang="en-US" sz="850" b="1" spc="140" kern="0" dirty="0">
                <a:solidFill>
                  <a:srgbClr val="10B981"/>
                </a:solidFill>
                <a:latin typeface="Calibri" pitchFamily="34" charset="0"/>
                <a:ea typeface="Calibri" pitchFamily="34" charset="-122"/>
                <a:cs typeface="Calibri" pitchFamily="34" charset="-120"/>
              </a:rPr>
              <a:t>OPTION B</a:t>
            </a:r>
            <a:endParaRPr lang="en-US" sz="850" dirty="0"/>
          </a:p>
        </p:txBody>
      </p:sp>
      <p:sp>
        <p:nvSpPr>
          <p:cNvPr id="24" name="Text 22"/>
          <p:cNvSpPr/>
          <p:nvPr/>
        </p:nvSpPr>
        <p:spPr>
          <a:xfrm>
            <a:off x="4533290" y="1517904"/>
            <a:ext cx="3125114" cy="274320"/>
          </a:xfrm>
          <a:prstGeom prst="rect">
            <a:avLst/>
          </a:prstGeom>
          <a:noFill/>
          <a:ln/>
        </p:spPr>
        <p:txBody>
          <a:bodyPr wrap="square" lIns="0" tIns="0" rIns="0" bIns="0" rtlCol="0" anchor="t"/>
          <a:lstStyle/>
          <a:p>
            <a:pPr indent="0" marL="0">
              <a:buNone/>
            </a:pPr>
            <a:r>
              <a:rPr lang="en-US" sz="1500" b="1" dirty="0">
                <a:solidFill>
                  <a:srgbClr val="0A1426"/>
                </a:solidFill>
                <a:latin typeface="Calibri" pitchFamily="34" charset="0"/>
                <a:ea typeface="Calibri" pitchFamily="34" charset="-122"/>
                <a:cs typeface="Calibri" pitchFamily="34" charset="-120"/>
              </a:rPr>
              <a:t>Debt · CGTMSE</a:t>
            </a:r>
            <a:endParaRPr lang="en-US" sz="1500" dirty="0"/>
          </a:p>
        </p:txBody>
      </p:sp>
      <p:sp>
        <p:nvSpPr>
          <p:cNvPr id="25" name="Text 23"/>
          <p:cNvSpPr/>
          <p:nvPr/>
        </p:nvSpPr>
        <p:spPr>
          <a:xfrm>
            <a:off x="4533290" y="1847088"/>
            <a:ext cx="3125114" cy="475488"/>
          </a:xfrm>
          <a:prstGeom prst="rect">
            <a:avLst/>
          </a:prstGeom>
          <a:noFill/>
          <a:ln/>
        </p:spPr>
        <p:txBody>
          <a:bodyPr wrap="square" lIns="0" tIns="0" rIns="0" bIns="0" rtlCol="0" anchor="t"/>
          <a:lstStyle/>
          <a:p>
            <a:pPr indent="0" marL="0">
              <a:buNone/>
            </a:pPr>
            <a:r>
              <a:rPr lang="en-US" sz="3000" b="1" dirty="0">
                <a:solidFill>
                  <a:srgbClr val="C8553D"/>
                </a:solidFill>
                <a:latin typeface="Calibri" pitchFamily="34" charset="0"/>
                <a:ea typeface="Calibri" pitchFamily="34" charset="-122"/>
                <a:cs typeface="Calibri" pitchFamily="34" charset="-120"/>
              </a:rPr>
              <a:t>1.09×</a:t>
            </a:r>
            <a:endParaRPr lang="en-US" sz="3000" dirty="0"/>
          </a:p>
        </p:txBody>
      </p:sp>
      <p:sp>
        <p:nvSpPr>
          <p:cNvPr id="26" name="Text 24"/>
          <p:cNvSpPr/>
          <p:nvPr/>
        </p:nvSpPr>
        <p:spPr>
          <a:xfrm>
            <a:off x="4533290" y="2340864"/>
            <a:ext cx="3125114" cy="219456"/>
          </a:xfrm>
          <a:prstGeom prst="rect">
            <a:avLst/>
          </a:prstGeom>
          <a:noFill/>
          <a:ln/>
        </p:spPr>
        <p:txBody>
          <a:bodyPr wrap="square" lIns="0" tIns="0" rIns="0" bIns="0" rtlCol="0" anchor="ctr"/>
          <a:lstStyle/>
          <a:p>
            <a:pPr indent="0" marL="0">
              <a:buNone/>
            </a:pPr>
            <a:r>
              <a:rPr lang="en-US" sz="850" b="1" spc="110" kern="0" dirty="0">
                <a:solidFill>
                  <a:srgbClr val="6E7689"/>
                </a:solidFill>
                <a:latin typeface="Calibri" pitchFamily="34" charset="0"/>
                <a:ea typeface="Calibri" pitchFamily="34" charset="-122"/>
                <a:cs typeface="Calibri" pitchFamily="34" charset="-120"/>
              </a:rPr>
              <a:t>MINIMUM DSCR · THIS FACILITY</a:t>
            </a:r>
            <a:endParaRPr lang="en-US" sz="850" dirty="0"/>
          </a:p>
        </p:txBody>
      </p:sp>
      <p:sp>
        <p:nvSpPr>
          <p:cNvPr id="27" name="Shape 25"/>
          <p:cNvSpPr/>
          <p:nvPr/>
        </p:nvSpPr>
        <p:spPr>
          <a:xfrm>
            <a:off x="4533290" y="2651760"/>
            <a:ext cx="3125114" cy="7315"/>
          </a:xfrm>
          <a:prstGeom prst="rect">
            <a:avLst/>
          </a:prstGeom>
          <a:solidFill>
            <a:srgbClr val="E2E4EA"/>
          </a:solidFill>
          <a:ln/>
        </p:spPr>
      </p:sp>
      <p:sp>
        <p:nvSpPr>
          <p:cNvPr id="28" name="Text 26"/>
          <p:cNvSpPr/>
          <p:nvPr/>
        </p:nvSpPr>
        <p:spPr>
          <a:xfrm>
            <a:off x="4533290" y="2697480"/>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Facility</a:t>
            </a:r>
            <a:endParaRPr lang="en-US" sz="950" dirty="0"/>
          </a:p>
        </p:txBody>
      </p:sp>
      <p:sp>
        <p:nvSpPr>
          <p:cNvPr id="29" name="Text 27"/>
          <p:cNvSpPr/>
          <p:nvPr/>
        </p:nvSpPr>
        <p:spPr>
          <a:xfrm>
            <a:off x="6283354" y="2697480"/>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₹4.17 Cr</a:t>
            </a:r>
            <a:endParaRPr lang="en-US" sz="950" dirty="0"/>
          </a:p>
        </p:txBody>
      </p:sp>
      <p:sp>
        <p:nvSpPr>
          <p:cNvPr id="30" name="Shape 28"/>
          <p:cNvSpPr/>
          <p:nvPr/>
        </p:nvSpPr>
        <p:spPr>
          <a:xfrm>
            <a:off x="4533290" y="2980944"/>
            <a:ext cx="3125114" cy="7315"/>
          </a:xfrm>
          <a:prstGeom prst="rect">
            <a:avLst/>
          </a:prstGeom>
          <a:solidFill>
            <a:srgbClr val="E2E4EA"/>
          </a:solidFill>
          <a:ln/>
        </p:spPr>
      </p:sp>
      <p:sp>
        <p:nvSpPr>
          <p:cNvPr id="31" name="Text 29"/>
          <p:cNvSpPr/>
          <p:nvPr/>
        </p:nvSpPr>
        <p:spPr>
          <a:xfrm>
            <a:off x="4533290" y="3026664"/>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Term loan / WC</a:t>
            </a:r>
            <a:endParaRPr lang="en-US" sz="950" dirty="0"/>
          </a:p>
        </p:txBody>
      </p:sp>
      <p:sp>
        <p:nvSpPr>
          <p:cNvPr id="32" name="Text 30"/>
          <p:cNvSpPr/>
          <p:nvPr/>
        </p:nvSpPr>
        <p:spPr>
          <a:xfrm>
            <a:off x="6283354" y="3026664"/>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1.89 / 2.27</a:t>
            </a:r>
            <a:endParaRPr lang="en-US" sz="950" dirty="0"/>
          </a:p>
        </p:txBody>
      </p:sp>
      <p:sp>
        <p:nvSpPr>
          <p:cNvPr id="33" name="Shape 31"/>
          <p:cNvSpPr/>
          <p:nvPr/>
        </p:nvSpPr>
        <p:spPr>
          <a:xfrm>
            <a:off x="4533290" y="3310128"/>
            <a:ext cx="3125114" cy="7315"/>
          </a:xfrm>
          <a:prstGeom prst="rect">
            <a:avLst/>
          </a:prstGeom>
          <a:solidFill>
            <a:srgbClr val="E2E4EA"/>
          </a:solidFill>
          <a:ln/>
        </p:spPr>
      </p:sp>
      <p:sp>
        <p:nvSpPr>
          <p:cNvPr id="34" name="Text 32"/>
          <p:cNvSpPr/>
          <p:nvPr/>
        </p:nvSpPr>
        <p:spPr>
          <a:xfrm>
            <a:off x="4533290" y="3355848"/>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All-in rate</a:t>
            </a:r>
            <a:endParaRPr lang="en-US" sz="950" dirty="0"/>
          </a:p>
        </p:txBody>
      </p:sp>
      <p:sp>
        <p:nvSpPr>
          <p:cNvPr id="35" name="Text 33"/>
          <p:cNvSpPr/>
          <p:nvPr/>
        </p:nvSpPr>
        <p:spPr>
          <a:xfrm>
            <a:off x="6283354" y="3355848"/>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11.50% + fee</a:t>
            </a:r>
            <a:endParaRPr lang="en-US" sz="950" dirty="0"/>
          </a:p>
        </p:txBody>
      </p:sp>
      <p:sp>
        <p:nvSpPr>
          <p:cNvPr id="36" name="Shape 34"/>
          <p:cNvSpPr/>
          <p:nvPr/>
        </p:nvSpPr>
        <p:spPr>
          <a:xfrm>
            <a:off x="4533290" y="3639312"/>
            <a:ext cx="3125114" cy="7315"/>
          </a:xfrm>
          <a:prstGeom prst="rect">
            <a:avLst/>
          </a:prstGeom>
          <a:solidFill>
            <a:srgbClr val="E2E4EA"/>
          </a:solidFill>
          <a:ln/>
        </p:spPr>
      </p:sp>
      <p:sp>
        <p:nvSpPr>
          <p:cNvPr id="37" name="Text 35"/>
          <p:cNvSpPr/>
          <p:nvPr/>
        </p:nvSpPr>
        <p:spPr>
          <a:xfrm>
            <a:off x="4533290" y="3685032"/>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Total finance cost</a:t>
            </a:r>
            <a:endParaRPr lang="en-US" sz="950" dirty="0"/>
          </a:p>
        </p:txBody>
      </p:sp>
      <p:sp>
        <p:nvSpPr>
          <p:cNvPr id="38" name="Text 36"/>
          <p:cNvSpPr/>
          <p:nvPr/>
        </p:nvSpPr>
        <p:spPr>
          <a:xfrm>
            <a:off x="6283354" y="3685032"/>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₹2.44 Cr</a:t>
            </a:r>
            <a:endParaRPr lang="en-US" sz="950" dirty="0"/>
          </a:p>
        </p:txBody>
      </p:sp>
      <p:sp>
        <p:nvSpPr>
          <p:cNvPr id="39" name="Shape 37"/>
          <p:cNvSpPr/>
          <p:nvPr/>
        </p:nvSpPr>
        <p:spPr>
          <a:xfrm>
            <a:off x="8097317" y="1133856"/>
            <a:ext cx="3527450" cy="2889504"/>
          </a:xfrm>
          <a:prstGeom prst="roundRect">
            <a:avLst>
              <a:gd name="adj" fmla="val 1899"/>
            </a:avLst>
          </a:prstGeom>
          <a:solidFill>
            <a:srgbClr val="FFFFFF"/>
          </a:solidFill>
          <a:ln w="12700">
            <a:solidFill>
              <a:srgbClr val="E2E4EA"/>
            </a:solidFill>
            <a:prstDash val="solid"/>
          </a:ln>
        </p:spPr>
      </p:sp>
      <p:sp>
        <p:nvSpPr>
          <p:cNvPr id="40" name="Text 38"/>
          <p:cNvSpPr/>
          <p:nvPr/>
        </p:nvSpPr>
        <p:spPr>
          <a:xfrm>
            <a:off x="8298485" y="1298448"/>
            <a:ext cx="3125114" cy="201168"/>
          </a:xfrm>
          <a:prstGeom prst="rect">
            <a:avLst/>
          </a:prstGeom>
          <a:noFill/>
          <a:ln/>
        </p:spPr>
        <p:txBody>
          <a:bodyPr wrap="square" lIns="0" tIns="0" rIns="0" bIns="0" rtlCol="0" anchor="ctr"/>
          <a:lstStyle/>
          <a:p>
            <a:pPr indent="0" marL="0">
              <a:buNone/>
            </a:pPr>
            <a:r>
              <a:rPr lang="en-US" sz="850" b="1" spc="140" kern="0" dirty="0">
                <a:solidFill>
                  <a:srgbClr val="6E7689"/>
                </a:solidFill>
                <a:latin typeface="Calibri" pitchFamily="34" charset="0"/>
                <a:ea typeface="Calibri" pitchFamily="34" charset="-122"/>
                <a:cs typeface="Calibri" pitchFamily="34" charset="-120"/>
              </a:rPr>
              <a:t>OPTION C</a:t>
            </a:r>
            <a:endParaRPr lang="en-US" sz="850" dirty="0"/>
          </a:p>
        </p:txBody>
      </p:sp>
      <p:sp>
        <p:nvSpPr>
          <p:cNvPr id="41" name="Text 39"/>
          <p:cNvSpPr/>
          <p:nvPr/>
        </p:nvSpPr>
        <p:spPr>
          <a:xfrm>
            <a:off x="8298485" y="1517904"/>
            <a:ext cx="3125114" cy="274320"/>
          </a:xfrm>
          <a:prstGeom prst="rect">
            <a:avLst/>
          </a:prstGeom>
          <a:noFill/>
          <a:ln/>
        </p:spPr>
        <p:txBody>
          <a:bodyPr wrap="square" lIns="0" tIns="0" rIns="0" bIns="0" rtlCol="0" anchor="t"/>
          <a:lstStyle/>
          <a:p>
            <a:pPr indent="0" marL="0">
              <a:buNone/>
            </a:pPr>
            <a:r>
              <a:rPr lang="en-US" sz="1500" b="1" dirty="0">
                <a:solidFill>
                  <a:srgbClr val="0A1426"/>
                </a:solidFill>
                <a:latin typeface="Calibri" pitchFamily="34" charset="0"/>
                <a:ea typeface="Calibri" pitchFamily="34" charset="-122"/>
                <a:cs typeface="Calibri" pitchFamily="34" charset="-120"/>
              </a:rPr>
              <a:t>Debt → equity (CCD)</a:t>
            </a:r>
            <a:endParaRPr lang="en-US" sz="1500" dirty="0"/>
          </a:p>
        </p:txBody>
      </p:sp>
      <p:sp>
        <p:nvSpPr>
          <p:cNvPr id="42" name="Text 40"/>
          <p:cNvSpPr/>
          <p:nvPr/>
        </p:nvSpPr>
        <p:spPr>
          <a:xfrm>
            <a:off x="8298485" y="1847088"/>
            <a:ext cx="3125114" cy="475488"/>
          </a:xfrm>
          <a:prstGeom prst="rect">
            <a:avLst/>
          </a:prstGeom>
          <a:noFill/>
          <a:ln/>
        </p:spPr>
        <p:txBody>
          <a:bodyPr wrap="square" lIns="0" tIns="0" rIns="0" bIns="0" rtlCol="0" anchor="t"/>
          <a:lstStyle/>
          <a:p>
            <a:pPr indent="0" marL="0">
              <a:buNone/>
            </a:pPr>
            <a:r>
              <a:rPr lang="en-US" sz="3000" b="1" dirty="0">
                <a:solidFill>
                  <a:srgbClr val="C8553D"/>
                </a:solidFill>
                <a:latin typeface="Calibri" pitchFamily="34" charset="0"/>
                <a:ea typeface="Calibri" pitchFamily="34" charset="-122"/>
                <a:cs typeface="Calibri" pitchFamily="34" charset="-120"/>
              </a:rPr>
              <a:t>6.6%</a:t>
            </a:r>
            <a:endParaRPr lang="en-US" sz="3000" dirty="0"/>
          </a:p>
        </p:txBody>
      </p:sp>
      <p:sp>
        <p:nvSpPr>
          <p:cNvPr id="43" name="Text 41"/>
          <p:cNvSpPr/>
          <p:nvPr/>
        </p:nvSpPr>
        <p:spPr>
          <a:xfrm>
            <a:off x="8298485" y="2340864"/>
            <a:ext cx="3125114" cy="219456"/>
          </a:xfrm>
          <a:prstGeom prst="rect">
            <a:avLst/>
          </a:prstGeom>
          <a:noFill/>
          <a:ln/>
        </p:spPr>
        <p:txBody>
          <a:bodyPr wrap="square" lIns="0" tIns="0" rIns="0" bIns="0" rtlCol="0" anchor="ctr"/>
          <a:lstStyle/>
          <a:p>
            <a:pPr indent="0" marL="0">
              <a:buNone/>
            </a:pPr>
            <a:r>
              <a:rPr lang="en-US" sz="850" b="1" spc="110" kern="0" dirty="0">
                <a:solidFill>
                  <a:srgbClr val="6E7689"/>
                </a:solidFill>
                <a:latin typeface="Calibri" pitchFamily="34" charset="0"/>
                <a:ea typeface="Calibri" pitchFamily="34" charset="-122"/>
                <a:cs typeface="Calibri" pitchFamily="34" charset="-120"/>
              </a:rPr>
              <a:t>INVESTOR IRR</a:t>
            </a:r>
            <a:endParaRPr lang="en-US" sz="850" dirty="0"/>
          </a:p>
        </p:txBody>
      </p:sp>
      <p:sp>
        <p:nvSpPr>
          <p:cNvPr id="44" name="Shape 42"/>
          <p:cNvSpPr/>
          <p:nvPr/>
        </p:nvSpPr>
        <p:spPr>
          <a:xfrm>
            <a:off x="8298485" y="2651760"/>
            <a:ext cx="3125114" cy="7315"/>
          </a:xfrm>
          <a:prstGeom prst="rect">
            <a:avLst/>
          </a:prstGeom>
          <a:solidFill>
            <a:srgbClr val="E2E4EA"/>
          </a:solidFill>
          <a:ln/>
        </p:spPr>
      </p:sp>
      <p:sp>
        <p:nvSpPr>
          <p:cNvPr id="45" name="Text 43"/>
          <p:cNvSpPr/>
          <p:nvPr/>
        </p:nvSpPr>
        <p:spPr>
          <a:xfrm>
            <a:off x="8298485" y="2697480"/>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Principal</a:t>
            </a:r>
            <a:endParaRPr lang="en-US" sz="950" dirty="0"/>
          </a:p>
        </p:txBody>
      </p:sp>
      <p:sp>
        <p:nvSpPr>
          <p:cNvPr id="46" name="Text 44"/>
          <p:cNvSpPr/>
          <p:nvPr/>
        </p:nvSpPr>
        <p:spPr>
          <a:xfrm>
            <a:off x="10048549" y="2697480"/>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₹2.36 Cr</a:t>
            </a:r>
            <a:endParaRPr lang="en-US" sz="950" dirty="0"/>
          </a:p>
        </p:txBody>
      </p:sp>
      <p:sp>
        <p:nvSpPr>
          <p:cNvPr id="47" name="Shape 45"/>
          <p:cNvSpPr/>
          <p:nvPr/>
        </p:nvSpPr>
        <p:spPr>
          <a:xfrm>
            <a:off x="8298485" y="2980944"/>
            <a:ext cx="3125114" cy="7315"/>
          </a:xfrm>
          <a:prstGeom prst="rect">
            <a:avLst/>
          </a:prstGeom>
          <a:solidFill>
            <a:srgbClr val="E2E4EA"/>
          </a:solidFill>
          <a:ln/>
        </p:spPr>
      </p:sp>
      <p:sp>
        <p:nvSpPr>
          <p:cNvPr id="48" name="Text 46"/>
          <p:cNvSpPr/>
          <p:nvPr/>
        </p:nvSpPr>
        <p:spPr>
          <a:xfrm>
            <a:off x="8298485" y="3026664"/>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Coupon to conversion</a:t>
            </a:r>
            <a:endParaRPr lang="en-US" sz="950" dirty="0"/>
          </a:p>
        </p:txBody>
      </p:sp>
      <p:sp>
        <p:nvSpPr>
          <p:cNvPr id="49" name="Text 47"/>
          <p:cNvSpPr/>
          <p:nvPr/>
        </p:nvSpPr>
        <p:spPr>
          <a:xfrm>
            <a:off x="10048549" y="3026664"/>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8.0% · yr 4</a:t>
            </a:r>
            <a:endParaRPr lang="en-US" sz="950" dirty="0"/>
          </a:p>
        </p:txBody>
      </p:sp>
      <p:sp>
        <p:nvSpPr>
          <p:cNvPr id="50" name="Shape 48"/>
          <p:cNvSpPr/>
          <p:nvPr/>
        </p:nvSpPr>
        <p:spPr>
          <a:xfrm>
            <a:off x="8298485" y="3310128"/>
            <a:ext cx="3125114" cy="7315"/>
          </a:xfrm>
          <a:prstGeom prst="rect">
            <a:avLst/>
          </a:prstGeom>
          <a:solidFill>
            <a:srgbClr val="E2E4EA"/>
          </a:solidFill>
          <a:ln/>
        </p:spPr>
      </p:sp>
      <p:sp>
        <p:nvSpPr>
          <p:cNvPr id="51" name="Text 49"/>
          <p:cNvSpPr/>
          <p:nvPr/>
        </p:nvSpPr>
        <p:spPr>
          <a:xfrm>
            <a:off x="8298485" y="3355848"/>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Stake on conversion</a:t>
            </a:r>
            <a:endParaRPr lang="en-US" sz="950" dirty="0"/>
          </a:p>
        </p:txBody>
      </p:sp>
      <p:sp>
        <p:nvSpPr>
          <p:cNvPr id="52" name="Text 50"/>
          <p:cNvSpPr/>
          <p:nvPr/>
        </p:nvSpPr>
        <p:spPr>
          <a:xfrm>
            <a:off x="10048549" y="3355848"/>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65%</a:t>
            </a:r>
            <a:endParaRPr lang="en-US" sz="950" dirty="0"/>
          </a:p>
        </p:txBody>
      </p:sp>
      <p:sp>
        <p:nvSpPr>
          <p:cNvPr id="53" name="Shape 51"/>
          <p:cNvSpPr/>
          <p:nvPr/>
        </p:nvSpPr>
        <p:spPr>
          <a:xfrm>
            <a:off x="8298485" y="3639312"/>
            <a:ext cx="3125114" cy="7315"/>
          </a:xfrm>
          <a:prstGeom prst="rect">
            <a:avLst/>
          </a:prstGeom>
          <a:solidFill>
            <a:srgbClr val="E2E4EA"/>
          </a:solidFill>
          <a:ln/>
        </p:spPr>
      </p:sp>
      <p:sp>
        <p:nvSpPr>
          <p:cNvPr id="54" name="Text 52"/>
          <p:cNvSpPr/>
          <p:nvPr/>
        </p:nvSpPr>
        <p:spPr>
          <a:xfrm>
            <a:off x="8298485" y="3685032"/>
            <a:ext cx="1750064" cy="256032"/>
          </a:xfrm>
          <a:prstGeom prst="rect">
            <a:avLst/>
          </a:prstGeom>
          <a:noFill/>
          <a:ln/>
        </p:spPr>
        <p:txBody>
          <a:bodyPr wrap="square" lIns="0" tIns="0" rIns="0" bIns="0" rtlCol="0" anchor="ctr"/>
          <a:lstStyle/>
          <a:p>
            <a:pPr indent="0" marL="0">
              <a:buNone/>
            </a:pPr>
            <a:r>
              <a:rPr lang="en-US" sz="950" dirty="0">
                <a:solidFill>
                  <a:srgbClr val="6E7689"/>
                </a:solidFill>
                <a:latin typeface="Calibri" pitchFamily="34" charset="0"/>
                <a:ea typeface="Calibri" pitchFamily="34" charset="-122"/>
                <a:cs typeface="Calibri" pitchFamily="34" charset="-120"/>
              </a:rPr>
              <a:t>Money multiple</a:t>
            </a:r>
            <a:endParaRPr lang="en-US" sz="950" dirty="0"/>
          </a:p>
        </p:txBody>
      </p:sp>
      <p:sp>
        <p:nvSpPr>
          <p:cNvPr id="55" name="Text 53"/>
          <p:cNvSpPr/>
          <p:nvPr/>
        </p:nvSpPr>
        <p:spPr>
          <a:xfrm>
            <a:off x="10048549" y="3685032"/>
            <a:ext cx="1375050" cy="256032"/>
          </a:xfrm>
          <a:prstGeom prst="rect">
            <a:avLst/>
          </a:prstGeom>
          <a:noFill/>
          <a:ln/>
        </p:spPr>
        <p:txBody>
          <a:bodyPr wrap="square" lIns="0" tIns="0" rIns="0" bIns="0" rtlCol="0" anchor="ctr"/>
          <a:lstStyle/>
          <a:p>
            <a:pPr algn="r" indent="0" marL="0">
              <a:buNone/>
            </a:pPr>
            <a:r>
              <a:rPr lang="en-US" sz="950" b="1" dirty="0">
                <a:solidFill>
                  <a:srgbClr val="0A1426"/>
                </a:solidFill>
                <a:latin typeface="Calibri" pitchFamily="34" charset="0"/>
                <a:ea typeface="Calibri" pitchFamily="34" charset="-122"/>
                <a:cs typeface="Calibri" pitchFamily="34" charset="-120"/>
              </a:rPr>
              <a:t>1.43×</a:t>
            </a:r>
            <a:endParaRPr lang="en-US" sz="950" dirty="0"/>
          </a:p>
        </p:txBody>
      </p:sp>
      <p:sp>
        <p:nvSpPr>
          <p:cNvPr id="56" name="Shape 54"/>
          <p:cNvSpPr/>
          <p:nvPr/>
        </p:nvSpPr>
        <p:spPr>
          <a:xfrm>
            <a:off x="566928" y="4224528"/>
            <a:ext cx="11057839" cy="1962556"/>
          </a:xfrm>
          <a:prstGeom prst="roundRect">
            <a:avLst>
              <a:gd name="adj" fmla="val 2330"/>
            </a:avLst>
          </a:prstGeom>
          <a:solidFill>
            <a:srgbClr val="FDF6EC"/>
          </a:solidFill>
          <a:ln w="15875">
            <a:solidFill>
              <a:srgbClr val="D97706"/>
            </a:solidFill>
            <a:prstDash val="solid"/>
          </a:ln>
        </p:spPr>
      </p:sp>
      <p:sp>
        <p:nvSpPr>
          <p:cNvPr id="57" name="Text 55"/>
          <p:cNvSpPr/>
          <p:nvPr/>
        </p:nvSpPr>
        <p:spPr>
          <a:xfrm>
            <a:off x="804672" y="4334256"/>
            <a:ext cx="2743200" cy="182880"/>
          </a:xfrm>
          <a:prstGeom prst="rect">
            <a:avLst/>
          </a:prstGeom>
          <a:noFill/>
          <a:ln/>
        </p:spPr>
        <p:txBody>
          <a:bodyPr wrap="square" lIns="0" tIns="0" rIns="0" bIns="0" rtlCol="0" anchor="ctr"/>
          <a:lstStyle/>
          <a:p>
            <a:pPr indent="0" marL="0">
              <a:buNone/>
            </a:pPr>
            <a:r>
              <a:rPr lang="en-US" sz="850" b="1" spc="160" kern="0" dirty="0">
                <a:solidFill>
                  <a:srgbClr val="D97706"/>
                </a:solidFill>
                <a:latin typeface="Calibri" pitchFamily="34" charset="0"/>
                <a:ea typeface="Calibri" pitchFamily="34" charset="-122"/>
                <a:cs typeface="Calibri" pitchFamily="34" charset="-120"/>
              </a:rPr>
              <a:t>VERDICT</a:t>
            </a:r>
            <a:endParaRPr lang="en-US" sz="850" dirty="0"/>
          </a:p>
        </p:txBody>
      </p:sp>
      <p:sp>
        <p:nvSpPr>
          <p:cNvPr id="58" name="Text 56"/>
          <p:cNvSpPr/>
          <p:nvPr/>
        </p:nvSpPr>
        <p:spPr>
          <a:xfrm>
            <a:off x="804672" y="4517136"/>
            <a:ext cx="10582351" cy="288595"/>
          </a:xfrm>
          <a:prstGeom prst="rect">
            <a:avLst/>
          </a:prstGeom>
          <a:noFill/>
          <a:ln/>
        </p:spPr>
        <p:txBody>
          <a:bodyPr wrap="square" lIns="0" tIns="0" rIns="0" bIns="0" rtlCol="0" anchor="t"/>
          <a:lstStyle/>
          <a:p>
            <a:pPr indent="0" marL="0">
              <a:lnSpc>
                <a:spcPts val="2185"/>
              </a:lnSpc>
              <a:buNone/>
            </a:pPr>
            <a:r>
              <a:rPr lang="en-US" sz="1900" b="1" dirty="0">
                <a:solidFill>
                  <a:srgbClr val="0A1426"/>
                </a:solidFill>
                <a:latin typeface="Calibri" pitchFamily="34" charset="0"/>
                <a:ea typeface="Calibri" pitchFamily="34" charset="-122"/>
                <a:cs typeface="Calibri" pitchFamily="34" charset="-120"/>
              </a:rPr>
              <a:t>Bid at reserve. Fund with a CGTMSE limit, committed at ₹3.40 Cr.</a:t>
            </a:r>
            <a:endParaRPr lang="en-US" sz="1900" dirty="0"/>
          </a:p>
        </p:txBody>
      </p:sp>
      <p:sp>
        <p:nvSpPr>
          <p:cNvPr id="59" name="Text 57"/>
          <p:cNvSpPr/>
          <p:nvPr/>
        </p:nvSpPr>
        <p:spPr>
          <a:xfrm>
            <a:off x="804672" y="4860595"/>
            <a:ext cx="10582351" cy="1253338"/>
          </a:xfrm>
          <a:prstGeom prst="rect">
            <a:avLst/>
          </a:prstGeom>
          <a:noFill/>
          <a:ln/>
        </p:spPr>
        <p:txBody>
          <a:bodyPr wrap="square" lIns="0" tIns="0" rIns="0" bIns="0" rtlCol="0" anchor="t"/>
          <a:lstStyle/>
          <a:p>
            <a:pPr indent="0" marL="0">
              <a:lnSpc>
                <a:spcPts val="1704"/>
              </a:lnSpc>
              <a:buNone/>
            </a:pPr>
            <a:r>
              <a:rPr lang="en-US" sz="1200" dirty="0">
                <a:solidFill>
                  <a:srgbClr val="3B4660"/>
                </a:solidFill>
                <a:latin typeface="Calibri" pitchFamily="34" charset="0"/>
                <a:ea typeface="Calibri" pitchFamily="34" charset="-122"/>
                <a:cs typeface="Calibri" pitchFamily="34" charset="-120"/>
              </a:rPr>
              <a:t>Of the three structures only debt is both viable and permitted without BDA's consent — and viable only if the facility is sanctioned at ₹4.17 Cr but committed at ₹3.40 Cr. The binding condition sits earlier than the financing: at BDA's ₹30 L reserve the project returns 11.4% against 12.50% guaranteed debt, so it does not cover the money that funds it before a rupee of premium is bid. Bid at or barely above reserve, or do not bid. On a contract with a five-year lock-in and a fifteen-year restoration obligation, winning at the wrong price is worse than losing.</a:t>
            </a:r>
            <a:endParaRPr lang="en-US" sz="1200" dirty="0"/>
          </a:p>
        </p:txBody>
      </p:sp>
      <p:sp>
        <p:nvSpPr>
          <p:cNvPr id="60" name="Text 58"/>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384048" cy="384048"/>
          </a:xfrm>
          <a:prstGeom prst="ellipse">
            <a:avLst/>
          </a:prstGeom>
          <a:solidFill>
            <a:srgbClr val="2B66EA"/>
          </a:solidFill>
          <a:ln/>
        </p:spPr>
      </p:sp>
      <p:sp>
        <p:nvSpPr>
          <p:cNvPr id="3" name="Text 1"/>
          <p:cNvSpPr/>
          <p:nvPr/>
        </p:nvSpPr>
        <p:spPr>
          <a:xfrm>
            <a:off x="566928" y="457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p:nvPr/>
        </p:nvSpPr>
        <p:spPr>
          <a:xfrm>
            <a:off x="1133856" y="402336"/>
            <a:ext cx="10490911" cy="512064"/>
          </a:xfrm>
          <a:prstGeom prst="rect">
            <a:avLst/>
          </a:prstGeom>
          <a:noFill/>
          <a:ln/>
        </p:spPr>
        <p:txBody>
          <a:bodyPr wrap="square" lIns="0" tIns="0" rIns="0" bIns="0" rtlCol="0" anchor="ctr"/>
          <a:lstStyle/>
          <a:p>
            <a:pPr indent="0" marL="0">
              <a:buNone/>
            </a:pPr>
            <a:r>
              <a:rPr lang="en-US" sz="3000" b="1" dirty="0">
                <a:solidFill>
                  <a:srgbClr val="0A1426"/>
                </a:solidFill>
                <a:latin typeface="Calibri" pitchFamily="34" charset="0"/>
                <a:ea typeface="Calibri" pitchFamily="34" charset="-122"/>
                <a:cs typeface="Calibri" pitchFamily="34" charset="-120"/>
              </a:rPr>
              <a:t>Risks and open items</a:t>
            </a:r>
            <a:endParaRPr lang="en-US" sz="3000" dirty="0"/>
          </a:p>
        </p:txBody>
      </p:sp>
      <p:sp>
        <p:nvSpPr>
          <p:cNvPr id="5" name="Shape 3"/>
          <p:cNvSpPr/>
          <p:nvPr/>
        </p:nvSpPr>
        <p:spPr>
          <a:xfrm>
            <a:off x="566928" y="1170432"/>
            <a:ext cx="182880" cy="182880"/>
          </a:xfrm>
          <a:prstGeom prst="ellipse">
            <a:avLst/>
          </a:prstGeom>
          <a:solidFill>
            <a:srgbClr val="C8553D"/>
          </a:solidFill>
          <a:ln/>
        </p:spPr>
      </p:sp>
      <p:sp>
        <p:nvSpPr>
          <p:cNvPr id="6" name="Text 4"/>
          <p:cNvSpPr/>
          <p:nvPr/>
        </p:nvSpPr>
        <p:spPr>
          <a:xfrm>
            <a:off x="859536" y="1133856"/>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Show conversion</a:t>
            </a:r>
            <a:endParaRPr lang="en-US" sz="1250" dirty="0"/>
          </a:p>
        </p:txBody>
      </p:sp>
      <p:sp>
        <p:nvSpPr>
          <p:cNvPr id="7" name="Text 5"/>
          <p:cNvSpPr/>
          <p:nvPr/>
        </p:nvSpPr>
        <p:spPr>
          <a:xfrm>
            <a:off x="859536" y="1380744"/>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Roughly half the revenue comes from one product with no operating history. Mitigation: obtain slot capacity and soft-launch data pre-bid; bid a price that survives the base case.</a:t>
            </a:r>
            <a:endParaRPr lang="en-US" sz="1050" dirty="0"/>
          </a:p>
        </p:txBody>
      </p:sp>
      <p:sp>
        <p:nvSpPr>
          <p:cNvPr id="8" name="Shape 6"/>
          <p:cNvSpPr/>
          <p:nvPr/>
        </p:nvSpPr>
        <p:spPr>
          <a:xfrm>
            <a:off x="566928" y="2322576"/>
            <a:ext cx="182880" cy="182880"/>
          </a:xfrm>
          <a:prstGeom prst="ellipse">
            <a:avLst/>
          </a:prstGeom>
          <a:solidFill>
            <a:srgbClr val="C8553D"/>
          </a:solidFill>
          <a:ln/>
        </p:spPr>
      </p:sp>
      <p:sp>
        <p:nvSpPr>
          <p:cNvPr id="9" name="Text 7"/>
          <p:cNvSpPr/>
          <p:nvPr/>
        </p:nvSpPr>
        <p:spPr>
          <a:xfrm>
            <a:off x="859536" y="2286000"/>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Bid price in a sealed H1 process</a:t>
            </a:r>
            <a:endParaRPr lang="en-US" sz="1250" dirty="0"/>
          </a:p>
        </p:txBody>
      </p:sp>
      <p:sp>
        <p:nvSpPr>
          <p:cNvPr id="10" name="Text 8"/>
          <p:cNvSpPr/>
          <p:nvPr/>
        </p:nvSpPr>
        <p:spPr>
          <a:xfrm>
            <a:off x="859536" y="2532888"/>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The base case already returns 11.4% against 12.50% debt at the ₹30 L reserve, and the fee escalates for the full term, in a format that rewards the highest bid. Mitigation: a board-approved ceiling before the bid is sealed.</a:t>
            </a:r>
            <a:endParaRPr lang="en-US" sz="1050" dirty="0"/>
          </a:p>
        </p:txBody>
      </p:sp>
      <p:sp>
        <p:nvSpPr>
          <p:cNvPr id="11" name="Shape 9"/>
          <p:cNvSpPr/>
          <p:nvPr/>
        </p:nvSpPr>
        <p:spPr>
          <a:xfrm>
            <a:off x="566928" y="3474720"/>
            <a:ext cx="182880" cy="182880"/>
          </a:xfrm>
          <a:prstGeom prst="ellipse">
            <a:avLst/>
          </a:prstGeom>
          <a:solidFill>
            <a:srgbClr val="C8553D"/>
          </a:solidFill>
          <a:ln/>
        </p:spPr>
      </p:sp>
      <p:sp>
        <p:nvSpPr>
          <p:cNvPr id="12" name="Text 10"/>
          <p:cNvSpPr/>
          <p:nvPr/>
        </p:nvSpPr>
        <p:spPr>
          <a:xfrm>
            <a:off x="859536" y="3438144"/>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Five-year lock-in</a:t>
            </a:r>
            <a:endParaRPr lang="en-US" sz="1250" dirty="0"/>
          </a:p>
        </p:txBody>
      </p:sp>
      <p:sp>
        <p:nvSpPr>
          <p:cNvPr id="13" name="Text 11"/>
          <p:cNvSpPr/>
          <p:nvPr/>
        </p:nvSpPr>
        <p:spPr>
          <a:xfrm>
            <a:off x="859536" y="3685032"/>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Exit before it expires costs the remaining contractual amount plus the ₹30 L security. Payback lands at roughly year seven. No contractual mitigation — the bid price has to be right.</a:t>
            </a:r>
            <a:endParaRPr lang="en-US" sz="1050" dirty="0"/>
          </a:p>
        </p:txBody>
      </p:sp>
      <p:sp>
        <p:nvSpPr>
          <p:cNvPr id="14" name="Shape 12"/>
          <p:cNvSpPr/>
          <p:nvPr/>
        </p:nvSpPr>
        <p:spPr>
          <a:xfrm>
            <a:off x="6278728" y="1170432"/>
            <a:ext cx="182880" cy="182880"/>
          </a:xfrm>
          <a:prstGeom prst="ellipse">
            <a:avLst/>
          </a:prstGeom>
          <a:solidFill>
            <a:srgbClr val="D97706"/>
          </a:solidFill>
          <a:ln/>
        </p:spPr>
      </p:sp>
      <p:sp>
        <p:nvSpPr>
          <p:cNvPr id="15" name="Text 13"/>
          <p:cNvSpPr/>
          <p:nvPr/>
        </p:nvSpPr>
        <p:spPr>
          <a:xfrm>
            <a:off x="6571336" y="1133856"/>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Restoration at handover</a:t>
            </a:r>
            <a:endParaRPr lang="en-US" sz="1250" dirty="0"/>
          </a:p>
        </p:txBody>
      </p:sp>
      <p:sp>
        <p:nvSpPr>
          <p:cNvPr id="16" name="Text 14"/>
          <p:cNvSpPr/>
          <p:nvPr/>
        </p:nvSpPr>
        <p:spPr>
          <a:xfrm>
            <a:off x="6571336" y="1380744"/>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Every asset returned in handover condition, BDA's decision binding. A bronze statue and a Miyawaki forest over fifteen years. Mitigation: photographed joint handover report on day one; accrue a provision annually.</a:t>
            </a:r>
            <a:endParaRPr lang="en-US" sz="1050" dirty="0"/>
          </a:p>
        </p:txBody>
      </p:sp>
      <p:sp>
        <p:nvSpPr>
          <p:cNvPr id="17" name="Shape 15"/>
          <p:cNvSpPr/>
          <p:nvPr/>
        </p:nvSpPr>
        <p:spPr>
          <a:xfrm>
            <a:off x="6278728" y="2322576"/>
            <a:ext cx="182880" cy="182880"/>
          </a:xfrm>
          <a:prstGeom prst="ellipse">
            <a:avLst/>
          </a:prstGeom>
          <a:solidFill>
            <a:srgbClr val="2B66EA"/>
          </a:solidFill>
          <a:ln/>
        </p:spPr>
      </p:sp>
      <p:sp>
        <p:nvSpPr>
          <p:cNvPr id="18" name="Text 16"/>
          <p:cNvSpPr/>
          <p:nvPr/>
        </p:nvSpPr>
        <p:spPr>
          <a:xfrm>
            <a:off x="6571336" y="2286000"/>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Lock-in conflict unresolved</a:t>
            </a:r>
            <a:endParaRPr lang="en-US" sz="1250" dirty="0"/>
          </a:p>
        </p:txBody>
      </p:sp>
      <p:sp>
        <p:nvSpPr>
          <p:cNvPr id="19" name="Text 17"/>
          <p:cNvSpPr/>
          <p:nvPr/>
        </p:nvSpPr>
        <p:spPr>
          <a:xfrm>
            <a:off x="6571336" y="2532888"/>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Clause 9 states seven years where clause 14 states five. A seven-year lock-in materially worsens the risk. Settle by pre-bid query before anything is committed.</a:t>
            </a:r>
            <a:endParaRPr lang="en-US" sz="1050" dirty="0"/>
          </a:p>
        </p:txBody>
      </p:sp>
      <p:sp>
        <p:nvSpPr>
          <p:cNvPr id="20" name="Shape 18"/>
          <p:cNvSpPr/>
          <p:nvPr/>
        </p:nvSpPr>
        <p:spPr>
          <a:xfrm>
            <a:off x="6278728" y="3474720"/>
            <a:ext cx="182880" cy="182880"/>
          </a:xfrm>
          <a:prstGeom prst="ellipse">
            <a:avLst/>
          </a:prstGeom>
          <a:solidFill>
            <a:srgbClr val="D97706"/>
          </a:solidFill>
          <a:ln/>
        </p:spPr>
      </p:sp>
      <p:sp>
        <p:nvSpPr>
          <p:cNvPr id="21" name="Text 19"/>
          <p:cNvSpPr/>
          <p:nvPr/>
        </p:nvSpPr>
        <p:spPr>
          <a:xfrm>
            <a:off x="6571336" y="3438144"/>
            <a:ext cx="5053432" cy="237744"/>
          </a:xfrm>
          <a:prstGeom prst="rect">
            <a:avLst/>
          </a:prstGeom>
          <a:noFill/>
          <a:ln/>
        </p:spPr>
        <p:txBody>
          <a:bodyPr wrap="square" lIns="0" tIns="0" rIns="0" bIns="0" rtlCol="0" anchor="ctr"/>
          <a:lstStyle/>
          <a:p>
            <a:pPr indent="0" marL="0">
              <a:buNone/>
            </a:pPr>
            <a:r>
              <a:rPr lang="en-US" sz="1250" b="1" dirty="0">
                <a:solidFill>
                  <a:srgbClr val="0A1426"/>
                </a:solidFill>
                <a:latin typeface="Calibri" pitchFamily="34" charset="0"/>
                <a:ea typeface="Calibri" pitchFamily="34" charset="-122"/>
                <a:cs typeface="Calibri" pitchFamily="34" charset="-120"/>
              </a:rPr>
              <a:t>Restoration at handover</a:t>
            </a:r>
            <a:endParaRPr lang="en-US" sz="1250" dirty="0"/>
          </a:p>
        </p:txBody>
      </p:sp>
      <p:sp>
        <p:nvSpPr>
          <p:cNvPr id="22" name="Text 20"/>
          <p:cNvSpPr/>
          <p:nvPr/>
        </p:nvSpPr>
        <p:spPr>
          <a:xfrm>
            <a:off x="6571336" y="3685032"/>
            <a:ext cx="5053432" cy="859536"/>
          </a:xfrm>
          <a:prstGeom prst="rect">
            <a:avLst/>
          </a:prstGeom>
          <a:noFill/>
          <a:ln/>
        </p:spPr>
        <p:txBody>
          <a:bodyPr wrap="square" lIns="0" tIns="0" rIns="0" bIns="0" rtlCol="0" anchor="t"/>
          <a:lstStyle/>
          <a:p>
            <a:pPr indent="0" marL="0">
              <a:lnSpc>
                <a:spcPts val="1400"/>
              </a:lnSpc>
              <a:buNone/>
            </a:pPr>
            <a:r>
              <a:rPr lang="en-US" sz="1050" dirty="0">
                <a:solidFill>
                  <a:srgbClr val="3B4660"/>
                </a:solidFill>
                <a:latin typeface="Calibri" pitchFamily="34" charset="0"/>
                <a:ea typeface="Calibri" pitchFamily="34" charset="-122"/>
                <a:cs typeface="Calibri" pitchFamily="34" charset="-120"/>
              </a:rPr>
              <a:t>Every asset returned in handover condition, BDA's decision binding. A bronze statue and a Miyawaki forest over fifteen years. Mitigation: a photographed joint handover report on day one and a restoration provision accrued annually.</a:t>
            </a:r>
            <a:endParaRPr lang="en-US" sz="1050" dirty="0"/>
          </a:p>
        </p:txBody>
      </p:sp>
      <p:sp>
        <p:nvSpPr>
          <p:cNvPr id="23" name="Text 21"/>
          <p:cNvSpPr/>
          <p:nvPr/>
        </p:nvSpPr>
        <p:spPr>
          <a:xfrm>
            <a:off x="566928" y="6437376"/>
            <a:ext cx="11057839" cy="219456"/>
          </a:xfrm>
          <a:prstGeom prst="rect">
            <a:avLst/>
          </a:prstGeom>
          <a:noFill/>
          <a:ln/>
        </p:spPr>
        <p:txBody>
          <a:bodyPr wrap="square" lIns="0" tIns="0" rIns="0" bIns="0" rtlCol="0" anchor="ctr"/>
          <a:lstStyle/>
          <a:p>
            <a:pPr indent="0" marL="0">
              <a:buNone/>
            </a:pPr>
            <a:r>
              <a:rPr lang="en-US" sz="850" dirty="0">
                <a:solidFill>
                  <a:srgbClr val="6E7689"/>
                </a:solidFill>
                <a:latin typeface="Calibri" pitchFamily="34" charset="0"/>
                <a:ea typeface="Calibri" pitchFamily="34" charset="-122"/>
                <a:cs typeface="Calibri" pitchFamily="34" charset="-120"/>
              </a:rPr>
              <a:t>Ramayan Vatika · Bareilly Development Authority · Project finance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E-O-D Parks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Ramayan Vatika — Project Finance</dc:title>
  <dc:subject>BDA licence-fee concession, 10+5 years</dc:subject>
  <dc:creator>Vision Amusement Park Pvt. Ltd.</dc:creator>
  <cp:lastModifiedBy>Vision Amusement Park Pvt. Ltd.</cp:lastModifiedBy>
  <cp:revision>1</cp:revision>
  <dcterms:created xsi:type="dcterms:W3CDTF">2026-08-25T08:34:40Z</dcterms:created>
  <dcterms:modified xsi:type="dcterms:W3CDTF">2026-08-25T08:34:40Z</dcterms:modified>
</cp:coreProperties>
</file>