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Entry ticketing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0.25</c:v>
                </c:pt>
                <c:pt idx="1">
                  <c:v>0.32</c:v>
                </c:pt>
                <c:pt idx="2">
                  <c:v>0.44</c:v>
                </c:pt>
                <c:pt idx="3">
                  <c:v>0.49</c:v>
                </c:pt>
                <c:pt idx="4">
                  <c:v>0.6</c:v>
                </c:pt>
                <c:pt idx="5">
                  <c:v>0.64</c:v>
                </c:pt>
                <c:pt idx="6">
                  <c:v>0.72</c:v>
                </c:pt>
                <c:pt idx="7">
                  <c:v>0.76</c:v>
                </c:pt>
                <c:pt idx="8">
                  <c:v>0.86</c:v>
                </c:pt>
                <c:pt idx="9">
                  <c:v>0.89</c:v>
                </c:pt>
              </c:numCache>
            </c:numRef>
          </c:val>
        </c:ser>
        <c:ser>
          <c:idx val="1"/>
          <c:order val="1"/>
          <c:tx>
            <c:strRef>
              <c:f>Sheet1!$C$1</c:f>
              <c:strCache>
                <c:ptCount val="1"/>
                <c:pt idx="0">
                  <c:v>Holographic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0.88</c:v>
                </c:pt>
                <c:pt idx="1">
                  <c:v>1.2</c:v>
                </c:pt>
                <c:pt idx="2">
                  <c:v>1.59</c:v>
                </c:pt>
                <c:pt idx="3">
                  <c:v>1.82</c:v>
                </c:pt>
                <c:pt idx="4">
                  <c:v>2.08</c:v>
                </c:pt>
                <c:pt idx="5">
                  <c:v>2.26</c:v>
                </c:pt>
                <c:pt idx="6">
                  <c:v>2.56</c:v>
                </c:pt>
                <c:pt idx="7">
                  <c:v>2.72</c:v>
                </c:pt>
                <c:pt idx="8">
                  <c:v>2.97</c:v>
                </c:pt>
                <c:pt idx="9">
                  <c:v>3.14</c:v>
                </c:pt>
              </c:numCache>
            </c:numRef>
          </c:val>
        </c:ser>
        <c:ser>
          <c:idx val="2"/>
          <c:order val="2"/>
          <c:tx>
            <c:strRef>
              <c:f>Sheet1!$D$1</c:f>
              <c:strCache>
                <c:ptCount val="1"/>
                <c:pt idx="0">
                  <c:v>Food court</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Sheet1!$D$2:$D$11</c:f>
              <c:numCache>
                <c:formatCode>General</c:formatCode>
                <c:ptCount val="10"/>
                <c:pt idx="0">
                  <c:v>0.16</c:v>
                </c:pt>
                <c:pt idx="1">
                  <c:v>0.2</c:v>
                </c:pt>
                <c:pt idx="2">
                  <c:v>0.24</c:v>
                </c:pt>
                <c:pt idx="3">
                  <c:v>0.27</c:v>
                </c:pt>
                <c:pt idx="4">
                  <c:v>0.3</c:v>
                </c:pt>
                <c:pt idx="5">
                  <c:v>0.33</c:v>
                </c:pt>
                <c:pt idx="6">
                  <c:v>0.35</c:v>
                </c:pt>
                <c:pt idx="7">
                  <c:v>0.37</c:v>
                </c:pt>
                <c:pt idx="8">
                  <c:v>0.39</c:v>
                </c:pt>
                <c:pt idx="9">
                  <c:v>0.41</c:v>
                </c:pt>
              </c:numCache>
            </c:numRef>
          </c:val>
        </c:ser>
        <c:ser>
          <c:idx val="3"/>
          <c:order val="3"/>
          <c:tx>
            <c:strRef>
              <c:f>Sheet1!$E$1</c:f>
              <c:strCache>
                <c:ptCount val="1"/>
                <c:pt idx="0">
                  <c:v>Parking, events, toy train, ancillary</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Sheet1!$E$2:$E$11</c:f>
              <c:numCache>
                <c:formatCode>General</c:formatCode>
                <c:ptCount val="10"/>
                <c:pt idx="0">
                  <c:v>0.25</c:v>
                </c:pt>
                <c:pt idx="1">
                  <c:v>0.44</c:v>
                </c:pt>
                <c:pt idx="2">
                  <c:v>0.56</c:v>
                </c:pt>
                <c:pt idx="3">
                  <c:v>0.64</c:v>
                </c:pt>
                <c:pt idx="4">
                  <c:v>0.72</c:v>
                </c:pt>
                <c:pt idx="5">
                  <c:v>0.77</c:v>
                </c:pt>
                <c:pt idx="6">
                  <c:v>0.82</c:v>
                </c:pt>
                <c:pt idx="7">
                  <c:v>0.86</c:v>
                </c:pt>
                <c:pt idx="8">
                  <c:v>0.91</c:v>
                </c:pt>
                <c:pt idx="9">
                  <c:v>0.95</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₹2.81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WALK-AWAY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₹35.5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₹2.96 L a month</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566928"/>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749808"/>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093267"/>
            <a:ext cx="10582351" cy="194254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₹2.81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the model solves the break-even licence fee at ₹35.5 L a year against BDA's ₹30 L reserve — 18% of headroom in a sealed highest-bid process.</a:t>
            </a:r>
            <a:endParaRPr lang="en-US" sz="1200" dirty="0"/>
          </a:p>
        </p:txBody>
      </p:sp>
      <p:sp>
        <p:nvSpPr>
          <p:cNvPr id="6" name="Shape 4"/>
          <p:cNvSpPr/>
          <p:nvPr/>
        </p:nvSpPr>
        <p:spPr>
          <a:xfrm>
            <a:off x="566928" y="3383280"/>
            <a:ext cx="3539642" cy="1298448"/>
          </a:xfrm>
          <a:prstGeom prst="roundRect">
            <a:avLst>
              <a:gd name="adj" fmla="val 4225"/>
            </a:avLst>
          </a:prstGeom>
          <a:solidFill>
            <a:srgbClr val="FBF1EE"/>
          </a:solidFill>
          <a:ln w="12700">
            <a:solidFill>
              <a:srgbClr val="C8553D"/>
            </a:solidFill>
            <a:prstDash val="solid"/>
          </a:ln>
        </p:spPr>
      </p:sp>
      <p:sp>
        <p:nvSpPr>
          <p:cNvPr id="7" name="Text 5"/>
          <p:cNvSpPr/>
          <p:nvPr/>
        </p:nvSpPr>
        <p:spPr>
          <a:xfrm>
            <a:off x="749808"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BASE CASE PROJECT IRR</a:t>
            </a:r>
            <a:endParaRPr lang="en-US" sz="850" dirty="0"/>
          </a:p>
        </p:txBody>
      </p:sp>
      <p:sp>
        <p:nvSpPr>
          <p:cNvPr id="8" name="Text 6"/>
          <p:cNvSpPr/>
          <p:nvPr/>
        </p:nvSpPr>
        <p:spPr>
          <a:xfrm>
            <a:off x="749808"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298448"/>
          </a:xfrm>
          <a:prstGeom prst="roundRect">
            <a:avLst>
              <a:gd name="adj" fmla="val 4225"/>
            </a:avLst>
          </a:prstGeom>
          <a:solidFill>
            <a:srgbClr val="EDFAF4"/>
          </a:solidFill>
          <a:ln w="12700">
            <a:solidFill>
              <a:srgbClr val="10B981"/>
            </a:solidFill>
            <a:prstDash val="solid"/>
          </a:ln>
        </p:spPr>
      </p:sp>
      <p:sp>
        <p:nvSpPr>
          <p:cNvPr id="11" name="Text 9"/>
          <p:cNvSpPr/>
          <p:nvPr/>
        </p:nvSpPr>
        <p:spPr>
          <a:xfrm>
            <a:off x="4508906"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ON BDA'S OWN ASSUMPTION</a:t>
            </a:r>
            <a:endParaRPr lang="en-US" sz="850" dirty="0"/>
          </a:p>
        </p:txBody>
      </p:sp>
      <p:sp>
        <p:nvSpPr>
          <p:cNvPr id="12" name="Text 10"/>
          <p:cNvSpPr/>
          <p:nvPr/>
        </p:nvSpPr>
        <p:spPr>
          <a:xfrm>
            <a:off x="4508906"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THE WHOLE DIFFERENCE</a:t>
            </a:r>
            <a:endParaRPr lang="en-US" sz="850" dirty="0"/>
          </a:p>
        </p:txBody>
      </p:sp>
      <p:sp>
        <p:nvSpPr>
          <p:cNvPr id="16" name="Text 14"/>
          <p:cNvSpPr/>
          <p:nvPr/>
        </p:nvSpPr>
        <p:spPr>
          <a:xfrm>
            <a:off x="8268005" y="3749040"/>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34664"/>
          </a:xfrm>
          <a:prstGeom prst="roundRect">
            <a:avLst>
              <a:gd name="adj" fmla="val 3703"/>
            </a:avLst>
          </a:prstGeom>
          <a:solidFill>
            <a:srgbClr val="F1F5FE"/>
          </a:solidFill>
          <a:ln w="15875">
            <a:solidFill>
              <a:srgbClr val="2B66EA"/>
            </a:solidFill>
            <a:prstDash val="solid"/>
          </a:ln>
        </p:spPr>
      </p:sp>
      <p:sp>
        <p:nvSpPr>
          <p:cNvPr id="19" name="Text 17"/>
          <p:cNvSpPr/>
          <p:nvPr/>
        </p:nvSpPr>
        <p:spPr>
          <a:xfrm>
            <a:off x="804672" y="50657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248656"/>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What would change the recommendation</a:t>
            </a:r>
            <a:endParaRPr lang="en-US" sz="1800" dirty="0"/>
          </a:p>
        </p:txBody>
      </p:sp>
      <p:sp>
        <p:nvSpPr>
          <p:cNvPr id="21" name="Text 19"/>
          <p:cNvSpPr/>
          <p:nvPr/>
        </p:nvSpPr>
        <p:spPr>
          <a:xfrm>
            <a:off x="804672" y="5576926"/>
            <a:ext cx="10582351" cy="540634"/>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Three written answers from BDA move this from marginal to clearly fundable: the show's capacity, slot count and any soft-launch footfall; an agreed tariff with a contractual escalation path; and resolution of the five-versus-seven-year lock-in conflict. All three are free to ask.</a:t>
            </a:r>
            <a:endParaRPr lang="en-US" sz="11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01388"/>
            <a:ext cx="11057839" cy="1791513"/>
          </a:xfrm>
          <a:prstGeom prst="roundRect">
            <a:avLst>
              <a:gd name="adj" fmla="val 2552"/>
            </a:avLst>
          </a:prstGeom>
          <a:solidFill>
            <a:srgbClr val="FBEFEC"/>
          </a:solidFill>
          <a:ln w="15875">
            <a:solidFill>
              <a:srgbClr val="C8553D"/>
            </a:solidFill>
            <a:prstDash val="solid"/>
          </a:ln>
        </p:spPr>
      </p:sp>
      <p:sp>
        <p:nvSpPr>
          <p:cNvPr id="8" name="Text 5"/>
          <p:cNvSpPr/>
          <p:nvPr/>
        </p:nvSpPr>
        <p:spPr>
          <a:xfrm>
            <a:off x="804672" y="461111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93996"/>
            <a:ext cx="10582351" cy="258216"/>
          </a:xfrm>
          <a:prstGeom prst="rect">
            <a:avLst/>
          </a:prstGeom>
          <a:noFill/>
          <a:ln/>
        </p:spPr>
        <p:txBody>
          <a:bodyPr wrap="square" lIns="0" tIns="0" rIns="0" bIns="0" rtlCol="0" anchor="t"/>
          <a:lstStyle/>
          <a:p>
            <a:pPr indent="0" marL="0">
              <a:lnSpc>
                <a:spcPts val="1955"/>
              </a:lnSpc>
              <a:buNone/>
            </a:pPr>
            <a:r>
              <a:rPr lang="en-US" sz="1700" b="1" dirty="0">
                <a:solidFill>
                  <a:srgbClr val="0A1426"/>
                </a:solidFill>
                <a:latin typeface="Calibri" pitchFamily="34" charset="0"/>
                <a:ea typeface="Calibri" pitchFamily="34" charset="-122"/>
                <a:cs typeface="Calibri" pitchFamily="34" charset="-120"/>
              </a:rPr>
              <a:t>Two clauses that decide how this can be financed</a:t>
            </a:r>
            <a:endParaRPr lang="en-US" sz="1700" dirty="0"/>
          </a:p>
        </p:txBody>
      </p:sp>
      <p:sp>
        <p:nvSpPr>
          <p:cNvPr id="10" name="Text 7"/>
          <p:cNvSpPr/>
          <p:nvPr/>
        </p:nvSpPr>
        <p:spPr>
          <a:xfrm>
            <a:off x="804672" y="5107076"/>
            <a:ext cx="10582351" cy="1112672"/>
          </a:xfrm>
          <a:prstGeom prst="rect">
            <a:avLst/>
          </a:prstGeom>
          <a:noFill/>
          <a:ln/>
        </p:spPr>
        <p:txBody>
          <a:bodyPr wrap="square" lIns="0" tIns="0" rIns="0" bIns="0" rtlCol="0" anchor="t"/>
          <a:lstStyle/>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1050" dirty="0"/>
          </a:p>
          <a:p>
            <a:pPr indent="0" marL="0">
              <a:lnSpc>
                <a:spcPts val="1491"/>
              </a:lnSpc>
              <a:buNone/>
            </a:pPr>
            <a:endParaRPr lang="en-US" sz="1050" dirty="0"/>
          </a:p>
          <a:p>
            <a:pPr indent="0" marL="0">
              <a:lnSpc>
                <a:spcPts val="1491"/>
              </a:lnSpc>
              <a:buNone/>
            </a:pPr>
            <a:r>
              <a:rPr lang="en-US" sz="105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105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₹2.81 Cr. The gap between those two numbers is the whole question.</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BF1EE"/>
          </a:solidFill>
          <a:ln w="12700">
            <a:solidFill>
              <a:srgbClr val="C8553D"/>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SERVICEABLE AT 1.30× DSCR</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₹1.36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registration and the first quarter's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(year 2, optional) and two years of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₹454.7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255260"/>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4988"/>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7868"/>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performance security is the hidden cost</a:t>
            </a:r>
            <a:endParaRPr lang="en-US" sz="1400" dirty="0"/>
          </a:p>
        </p:txBody>
      </p:sp>
      <p:sp>
        <p:nvSpPr>
          <p:cNvPr id="22" name="Text 19"/>
          <p:cNvSpPr/>
          <p:nvPr/>
        </p:nvSpPr>
        <p:spPr>
          <a:xfrm>
            <a:off x="804672" y="5815381"/>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₹30 L sits with BDA interest-free for fifteen years — roughly ₹52 lakh of foregone return at an 11.5% opportunity cost, more than a year and a half of licence fee. Price it into the bid.</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250" dirty="0"/>
          </a:p>
        </p:txBody>
      </p:sp>
      <p:graphicFrame>
        <p:nvGraphicFramePr>
          <p:cNvPr id="6" name="Chart 0" descr=""/>
          <p:cNvGraphicFramePr/>
          <p:nvPr/>
        </p:nvGraphicFramePr>
        <p:xfrm>
          <a:off x="566928" y="1541272"/>
          <a:ext cx="11057839" cy="2560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30192"/>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4399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6228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4966259"/>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12182"/>
            <a:ext cx="11057839" cy="1166774"/>
          </a:xfrm>
          <a:prstGeom prst="roundRect">
            <a:avLst>
              <a:gd name="adj" fmla="val 3918"/>
            </a:avLst>
          </a:prstGeom>
          <a:solidFill>
            <a:srgbClr val="FDF6EC"/>
          </a:solidFill>
          <a:ln w="15875">
            <a:solidFill>
              <a:srgbClr val="D97706"/>
            </a:solidFill>
            <a:prstDash val="solid"/>
          </a:ln>
        </p:spPr>
      </p:sp>
      <p:sp>
        <p:nvSpPr>
          <p:cNvPr id="8" name="Text 5"/>
          <p:cNvSpPr/>
          <p:nvPr/>
        </p:nvSpPr>
        <p:spPr>
          <a:xfrm>
            <a:off x="804672" y="5121910"/>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04790"/>
            <a:ext cx="10582351" cy="243027"/>
          </a:xfrm>
          <a:prstGeom prst="rect">
            <a:avLst/>
          </a:prstGeom>
          <a:noFill/>
          <a:ln/>
        </p:spPr>
        <p:txBody>
          <a:bodyPr wrap="square" lIns="0" tIns="0" rIns="0" bIns="0" rtlCol="0" anchor="t"/>
          <a:lstStyle/>
          <a:p>
            <a:pPr indent="0" marL="0">
              <a:lnSpc>
                <a:spcPts val="1840"/>
              </a:lnSpc>
              <a:buNone/>
            </a:pPr>
            <a:r>
              <a:rPr lang="en-US" sz="1600" b="1" dirty="0">
                <a:solidFill>
                  <a:srgbClr val="0A1426"/>
                </a:solidFill>
                <a:latin typeface="Calibri" pitchFamily="34" charset="0"/>
                <a:ea typeface="Calibri" pitchFamily="34" charset="-122"/>
                <a:cs typeface="Calibri" pitchFamily="34" charset="-120"/>
              </a:rPr>
              <a:t>The manpower floor is contractual, not discretionary</a:t>
            </a:r>
            <a:endParaRPr lang="en-US" sz="1600" dirty="0"/>
          </a:p>
        </p:txBody>
      </p:sp>
      <p:sp>
        <p:nvSpPr>
          <p:cNvPr id="10" name="Text 7"/>
          <p:cNvSpPr/>
          <p:nvPr/>
        </p:nvSpPr>
        <p:spPr>
          <a:xfrm>
            <a:off x="804672" y="5602681"/>
            <a:ext cx="10582351" cy="503123"/>
          </a:xfrm>
          <a:prstGeom prst="rect">
            <a:avLst/>
          </a:prstGeom>
          <a:noFill/>
          <a:ln/>
        </p:spPr>
        <p:txBody>
          <a:bodyPr wrap="square" lIns="0" tIns="0" rIns="0" bIns="0" rtlCol="0" anchor="t"/>
          <a:lstStyle/>
          <a:p>
            <a:pPr indent="0" marL="0">
              <a:lnSpc>
                <a:spcPts val="1420"/>
              </a:lnSpc>
              <a:buNone/>
            </a:pPr>
            <a:r>
              <a:rPr lang="en-US" sz="1000" dirty="0">
                <a:solidFill>
                  <a:srgbClr val="3B4660"/>
                </a:solidFill>
                <a:latin typeface="Calibri" pitchFamily="34" charset="0"/>
                <a:ea typeface="Calibri" pitchFamily="34" charset="-122"/>
                <a:cs typeface="Calibri" pitchFamily="34" charset="-120"/>
              </a:rPr>
              <a:t>BDA prescribes 4 sweepers and 5 security per shift plus 8 gardeners, a site manager, an electrician and a plumber per day — about 29 heads before a ticket is sold, and roughly 37 with ticketing and show staff. Payroll cannot flex in a bad season. That is why the margin here is thinner than at Geeta Govind Vatika.</a:t>
            </a:r>
            <a:endParaRPr lang="en-US" sz="10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250" dirty="0"/>
          </a:p>
        </p:txBody>
      </p:sp>
      <p:graphicFrame>
        <p:nvGraphicFramePr>
          <p:cNvPr id="6" name="Chart 0" descr=""/>
          <p:cNvGraphicFramePr/>
          <p:nvPr/>
        </p:nvGraphicFramePr>
        <p:xfrm>
          <a:off x="566928" y="154127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250" dirty="0"/>
          </a:p>
        </p:txBody>
      </p:sp>
      <p:graphicFrame>
        <p:nvGraphicFramePr>
          <p:cNvPr id="6" name="Chart 0" descr=""/>
          <p:cNvGraphicFramePr/>
          <p:nvPr/>
        </p:nvGraphicFramePr>
        <p:xfrm>
          <a:off x="566928" y="154127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73583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₹-0.86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₹4.90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7.0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3.6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836416"/>
            <a:ext cx="11057839" cy="1062299"/>
          </a:xfrm>
          <a:prstGeom prst="roundRect">
            <a:avLst>
              <a:gd name="adj" fmla="val 4304"/>
            </a:avLst>
          </a:prstGeom>
          <a:solidFill>
            <a:srgbClr val="EDFAF4"/>
          </a:solidFill>
          <a:ln w="15875">
            <a:solidFill>
              <a:srgbClr val="10B981"/>
            </a:solidFill>
            <a:prstDash val="solid"/>
          </a:ln>
        </p:spPr>
      </p:sp>
      <p:sp>
        <p:nvSpPr>
          <p:cNvPr id="9" name="Text 5"/>
          <p:cNvSpPr/>
          <p:nvPr/>
        </p:nvSpPr>
        <p:spPr>
          <a:xfrm>
            <a:off x="804672" y="3946144"/>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412902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BDA's own case works — and it is not implausible</a:t>
            </a:r>
            <a:endParaRPr lang="en-US" sz="1900" dirty="0"/>
          </a:p>
        </p:txBody>
      </p:sp>
      <p:sp>
        <p:nvSpPr>
          <p:cNvPr id="11" name="Text 7"/>
          <p:cNvSpPr/>
          <p:nvPr/>
        </p:nvSpPr>
        <p:spPr>
          <a:xfrm>
            <a:off x="804672" y="447248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On BDA's own assumptions the project returns 36.1%. Bid a price that survives the base case and rewards the BDA case.</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5.4%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00424"/>
            <a:ext cx="11057839" cy="1737492"/>
          </a:xfrm>
          <a:prstGeom prst="roundRect">
            <a:avLst>
              <a:gd name="adj" fmla="val 2631"/>
            </a:avLst>
          </a:prstGeom>
          <a:solidFill>
            <a:srgbClr val="FBEFEC"/>
          </a:solidFill>
          <a:ln w="15875">
            <a:solidFill>
              <a:srgbClr val="C8553D"/>
            </a:solidFill>
            <a:prstDash val="solid"/>
          </a:ln>
        </p:spPr>
      </p:sp>
      <p:sp>
        <p:nvSpPr>
          <p:cNvPr id="8" name="Text 5"/>
          <p:cNvSpPr/>
          <p:nvPr/>
        </p:nvSpPr>
        <p:spPr>
          <a:xfrm>
            <a:off x="804672" y="4010152"/>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19303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 and it needs BDA's consent</a:t>
            </a:r>
            <a:endParaRPr lang="en-US" sz="1900" dirty="0"/>
          </a:p>
        </p:txBody>
      </p:sp>
      <p:sp>
        <p:nvSpPr>
          <p:cNvPr id="10" name="Text 7"/>
          <p:cNvSpPr/>
          <p:nvPr/>
        </p:nvSpPr>
        <p:spPr>
          <a:xfrm>
            <a:off x="804672" y="4536491"/>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5.4%; a 22% hurdle would take 100% — the whole project and then some.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Any structure that changes VAPPL's shareholding also needs BDA's prior written approval during the lock-in, with forfeiture of the performance security as the stated consequence. The equity conversation starts at BDA's office.</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FBEFEC"/>
          </a:solidFill>
          <a:ln w="15875">
            <a:solidFill>
              <a:srgbClr val="C8553D"/>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₹4.17 Cr the minimum post-moratorium DSCR is 1.09×; banks underwrite to 1.30×. The workable structure sanctions ₹4.17 Cr but commits ₹2.81 Cr. Two full years of opex presented as committed term money will be declined.</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724148"/>
            <a:ext cx="11057839" cy="2637749"/>
          </a:xfrm>
          <a:prstGeom prst="roundRect">
            <a:avLst>
              <a:gd name="adj" fmla="val 1733"/>
            </a:avLst>
          </a:prstGeom>
          <a:solidFill>
            <a:srgbClr val="FBEFEC"/>
          </a:solidFill>
          <a:ln w="15875">
            <a:solidFill>
              <a:srgbClr val="C8553D"/>
            </a:solidFill>
            <a:prstDash val="solid"/>
          </a:ln>
        </p:spPr>
      </p:sp>
      <p:sp>
        <p:nvSpPr>
          <p:cNvPr id="8" name="Text 5"/>
          <p:cNvSpPr/>
          <p:nvPr/>
        </p:nvSpPr>
        <p:spPr>
          <a:xfrm>
            <a:off x="804672" y="38338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0167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900" dirty="0"/>
          </a:p>
        </p:txBody>
      </p:sp>
      <p:sp>
        <p:nvSpPr>
          <p:cNvPr id="10" name="Text 7"/>
          <p:cNvSpPr/>
          <p:nvPr/>
        </p:nvSpPr>
        <p:spPr>
          <a:xfrm>
            <a:off x="804672" y="4360215"/>
            <a:ext cx="10582351" cy="192853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5.4%</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1.38×</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6.6%</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1.43×</a:t>
            </a:r>
            <a:endParaRPr lang="en-US" sz="950" dirty="0"/>
          </a:p>
        </p:txBody>
      </p:sp>
      <p:sp>
        <p:nvSpPr>
          <p:cNvPr id="56" name="Shape 54"/>
          <p:cNvSpPr/>
          <p:nvPr/>
        </p:nvSpPr>
        <p:spPr>
          <a:xfrm>
            <a:off x="566928" y="4224528"/>
            <a:ext cx="11057839" cy="1737492"/>
          </a:xfrm>
          <a:prstGeom prst="roundRect">
            <a:avLst>
              <a:gd name="adj" fmla="val 2631"/>
            </a:avLst>
          </a:prstGeom>
          <a:solidFill>
            <a:srgbClr val="FDF6EC"/>
          </a:solidFill>
          <a:ln w="15875">
            <a:solidFill>
              <a:srgbClr val="D97706"/>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₹2.81 Cr.</a:t>
            </a:r>
            <a:endParaRPr lang="en-US" sz="1900" dirty="0"/>
          </a:p>
        </p:txBody>
      </p:sp>
      <p:sp>
        <p:nvSpPr>
          <p:cNvPr id="59" name="Text 57"/>
          <p:cNvSpPr/>
          <p:nvPr/>
        </p:nvSpPr>
        <p:spPr>
          <a:xfrm>
            <a:off x="804672" y="4860595"/>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₹2.81 Cr. The binding condition sits earlier than the financing: break-even licence fee is ₹35.5 L a year against a ₹30 L reserve — 18% of headroom in a sealed highest-bid process.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Break-even is ₹35.5 L against a ₹30 L reserve,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D97706"/>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a photographed joint handover report on day one and a restoration provision accrued annually.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2026-08-25T02:16:58Z</dcterms:created>
  <dcterms:modified xsi:type="dcterms:W3CDTF">2026-08-25T02:16:58Z</dcterms:modified>
</cp:coreProperties>
</file>