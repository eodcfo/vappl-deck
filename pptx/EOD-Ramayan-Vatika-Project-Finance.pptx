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4.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Entry ticketing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0.25</c:v>
                </c:pt>
                <c:pt idx="1">
                  <c:v>0.32</c:v>
                </c:pt>
                <c:pt idx="2">
                  <c:v>0.44</c:v>
                </c:pt>
                <c:pt idx="3">
                  <c:v>0.49</c:v>
                </c:pt>
                <c:pt idx="4">
                  <c:v>0.6</c:v>
                </c:pt>
                <c:pt idx="5">
                  <c:v>0.64</c:v>
                </c:pt>
                <c:pt idx="6">
                  <c:v>0.72</c:v>
                </c:pt>
                <c:pt idx="7">
                  <c:v>0.76</c:v>
                </c:pt>
                <c:pt idx="8">
                  <c:v>0.86</c:v>
                </c:pt>
                <c:pt idx="9">
                  <c:v>0.89</c:v>
                </c:pt>
              </c:numCache>
            </c:numRef>
          </c:val>
        </c:ser>
        <c:ser>
          <c:idx val="1"/>
          <c:order val="1"/>
          <c:tx>
            <c:strRef>
              <c:f>Sheet1!$C$1</c:f>
              <c:strCache>
                <c:ptCount val="1"/>
                <c:pt idx="0">
                  <c:v>Holographic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0.88</c:v>
                </c:pt>
                <c:pt idx="1">
                  <c:v>1.2</c:v>
                </c:pt>
                <c:pt idx="2">
                  <c:v>1.59</c:v>
                </c:pt>
                <c:pt idx="3">
                  <c:v>1.82</c:v>
                </c:pt>
                <c:pt idx="4">
                  <c:v>2.08</c:v>
                </c:pt>
                <c:pt idx="5">
                  <c:v>2.26</c:v>
                </c:pt>
                <c:pt idx="6">
                  <c:v>2.56</c:v>
                </c:pt>
                <c:pt idx="7">
                  <c:v>2.72</c:v>
                </c:pt>
                <c:pt idx="8">
                  <c:v>2.97</c:v>
                </c:pt>
                <c:pt idx="9">
                  <c:v>3.14</c:v>
                </c:pt>
              </c:numCache>
            </c:numRef>
          </c:val>
        </c:ser>
        <c:ser>
          <c:idx val="2"/>
          <c:order val="2"/>
          <c:tx>
            <c:strRef>
              <c:f>Sheet1!$D$1</c:f>
              <c:strCache>
                <c:ptCount val="1"/>
                <c:pt idx="0">
                  <c:v>Food court</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Sheet1!$D$2:$D$11</c:f>
              <c:numCache>
                <c:formatCode>General</c:formatCode>
                <c:ptCount val="10"/>
                <c:pt idx="0">
                  <c:v>0.16</c:v>
                </c:pt>
                <c:pt idx="1">
                  <c:v>0.2</c:v>
                </c:pt>
                <c:pt idx="2">
                  <c:v>0.24</c:v>
                </c:pt>
                <c:pt idx="3">
                  <c:v>0.27</c:v>
                </c:pt>
                <c:pt idx="4">
                  <c:v>0.3</c:v>
                </c:pt>
                <c:pt idx="5">
                  <c:v>0.33</c:v>
                </c:pt>
                <c:pt idx="6">
                  <c:v>0.35</c:v>
                </c:pt>
                <c:pt idx="7">
                  <c:v>0.37</c:v>
                </c:pt>
                <c:pt idx="8">
                  <c:v>0.39</c:v>
                </c:pt>
                <c:pt idx="9">
                  <c:v>0.41</c:v>
                </c:pt>
              </c:numCache>
            </c:numRef>
          </c:val>
        </c:ser>
        <c:ser>
          <c:idx val="3"/>
          <c:order val="3"/>
          <c:tx>
            <c:strRef>
              <c:f>Sheet1!$E$1</c:f>
              <c:strCache>
                <c:ptCount val="1"/>
                <c:pt idx="0">
                  <c:v>Parking, events, toy train, ancillary</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Sheet1!$E$2:$E$11</c:f>
              <c:numCache>
                <c:formatCode>General</c:formatCode>
                <c:ptCount val="10"/>
                <c:pt idx="0">
                  <c:v>0.25</c:v>
                </c:pt>
                <c:pt idx="1">
                  <c:v>0.44</c:v>
                </c:pt>
                <c:pt idx="2">
                  <c:v>0.56</c:v>
                </c:pt>
                <c:pt idx="3">
                  <c:v>0.64</c:v>
                </c:pt>
                <c:pt idx="4">
                  <c:v>0.72</c:v>
                </c:pt>
                <c:pt idx="5">
                  <c:v>0.77</c:v>
                </c:pt>
                <c:pt idx="6">
                  <c:v>0.82</c:v>
                </c:pt>
                <c:pt idx="7">
                  <c:v>0.86</c:v>
                </c:pt>
                <c:pt idx="8">
                  <c:v>0.91</c:v>
                </c:pt>
                <c:pt idx="9">
                  <c:v>0.95</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Sheet1!$B$2:$B$11</c:f>
              <c:numCache>
                <c:formatCode>General</c:formatCode>
                <c:ptCount val="10"/>
                <c:pt idx="0">
                  <c:v>1.54</c:v>
                </c:pt>
                <c:pt idx="1">
                  <c:v>2.16</c:v>
                </c:pt>
                <c:pt idx="2">
                  <c:v>2.82</c:v>
                </c:pt>
                <c:pt idx="3">
                  <c:v>3.21</c:v>
                </c:pt>
                <c:pt idx="4">
                  <c:v>3.7</c:v>
                </c:pt>
                <c:pt idx="5">
                  <c:v>4</c:v>
                </c:pt>
                <c:pt idx="6">
                  <c:v>4.44</c:v>
                </c:pt>
                <c:pt idx="7">
                  <c:v>4.72</c:v>
                </c:pt>
                <c:pt idx="8">
                  <c:v>5.14</c:v>
                </c:pt>
                <c:pt idx="9">
                  <c:v>5.4</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Yr 1</c:v>
                  </c:pt>
                  <c:pt idx="1">
                    <c:v>Yr 2</c:v>
                  </c:pt>
                  <c:pt idx="2">
                    <c:v>Yr 3</c:v>
                  </c:pt>
                  <c:pt idx="3">
                    <c:v>Yr 4</c:v>
                  </c:pt>
                  <c:pt idx="4">
                    <c:v>Yr 5</c:v>
                  </c:pt>
                  <c:pt idx="5">
                    <c:v>Yr 6</c:v>
                  </c:pt>
                  <c:pt idx="6">
                    <c:v>Yr 7</c:v>
                  </c:pt>
                  <c:pt idx="7">
                    <c:v>Yr 8</c:v>
                  </c:pt>
                  <c:pt idx="8">
                    <c:v>Yr 9</c:v>
                  </c:pt>
                  <c:pt idx="9">
                    <c:v>Yr 10</c:v>
                  </c:pt>
                </c:lvl>
              </c:multiLvlStrCache>
            </c:multiLvlStrRef>
          </c:cat>
          <c:val>
            <c:numRef>
              <c:f>Sheet1!$C$2:$C$11</c:f>
              <c:numCache>
                <c:formatCode>General</c:formatCode>
                <c:ptCount val="10"/>
                <c:pt idx="0">
                  <c:v>-0.41</c:v>
                </c:pt>
                <c:pt idx="1">
                  <c:v>-0.05</c:v>
                </c:pt>
                <c:pt idx="2">
                  <c:v>0.35</c:v>
                </c:pt>
                <c:pt idx="3">
                  <c:v>0.51</c:v>
                </c:pt>
                <c:pt idx="4">
                  <c:v>0.75</c:v>
                </c:pt>
                <c:pt idx="5">
                  <c:v>0.81</c:v>
                </c:pt>
                <c:pt idx="6">
                  <c:v>1</c:v>
                </c:pt>
                <c:pt idx="7">
                  <c:v>1.01</c:v>
                </c:pt>
                <c:pt idx="8">
                  <c:v>1.15</c:v>
                </c:pt>
                <c:pt idx="9">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Capital</c:v>
                  </c:pt>
                  <c:pt idx="1">
                    <c:v>Yr 1</c:v>
                  </c:pt>
                  <c:pt idx="2">
                    <c:v>Yr 2</c:v>
                  </c:pt>
                  <c:pt idx="3">
                    <c:v>Yr 3</c:v>
                  </c:pt>
                  <c:pt idx="4">
                    <c:v>Yr 4</c:v>
                  </c:pt>
                  <c:pt idx="5">
                    <c:v>Yr 5</c:v>
                  </c:pt>
                  <c:pt idx="6">
                    <c:v>Yr 6</c:v>
                  </c:pt>
                  <c:pt idx="7">
                    <c:v>Yr 7</c:v>
                  </c:pt>
                  <c:pt idx="8">
                    <c:v>Yr 8</c:v>
                  </c:pt>
                  <c:pt idx="9">
                    <c:v>Yr 9</c:v>
                  </c:pt>
                  <c:pt idx="10">
                    <c:v>Yr 10</c:v>
                  </c:pt>
                </c:lvl>
              </c:multiLvlStrCache>
            </c:multiLvlStrRef>
          </c:cat>
          <c:val>
            <c:numRef>
              <c:f>Sheet1!$B$2:$B$12</c:f>
              <c:numCache>
                <c:formatCode>General</c:formatCode>
                <c:ptCount val="11"/>
                <c:pt idx="0">
                  <c:v>-1.89</c:v>
                </c:pt>
                <c:pt idx="1">
                  <c:v>-0.45</c:v>
                </c:pt>
                <c:pt idx="2">
                  <c:v>-0.09</c:v>
                </c:pt>
                <c:pt idx="3">
                  <c:v>0.26</c:v>
                </c:pt>
                <c:pt idx="4">
                  <c:v>0.37</c:v>
                </c:pt>
                <c:pt idx="5">
                  <c:v>0.54</c:v>
                </c:pt>
                <c:pt idx="6">
                  <c:v>0.58</c:v>
                </c:pt>
                <c:pt idx="7">
                  <c:v>0.71</c:v>
                </c:pt>
                <c:pt idx="8">
                  <c:v>0.72</c:v>
                </c:pt>
                <c:pt idx="9">
                  <c:v>0.81</c:v>
                </c:pt>
                <c:pt idx="10">
                  <c:v>1.12</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BDA's own case</c:v>
                  </c:pt>
                </c:lvl>
              </c:multiLvlStrCache>
            </c:multiLvlStrRef>
          </c:cat>
          <c:val>
            <c:numRef>
              <c:f>Sheet1!$B$2:$B$4</c:f>
              <c:numCache>
                <c:formatCode>General</c:formatCode>
                <c:ptCount val="3"/>
                <c:pt idx="0">
                  <c:v>-36.5</c:v>
                </c:pt>
                <c:pt idx="1">
                  <c:v>11.4</c:v>
                </c:pt>
                <c:pt idx="2">
                  <c:v>36.1</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Sheet1!$B$2:$B$10</c:f>
              <c:numCache>
                <c:formatCode>General</c:formatCode>
                <c:ptCount val="9"/>
                <c:pt idx="0">
                  <c:v>0.39</c:v>
                </c:pt>
                <c:pt idx="1">
                  <c:v>0.42</c:v>
                </c:pt>
                <c:pt idx="2">
                  <c:v>0.39</c:v>
                </c:pt>
                <c:pt idx="3">
                  <c:v>0.35</c:v>
                </c:pt>
                <c:pt idx="4">
                  <c:v>0.69</c:v>
                </c:pt>
                <c:pt idx="5">
                  <c:v>0.62</c:v>
                </c:pt>
                <c:pt idx="6">
                  <c:v>0.55</c:v>
                </c:pt>
                <c:pt idx="7">
                  <c:v>0.49</c:v>
                </c:pt>
                <c:pt idx="8">
                  <c:v>0.44</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Sheet1!$A$2:$A$10</c:f>
              <c:multiLvlStrCache>
                <c:ptCount val="9"/>
                <c:lvl>
                  <c:pt idx="0">
                    <c:v>Yr 1</c:v>
                  </c:pt>
                  <c:pt idx="1">
                    <c:v>Yr 2</c:v>
                  </c:pt>
                  <c:pt idx="2">
                    <c:v>Yr 3</c:v>
                  </c:pt>
                  <c:pt idx="3">
                    <c:v>Yr 4</c:v>
                  </c:pt>
                  <c:pt idx="4">
                    <c:v>Yr 5</c:v>
                  </c:pt>
                  <c:pt idx="5">
                    <c:v>Yr 6</c:v>
                  </c:pt>
                  <c:pt idx="6">
                    <c:v>Yr 7</c:v>
                  </c:pt>
                  <c:pt idx="7">
                    <c:v>Yr 8</c:v>
                  </c:pt>
                  <c:pt idx="8">
                    <c:v>Yr 9</c:v>
                  </c:pt>
                </c:lvl>
              </c:multiLvlStrCache>
            </c:multiLvlStrRef>
          </c:cat>
          <c:val>
            <c:numRef>
              <c:f>Sheet1!$C$2:$C$10</c:f>
              <c:numCache>
                <c:formatCode>General</c:formatCode>
                <c:ptCount val="9"/>
                <c:pt idx="0">
                  <c:v>-0.41</c:v>
                </c:pt>
                <c:pt idx="1">
                  <c:v>-0.05</c:v>
                </c:pt>
                <c:pt idx="2">
                  <c:v>0.35</c:v>
                </c:pt>
                <c:pt idx="3">
                  <c:v>0.51</c:v>
                </c:pt>
                <c:pt idx="4">
                  <c:v>0.75</c:v>
                </c:pt>
                <c:pt idx="5">
                  <c:v>0.81</c:v>
                </c:pt>
                <c:pt idx="6">
                  <c:v>1</c:v>
                </c:pt>
                <c:pt idx="7">
                  <c:v>1.01</c:v>
                </c:pt>
                <c:pt idx="8">
                  <c:v>1.15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02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Ramayan</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Fifteen years of operating rights over a 51-foot bronze Ram, a holographic show projected onto it, and 16,000 Miyawaki trees in Bareilly. The longest contract in the portfolio, the tightest margin, and the only one where the RFP forbids pledging anything.</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Bareilly Development Authority · 10 + 5 years · 5-year lock-in</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₹30 lakh a year · sealed H1 bid · performance security ₹30 lakh</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FACILITY AS BRIEFED</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₹4.17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Two years of operating cost</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DEBT THE PROJECT CARRIES</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₹2.81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At a 1.3× DSCR floor</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11.4%</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Against 12.50% guaranteed debt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WALK-AWAY LICENCE FEE</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₹35.5 L</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₹2.96 L a month</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11057839" cy="2651760"/>
          </a:xfrm>
          <a:prstGeom prst="roundRect">
            <a:avLst>
              <a:gd name="adj" fmla="val 1724"/>
            </a:avLst>
          </a:prstGeom>
          <a:solidFill>
            <a:srgbClr val="FBEFEC"/>
          </a:solidFill>
          <a:ln w="15875">
            <a:solidFill>
              <a:srgbClr val="C8553D"/>
            </a:solidFill>
            <a:prstDash val="solid"/>
          </a:ln>
        </p:spPr>
      </p:sp>
      <p:sp>
        <p:nvSpPr>
          <p:cNvPr id="3" name="Text 1"/>
          <p:cNvSpPr/>
          <p:nvPr/>
        </p:nvSpPr>
        <p:spPr>
          <a:xfrm>
            <a:off x="804672" y="566928"/>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4" name="Text 2"/>
          <p:cNvSpPr/>
          <p:nvPr/>
        </p:nvSpPr>
        <p:spPr>
          <a:xfrm>
            <a:off x="804672" y="749808"/>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Read this before the rest of the deck</a:t>
            </a:r>
            <a:endParaRPr lang="en-US" sz="1900" dirty="0"/>
          </a:p>
        </p:txBody>
      </p:sp>
      <p:sp>
        <p:nvSpPr>
          <p:cNvPr id="5" name="Text 3"/>
          <p:cNvSpPr/>
          <p:nvPr/>
        </p:nvSpPr>
        <p:spPr>
          <a:xfrm>
            <a:off x="804672" y="1093267"/>
            <a:ext cx="10582351" cy="194254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This deck does not conclude that Ramayan Vatika should be funded on the terms briefed. On the base assumptions the project returns 11.4% against a 12.50% cost of guaranteed debt, and services ₹2.81 Cr of facility against the ₹4.17 Cr asked for.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 financing structures are set out in full because they were asked for, and because the project does work on BDA's own revenue assumptions. But the bid discipline is the part that matters: the model solves the break-even licence fee at ₹35.5 L a year against BDA's ₹30 L reserve — 18% of headroom in a sealed highest-bid process.</a:t>
            </a:r>
            <a:endParaRPr lang="en-US" sz="1200" dirty="0"/>
          </a:p>
        </p:txBody>
      </p:sp>
      <p:sp>
        <p:nvSpPr>
          <p:cNvPr id="6" name="Shape 4"/>
          <p:cNvSpPr/>
          <p:nvPr/>
        </p:nvSpPr>
        <p:spPr>
          <a:xfrm>
            <a:off x="566928" y="3383280"/>
            <a:ext cx="3539642" cy="1298448"/>
          </a:xfrm>
          <a:prstGeom prst="roundRect">
            <a:avLst>
              <a:gd name="adj" fmla="val 4225"/>
            </a:avLst>
          </a:prstGeom>
          <a:solidFill>
            <a:srgbClr val="FBF1EE"/>
          </a:solidFill>
          <a:ln w="12700">
            <a:solidFill>
              <a:srgbClr val="C8553D"/>
            </a:solidFill>
            <a:prstDash val="solid"/>
          </a:ln>
        </p:spPr>
      </p:sp>
      <p:sp>
        <p:nvSpPr>
          <p:cNvPr id="7" name="Text 5"/>
          <p:cNvSpPr/>
          <p:nvPr/>
        </p:nvSpPr>
        <p:spPr>
          <a:xfrm>
            <a:off x="749808"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BASE CASE PROJECT IRR</a:t>
            </a:r>
            <a:endParaRPr lang="en-US" sz="850" dirty="0"/>
          </a:p>
        </p:txBody>
      </p:sp>
      <p:sp>
        <p:nvSpPr>
          <p:cNvPr id="8" name="Text 6"/>
          <p:cNvSpPr/>
          <p:nvPr/>
        </p:nvSpPr>
        <p:spPr>
          <a:xfrm>
            <a:off x="749808"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9" name="Text 7"/>
          <p:cNvSpPr/>
          <p:nvPr/>
        </p:nvSpPr>
        <p:spPr>
          <a:xfrm>
            <a:off x="749808"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debt</a:t>
            </a:r>
            <a:endParaRPr lang="en-US" sz="950" dirty="0"/>
          </a:p>
        </p:txBody>
      </p:sp>
      <p:sp>
        <p:nvSpPr>
          <p:cNvPr id="10" name="Shape 8"/>
          <p:cNvSpPr/>
          <p:nvPr/>
        </p:nvSpPr>
        <p:spPr>
          <a:xfrm>
            <a:off x="4326026" y="3383280"/>
            <a:ext cx="3539642" cy="1298448"/>
          </a:xfrm>
          <a:prstGeom prst="roundRect">
            <a:avLst>
              <a:gd name="adj" fmla="val 4225"/>
            </a:avLst>
          </a:prstGeom>
          <a:solidFill>
            <a:srgbClr val="EDFAF4"/>
          </a:solidFill>
          <a:ln w="12700">
            <a:solidFill>
              <a:srgbClr val="10B981"/>
            </a:solidFill>
            <a:prstDash val="solid"/>
          </a:ln>
        </p:spPr>
      </p:sp>
      <p:sp>
        <p:nvSpPr>
          <p:cNvPr id="11" name="Text 9"/>
          <p:cNvSpPr/>
          <p:nvPr/>
        </p:nvSpPr>
        <p:spPr>
          <a:xfrm>
            <a:off x="4508906"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ON BDA'S OWN ASSUMPTION</a:t>
            </a:r>
            <a:endParaRPr lang="en-US" sz="850" dirty="0"/>
          </a:p>
        </p:txBody>
      </p:sp>
      <p:sp>
        <p:nvSpPr>
          <p:cNvPr id="12" name="Text 10"/>
          <p:cNvSpPr/>
          <p:nvPr/>
        </p:nvSpPr>
        <p:spPr>
          <a:xfrm>
            <a:off x="4508906" y="3749040"/>
            <a:ext cx="3173882"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36.1%</a:t>
            </a:r>
            <a:endParaRPr lang="en-US" sz="2600" dirty="0"/>
          </a:p>
        </p:txBody>
      </p:sp>
      <p:sp>
        <p:nvSpPr>
          <p:cNvPr id="13" name="Text 11"/>
          <p:cNvSpPr/>
          <p:nvPr/>
        </p:nvSpPr>
        <p:spPr>
          <a:xfrm>
            <a:off x="4508906"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500 visitors a day, 60% buying the show</a:t>
            </a:r>
            <a:endParaRPr lang="en-US" sz="950" dirty="0"/>
          </a:p>
        </p:txBody>
      </p:sp>
      <p:sp>
        <p:nvSpPr>
          <p:cNvPr id="14" name="Shape 12"/>
          <p:cNvSpPr/>
          <p:nvPr/>
        </p:nvSpPr>
        <p:spPr>
          <a:xfrm>
            <a:off x="8085125" y="3383280"/>
            <a:ext cx="3539642" cy="1298448"/>
          </a:xfrm>
          <a:prstGeom prst="roundRect">
            <a:avLst>
              <a:gd name="adj" fmla="val 4225"/>
            </a:avLst>
          </a:prstGeom>
          <a:solidFill>
            <a:srgbClr val="F5F6F8"/>
          </a:solidFill>
          <a:ln w="12700">
            <a:solidFill>
              <a:srgbClr val="E2E4EA"/>
            </a:solidFill>
            <a:prstDash val="solid"/>
          </a:ln>
        </p:spPr>
      </p:sp>
      <p:sp>
        <p:nvSpPr>
          <p:cNvPr id="15" name="Text 13"/>
          <p:cNvSpPr/>
          <p:nvPr/>
        </p:nvSpPr>
        <p:spPr>
          <a:xfrm>
            <a:off x="8268005" y="3502152"/>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THE WHOLE DIFFERENCE</a:t>
            </a:r>
            <a:endParaRPr lang="en-US" sz="850" dirty="0"/>
          </a:p>
        </p:txBody>
      </p:sp>
      <p:sp>
        <p:nvSpPr>
          <p:cNvPr id="16" name="Text 14"/>
          <p:cNvSpPr/>
          <p:nvPr/>
        </p:nvSpPr>
        <p:spPr>
          <a:xfrm>
            <a:off x="8268005" y="3749040"/>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Show conversion</a:t>
            </a:r>
            <a:endParaRPr lang="en-US" sz="2000" dirty="0"/>
          </a:p>
        </p:txBody>
      </p:sp>
      <p:sp>
        <p:nvSpPr>
          <p:cNvPr id="17" name="Text 15"/>
          <p:cNvSpPr/>
          <p:nvPr/>
        </p:nvSpPr>
        <p:spPr>
          <a:xfrm>
            <a:off x="8268005" y="4224528"/>
            <a:ext cx="3173882" cy="38404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42% → 52% modelled here against BDA's 60%. There is no operating history to calibrate against.</a:t>
            </a:r>
            <a:endParaRPr lang="en-US" sz="950" dirty="0"/>
          </a:p>
        </p:txBody>
      </p:sp>
      <p:sp>
        <p:nvSpPr>
          <p:cNvPr id="18" name="Shape 16"/>
          <p:cNvSpPr/>
          <p:nvPr/>
        </p:nvSpPr>
        <p:spPr>
          <a:xfrm>
            <a:off x="566928" y="4956048"/>
            <a:ext cx="11057839" cy="1287363"/>
          </a:xfrm>
          <a:prstGeom prst="roundRect">
            <a:avLst>
              <a:gd name="adj" fmla="val 3551"/>
            </a:avLst>
          </a:prstGeom>
          <a:solidFill>
            <a:srgbClr val="F1F5FE"/>
          </a:solidFill>
          <a:ln w="15875">
            <a:solidFill>
              <a:srgbClr val="2B66EA"/>
            </a:solidFill>
            <a:prstDash val="solid"/>
          </a:ln>
        </p:spPr>
      </p:sp>
      <p:sp>
        <p:nvSpPr>
          <p:cNvPr id="19" name="Text 17"/>
          <p:cNvSpPr/>
          <p:nvPr/>
        </p:nvSpPr>
        <p:spPr>
          <a:xfrm>
            <a:off x="804672" y="5065776"/>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0" name="Text 18"/>
          <p:cNvSpPr/>
          <p:nvPr/>
        </p:nvSpPr>
        <p:spPr>
          <a:xfrm>
            <a:off x="804672" y="52486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would change the recommendation</a:t>
            </a:r>
            <a:endParaRPr lang="en-US" sz="1900" dirty="0"/>
          </a:p>
        </p:txBody>
      </p:sp>
      <p:sp>
        <p:nvSpPr>
          <p:cNvPr id="21" name="Text 19"/>
          <p:cNvSpPr/>
          <p:nvPr/>
        </p:nvSpPr>
        <p:spPr>
          <a:xfrm>
            <a:off x="804672" y="559211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Three written answers from BDA move this from marginal to clearly fundable: the show's capacity, slot count and any soft-launch footfall; an agreed tariff with a contractual escalation path; and resolution of the five-versus-seven-year lock-in conflict. All three are free to ask.</a:t>
            </a:r>
            <a:endParaRPr lang="en-US" sz="1200" dirty="0"/>
          </a:p>
        </p:txBody>
      </p:sp>
      <p:sp>
        <p:nvSpPr>
          <p:cNvPr id="22"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has built a 33,000 square metre thematic park around the Ramayana. The centrepiece is a 51-foot bronze Lord Ram by Ram Sutar, with a 3D holographic laser and sound programme projected onto the statue.</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Bareilly Development Authority (BDA)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 years + 5 years extendable · 33,000 sq m (~8.15 acres)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Lock-in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years in the initial term; 2 years in the extended term  —  clause 9 says seven years where clause 14 says five. Unresolved.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Technically qualified plus financially H1, sealed bid, with presentation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a year · ₹7.50 L quarterly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 L, interest-free, held until three months after completion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Statutory burden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EPF and ESI mandatory; agreement compulsorily registered, stamp duty on the operator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7" name="Shape 4"/>
          <p:cNvSpPr/>
          <p:nvPr/>
        </p:nvSpPr>
        <p:spPr>
          <a:xfrm>
            <a:off x="566928" y="4501388"/>
            <a:ext cx="11057839" cy="1853590"/>
          </a:xfrm>
          <a:prstGeom prst="roundRect">
            <a:avLst>
              <a:gd name="adj" fmla="val 2467"/>
            </a:avLst>
          </a:prstGeom>
          <a:solidFill>
            <a:srgbClr val="FBEFEC"/>
          </a:solidFill>
          <a:ln w="15875">
            <a:solidFill>
              <a:srgbClr val="C8553D"/>
            </a:solidFill>
            <a:prstDash val="solid"/>
          </a:ln>
        </p:spPr>
      </p:sp>
      <p:sp>
        <p:nvSpPr>
          <p:cNvPr id="8" name="Text 5"/>
          <p:cNvSpPr/>
          <p:nvPr/>
        </p:nvSpPr>
        <p:spPr>
          <a:xfrm>
            <a:off x="804672" y="461111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793996"/>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Two clauses that decide how this can be financed</a:t>
            </a:r>
            <a:endParaRPr lang="en-US" sz="1800" dirty="0"/>
          </a:p>
        </p:txBody>
      </p:sp>
      <p:sp>
        <p:nvSpPr>
          <p:cNvPr id="10" name="Text 7"/>
          <p:cNvSpPr/>
          <p:nvPr/>
        </p:nvSpPr>
        <p:spPr>
          <a:xfrm>
            <a:off x="804672" y="5122266"/>
            <a:ext cx="10582351" cy="1159561"/>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charge over the asset. The Vatika cannot be mortgaged, pledged or hypothecated to any bank, FI or NBFC. That removes conventional project finance and leaves a collateral-free CGTMSE facility as the only sensible debt route — the guarantee substitutes for the security the contract forbids.</a:t>
            </a:r>
            <a:endParaRPr lang="en-US" sz="1100" dirty="0"/>
          </a:p>
          <a:p>
            <a:pPr indent="0" marL="0">
              <a:lnSpc>
                <a:spcPts val="1562"/>
              </a:lnSpc>
              <a:buNone/>
            </a:pPr>
            <a:endParaRPr lang="en-US" sz="1100" dirty="0"/>
          </a:p>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No change of control without consent. No change in ownership pattern, shareholding structure or controlling interest during the lock-in without BDA's prior written approval. That is a condition precedent on Options A and C, not a footnote.</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two years of opex. Sized literally that is ₹4.17 Cr. The project's capacity to service debt is ₹2.81 Cr. The gap between those two numbers is the whole question.</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Two full years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₹2.36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toy train, and two years of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BF1EE"/>
          </a:solidFill>
          <a:ln w="12700">
            <a:solidFill>
              <a:srgbClr val="C8553D"/>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SERVICEABLE AT 1.30× DSCR</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Gap to the brief: ₹1.36 Cr</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0175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ticketing, food court, activity equipment,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Performance security — interest-free for the whole 15-year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EMD, bid fee, stamp duty, registration and the first quarter's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₹151.4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01752">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Toy train (year 2, optional) and two years of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₹454.7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01752">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₹416.7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5255260"/>
            <a:ext cx="11057839" cy="954654"/>
          </a:xfrm>
          <a:prstGeom prst="roundRect">
            <a:avLst>
              <a:gd name="adj" fmla="val 4789"/>
            </a:avLst>
          </a:prstGeom>
          <a:solidFill>
            <a:srgbClr val="FDF6EC"/>
          </a:solidFill>
          <a:ln w="15875">
            <a:solidFill>
              <a:srgbClr val="D97706"/>
            </a:solidFill>
            <a:prstDash val="solid"/>
          </a:ln>
        </p:spPr>
      </p:sp>
      <p:sp>
        <p:nvSpPr>
          <p:cNvPr id="20" name="Text 17"/>
          <p:cNvSpPr/>
          <p:nvPr/>
        </p:nvSpPr>
        <p:spPr>
          <a:xfrm>
            <a:off x="804672" y="5364988"/>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7868"/>
            <a:ext cx="10582351" cy="227838"/>
          </a:xfrm>
          <a:prstGeom prst="rect">
            <a:avLst/>
          </a:prstGeom>
          <a:noFill/>
          <a:ln/>
        </p:spPr>
        <p:txBody>
          <a:bodyPr wrap="square" lIns="0" tIns="0" rIns="0" bIns="0" rtlCol="0" anchor="t"/>
          <a:lstStyle/>
          <a:p>
            <a:pPr indent="0" marL="0">
              <a:lnSpc>
                <a:spcPts val="1725"/>
              </a:lnSpc>
              <a:buNone/>
            </a:pPr>
            <a:r>
              <a:rPr lang="en-US" sz="1500" b="1" dirty="0">
                <a:solidFill>
                  <a:srgbClr val="0A1426"/>
                </a:solidFill>
                <a:latin typeface="Calibri" pitchFamily="34" charset="0"/>
                <a:ea typeface="Calibri" pitchFamily="34" charset="-122"/>
                <a:cs typeface="Calibri" pitchFamily="34" charset="-120"/>
              </a:rPr>
              <a:t>The performance security is the hidden cost</a:t>
            </a:r>
            <a:endParaRPr lang="en-US" sz="1500" dirty="0"/>
          </a:p>
        </p:txBody>
      </p:sp>
      <p:sp>
        <p:nvSpPr>
          <p:cNvPr id="22" name="Text 19"/>
          <p:cNvSpPr/>
          <p:nvPr/>
        </p:nvSpPr>
        <p:spPr>
          <a:xfrm>
            <a:off x="804672" y="5830570"/>
            <a:ext cx="10582351" cy="306192"/>
          </a:xfrm>
          <a:prstGeom prst="rect">
            <a:avLst/>
          </a:prstGeom>
          <a:noFill/>
          <a:ln/>
        </p:spPr>
        <p:txBody>
          <a:bodyPr wrap="square" lIns="0" tIns="0" rIns="0" bIns="0" rtlCol="0" anchor="t"/>
          <a:lstStyle/>
          <a:p>
            <a:pPr indent="0" marL="0">
              <a:lnSpc>
                <a:spcPts val="1349"/>
              </a:lnSpc>
              <a:buNone/>
            </a:pPr>
            <a:r>
              <a:rPr lang="en-US" sz="950" dirty="0">
                <a:solidFill>
                  <a:srgbClr val="3B4660"/>
                </a:solidFill>
                <a:latin typeface="Calibri" pitchFamily="34" charset="0"/>
                <a:ea typeface="Calibri" pitchFamily="34" charset="-122"/>
                <a:cs typeface="Calibri" pitchFamily="34" charset="-120"/>
              </a:rPr>
              <a:t>₹30 L sits with BDA interest-free for fifteen years — roughly ₹52 lakh of foregone return at an 11.5% opportunity cost, more than a year and a half of licence fee. Price it into the bid.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BDA published its own indicative revenue of ₹2.25–2.30 crore a year. This model sits below it early and reaches it in year 3 — because the assumption BDA's number rests on is the one most likely to be wrong.</a:t>
            </a:r>
            <a:endParaRPr lang="en-US" sz="1250" dirty="0"/>
          </a:p>
        </p:txBody>
      </p:sp>
      <p:graphicFrame>
        <p:nvGraphicFramePr>
          <p:cNvPr id="6" name="Chart 0" descr=""/>
          <p:cNvGraphicFramePr/>
          <p:nvPr/>
        </p:nvGraphicFramePr>
        <p:xfrm>
          <a:off x="566928" y="1541272"/>
          <a:ext cx="11057839" cy="25603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30192"/>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4399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6228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Where this model parts company with BDA</a:t>
            </a:r>
            <a:endParaRPr lang="en-US" sz="1900" dirty="0"/>
          </a:p>
        </p:txBody>
      </p:sp>
      <p:sp>
        <p:nvSpPr>
          <p:cNvPr id="10" name="Text 7"/>
          <p:cNvSpPr/>
          <p:nvPr/>
        </p:nvSpPr>
        <p:spPr>
          <a:xfrm>
            <a:off x="804672" y="4966259"/>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BDA's ₹2.30 crore assumes 500 visitors a day with 300 of them paying ₹125 for the show — a 60% conversion, implying three in five visitors including morning walkers, families with small children and school groups buy an evening show. This model starts at 42% and reaches 52% by year 10. That single assumption is worth about ₹52 L a year at year-5 volumes.</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maintenance-heavy contract. BDA transfers the entire comprehensive maintenance obligation — civil, electrical, horticultural, statuary and IT — to the operator, at the operator's cost.</a:t>
            </a:r>
            <a:endParaRPr lang="en-US" sz="12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3840480"/>
                <a:gridCol w="1443472"/>
                <a:gridCol w="1443472"/>
                <a:gridCol w="1443472"/>
                <a:gridCol w="1443472"/>
                <a:gridCol w="1443472"/>
              </a:tblGrid>
              <a:tr h="292608">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9</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BDA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1.31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Statue and artefact upkeep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1.96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2.47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3.99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92608">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92608">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12182"/>
            <a:ext cx="11057839" cy="1234664"/>
          </a:xfrm>
          <a:prstGeom prst="roundRect">
            <a:avLst>
              <a:gd name="adj" fmla="val 3703"/>
            </a:avLst>
          </a:prstGeom>
          <a:solidFill>
            <a:srgbClr val="FDF6EC"/>
          </a:solidFill>
          <a:ln w="15875">
            <a:solidFill>
              <a:srgbClr val="D97706"/>
            </a:solidFill>
            <a:prstDash val="solid"/>
          </a:ln>
        </p:spPr>
      </p:sp>
      <p:sp>
        <p:nvSpPr>
          <p:cNvPr id="8" name="Text 5"/>
          <p:cNvSpPr/>
          <p:nvPr/>
        </p:nvSpPr>
        <p:spPr>
          <a:xfrm>
            <a:off x="804672" y="5121910"/>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04790"/>
            <a:ext cx="10582351" cy="273406"/>
          </a:xfrm>
          <a:prstGeom prst="rect">
            <a:avLst/>
          </a:prstGeom>
          <a:noFill/>
          <a:ln/>
        </p:spPr>
        <p:txBody>
          <a:bodyPr wrap="square" lIns="0" tIns="0" rIns="0" bIns="0" rtlCol="0" anchor="t"/>
          <a:lstStyle/>
          <a:p>
            <a:pPr indent="0" marL="0">
              <a:lnSpc>
                <a:spcPts val="2070"/>
              </a:lnSpc>
              <a:buNone/>
            </a:pPr>
            <a:r>
              <a:rPr lang="en-US" sz="1800" b="1" dirty="0">
                <a:solidFill>
                  <a:srgbClr val="0A1426"/>
                </a:solidFill>
                <a:latin typeface="Calibri" pitchFamily="34" charset="0"/>
                <a:ea typeface="Calibri" pitchFamily="34" charset="-122"/>
                <a:cs typeface="Calibri" pitchFamily="34" charset="-120"/>
              </a:rPr>
              <a:t>The manpower floor is contractual, not discretionary</a:t>
            </a:r>
            <a:endParaRPr lang="en-US" sz="1800" dirty="0"/>
          </a:p>
        </p:txBody>
      </p:sp>
      <p:sp>
        <p:nvSpPr>
          <p:cNvPr id="10" name="Text 7"/>
          <p:cNvSpPr/>
          <p:nvPr/>
        </p:nvSpPr>
        <p:spPr>
          <a:xfrm>
            <a:off x="804672" y="5633060"/>
            <a:ext cx="10582351" cy="540634"/>
          </a:xfrm>
          <a:prstGeom prst="rect">
            <a:avLst/>
          </a:prstGeom>
          <a:noFill/>
          <a:ln/>
        </p:spPr>
        <p:txBody>
          <a:bodyPr wrap="square" lIns="0" tIns="0" rIns="0" bIns="0" rtlCol="0" anchor="t"/>
          <a:lstStyle/>
          <a:p>
            <a:pPr indent="0" marL="0">
              <a:lnSpc>
                <a:spcPts val="1562"/>
              </a:lnSpc>
              <a:buNone/>
            </a:pPr>
            <a:r>
              <a:rPr lang="en-US" sz="1100" dirty="0">
                <a:solidFill>
                  <a:srgbClr val="3B4660"/>
                </a:solidFill>
                <a:latin typeface="Calibri" pitchFamily="34" charset="0"/>
                <a:ea typeface="Calibri" pitchFamily="34" charset="-122"/>
                <a:cs typeface="Calibri" pitchFamily="34" charset="-120"/>
              </a:rPr>
              <a:t>BDA prescribes 4 sweepers and 5 security per shift plus 8 gardeners, a site manager, an electrician and a plumber per day — about 29 heads before a ticket is sold, and roughly 37 with ticketing and show staff. Payroll cannot flex in a bad season. That is why the margin here is thinner than at Geeta Govind Vatika.</a:t>
            </a:r>
            <a:endParaRPr lang="en-US" sz="11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Two loss-making years, then a slow climb. The shape is the direct consequence of a fixed manpower floor meeting a ramping revenue line.</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3</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₹0.46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₹6.24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11.4%</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7.0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12.50%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-1.1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Below the cost of its own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One assumption separates a project that should not be bid from one that comfortably clears its cost of capital: how many visitors buy the show.</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BDA's own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₹-0.86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₹-0.41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₹0.03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₹3.02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₹4.90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36.5%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7.0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3.6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062299"/>
          </a:xfrm>
          <a:prstGeom prst="roundRect">
            <a:avLst>
              <a:gd name="adj" fmla="val 4304"/>
            </a:avLst>
          </a:prstGeom>
          <a:solidFill>
            <a:srgbClr val="EDFAF4"/>
          </a:solidFill>
          <a:ln w="15875">
            <a:solidFill>
              <a:srgbClr val="10B981"/>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BDA's own case works — and it is not implausible</a:t>
            </a:r>
            <a:endParaRPr lang="en-US" sz="1900" dirty="0"/>
          </a:p>
        </p:txBody>
      </p:sp>
      <p:sp>
        <p:nvSpPr>
          <p:cNvPr id="11" name="Text 7"/>
          <p:cNvSpPr/>
          <p:nvPr/>
        </p:nvSpPr>
        <p:spPr>
          <a:xfrm>
            <a:off x="804672" y="4241343"/>
            <a:ext cx="10582351" cy="353080"/>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On BDA's own assumptions the project returns 36.1%. Bid a price that survives the base case and rewards the BDA case.</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Sized to the true capital requirement rather than the gross facility, and valued at exit on the discounted cash flow still to come over the balance of the concession.</a:t>
            </a:r>
            <a:endParaRPr lang="en-US" sz="12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7, at ₹2.19 Cr of project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5.4%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00424"/>
            <a:ext cx="11057839" cy="1737492"/>
          </a:xfrm>
          <a:prstGeom prst="roundRect">
            <a:avLst>
              <a:gd name="adj" fmla="val 2631"/>
            </a:avLst>
          </a:prstGeom>
          <a:solidFill>
            <a:srgbClr val="FBEFEC"/>
          </a:solidFill>
          <a:ln w="15875">
            <a:solidFill>
              <a:srgbClr val="C8553D"/>
            </a:solidFill>
            <a:prstDash val="solid"/>
          </a:ln>
        </p:spPr>
      </p:sp>
      <p:sp>
        <p:nvSpPr>
          <p:cNvPr id="8" name="Text 5"/>
          <p:cNvSpPr/>
          <p:nvPr/>
        </p:nvSpPr>
        <p:spPr>
          <a:xfrm>
            <a:off x="804672" y="4010152"/>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193032"/>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arithmetic does not work — and it needs BDA's consent</a:t>
            </a:r>
            <a:endParaRPr lang="en-US" sz="1900" dirty="0"/>
          </a:p>
        </p:txBody>
      </p:sp>
      <p:sp>
        <p:nvSpPr>
          <p:cNvPr id="10" name="Text 7"/>
          <p:cNvSpPr/>
          <p:nvPr/>
        </p:nvSpPr>
        <p:spPr>
          <a:xfrm>
            <a:off x="804672" y="4536491"/>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70% of the project an investor earns 5.4%; a 22% hurdle would take 100% — the whole project and then some.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Any structure that changes VAPPL's shareholding also needs BDA's prior written approval during the lock-in, with forfeiture of the performance security as the stated consequence. The equity conversation starts at BDA's office.</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RFP forbids any charge over the Vatika. That is not an obstacle to a CGTMSE facility — it is the reason to use one. The guarantee replaces the security the contract will not allow.</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₹4.17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₹1.89 Cr + working capital ₹2.27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+ 1.00%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1.09×</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4-year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₹2.81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FBEFEC"/>
          </a:solidFill>
          <a:ln w="15875">
            <a:solidFill>
              <a:srgbClr val="C8553D"/>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as briefed does not clear a bank's coverage test</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₹4.17 Cr the minimum post-moratorium DSCR is 1.09×; banks underwrite to 1.30×. The workable structure sanctions ₹4.17 Cr but commits ₹2.81 Cr. Two full years of opex presented as committed term money will be declined.</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park ramps, compulsory conversion into equity on a fixed formula.</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annual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4, into 65% of project equity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₹0.75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724148"/>
            <a:ext cx="11057839" cy="2637749"/>
          </a:xfrm>
          <a:prstGeom prst="roundRect">
            <a:avLst>
              <a:gd name="adj" fmla="val 1733"/>
            </a:avLst>
          </a:prstGeom>
          <a:solidFill>
            <a:srgbClr val="FBEFEC"/>
          </a:solidFill>
          <a:ln w="15875">
            <a:solidFill>
              <a:srgbClr val="C8553D"/>
            </a:solidFill>
            <a:prstDash val="solid"/>
          </a:ln>
        </p:spPr>
      </p:sp>
      <p:sp>
        <p:nvSpPr>
          <p:cNvPr id="8" name="Text 5"/>
          <p:cNvSpPr/>
          <p:nvPr/>
        </p:nvSpPr>
        <p:spPr>
          <a:xfrm>
            <a:off x="804672" y="383387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01675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Three separate reasons this is the worst of the three here</a:t>
            </a:r>
            <a:endParaRPr lang="en-US" sz="1900" dirty="0"/>
          </a:p>
        </p:txBody>
      </p:sp>
      <p:sp>
        <p:nvSpPr>
          <p:cNvPr id="10" name="Text 7"/>
          <p:cNvSpPr/>
          <p:nvPr/>
        </p:nvSpPr>
        <p:spPr>
          <a:xfrm>
            <a:off x="804672" y="4360215"/>
            <a:ext cx="10582351" cy="1928531"/>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Cash — the coupon falls due in years 1 to 4, precisely the years the project loses money at EBITDA. ₹0.75 Cr has to come from somewhere, and it is not coming from the gate.</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Consent — conversion changes the shareholding pattern, which needs BDA's prior written approval inside the lock-in. An instrument that must convert on a fixed date, into a change a third party can refuse to approve, is a structural mismatch.</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Leverage — until it converts a CCD is borrowing. Layered on VAPPL's 3.04× gearing it breaches the covenant on any CGTMSE facility running alongside it.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5.4%</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70%</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1.38×</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1.09×</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₹4.17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1.89 / 2.27</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₹2.44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6.6%</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₹2.36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4</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65%</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1.43×</a:t>
            </a:r>
            <a:endParaRPr lang="en-US" sz="950" dirty="0"/>
          </a:p>
        </p:txBody>
      </p:sp>
      <p:sp>
        <p:nvSpPr>
          <p:cNvPr id="56" name="Shape 54"/>
          <p:cNvSpPr/>
          <p:nvPr/>
        </p:nvSpPr>
        <p:spPr>
          <a:xfrm>
            <a:off x="566928" y="4224528"/>
            <a:ext cx="11057839" cy="1737492"/>
          </a:xfrm>
          <a:prstGeom prst="roundRect">
            <a:avLst>
              <a:gd name="adj" fmla="val 2631"/>
            </a:avLst>
          </a:prstGeom>
          <a:solidFill>
            <a:srgbClr val="FDF6EC"/>
          </a:solidFill>
          <a:ln w="15875">
            <a:solidFill>
              <a:srgbClr val="D97706"/>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Bid at reserve. Fund with a CGTMSE limit, committed at ₹2.81 Cr.</a:t>
            </a:r>
            <a:endParaRPr lang="en-US" sz="1900" dirty="0"/>
          </a:p>
        </p:txBody>
      </p:sp>
      <p:sp>
        <p:nvSpPr>
          <p:cNvPr id="59" name="Text 57"/>
          <p:cNvSpPr/>
          <p:nvPr/>
        </p:nvSpPr>
        <p:spPr>
          <a:xfrm>
            <a:off x="804672" y="4860595"/>
            <a:ext cx="10582351" cy="1028273"/>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three structures only debt is both viable and permitted without BDA's consent — and viable only if the facility is sanctioned at ₹4.17 Cr but committed at ₹2.81 Cr. The binding condition sits earlier than the financing: break-even licence fee is ₹35.5 L a year against a ₹30 L reserve — 18% of headroom in a sealed highest-bid process. Bid at or barely above reserve, or do not bid. On a contract with a five-year lock-in and a fifteen-year restoration obligation, winning at the wrong price is worse than losing.</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conversion</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Roughly half the revenue comes from one product with no operating history. Mitigation: obtain slot capacity and soft-launch data pre-bid; bid a price that survives the base case.</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Bid price in a sealed H1 process</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Break-even is ₹35.5 L against a ₹30 L reserve, in a format that rewards the highest bid. Mitigation: a board-approved ceiling before the bid is sealed.</a:t>
            </a:r>
            <a:endParaRPr lang="en-US" sz="1050" dirty="0"/>
          </a:p>
        </p:txBody>
      </p:sp>
      <p:sp>
        <p:nvSpPr>
          <p:cNvPr id="11" name="Shape 9"/>
          <p:cNvSpPr/>
          <p:nvPr/>
        </p:nvSpPr>
        <p:spPr>
          <a:xfrm>
            <a:off x="566928" y="3474720"/>
            <a:ext cx="182880" cy="182880"/>
          </a:xfrm>
          <a:prstGeom prst="ellipse">
            <a:avLst/>
          </a:prstGeom>
          <a:solidFill>
            <a:srgbClr val="C8553D"/>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Five-year lock-in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Exit before it expires costs the remaining contractual amount plus the ₹30 L security. Payback lands at roughly year seven. No contractual mitigation — the bid price has to be right.</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photographed joint handover report on day one; accrue a provision annually.</a:t>
            </a:r>
            <a:endParaRPr lang="en-US" sz="1050" dirty="0"/>
          </a:p>
        </p:txBody>
      </p:sp>
      <p:sp>
        <p:nvSpPr>
          <p:cNvPr id="17" name="Shape 15"/>
          <p:cNvSpPr/>
          <p:nvPr/>
        </p:nvSpPr>
        <p:spPr>
          <a:xfrm>
            <a:off x="6278728" y="2322576"/>
            <a:ext cx="182880" cy="182880"/>
          </a:xfrm>
          <a:prstGeom prst="ellipse">
            <a:avLst/>
          </a:prstGeom>
          <a:solidFill>
            <a:srgbClr val="2B66EA"/>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Lock-in conflict unresolved</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9 states seven years where clause 14 states five. A seven-year lock-in materially worsens the risk. Settle by pre-bid query before anything is committed.</a:t>
            </a:r>
            <a:endParaRPr lang="en-US" sz="1050" dirty="0"/>
          </a:p>
        </p:txBody>
      </p:sp>
      <p:sp>
        <p:nvSpPr>
          <p:cNvPr id="20" name="Shape 18"/>
          <p:cNvSpPr/>
          <p:nvPr/>
        </p:nvSpPr>
        <p:spPr>
          <a:xfrm>
            <a:off x="6278728" y="3474720"/>
            <a:ext cx="182880" cy="182880"/>
          </a:xfrm>
          <a:prstGeom prst="ellipse">
            <a:avLst/>
          </a:prstGeom>
          <a:solidFill>
            <a:srgbClr val="D97706"/>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Restoration at handover</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Every asset returned in handover condition, BDA's decision binding. A bronze statue and a Miyawaki forest over fifteen years. Mitigation: a photographed joint handover report on day one and a restoration provision accrued annually.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Ramayan Vatika · Bareilly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Ramayan Vatika — Project Finance</dc:title>
  <dc:subject>BDA licence-fee concession, 10+5 years</dc:subject>
  <dc:creator>Vision Amusement Park Pvt. Ltd.</dc:creator>
  <cp:lastModifiedBy>Vision Amusement Park Pvt. Ltd.</cp:lastModifiedBy>
  <cp:revision>1</cp:revision>
  <dcterms:created xsi:type="dcterms:W3CDTF">2026-08-24T16:56:39Z</dcterms:created>
  <dcterms:modified xsi:type="dcterms:W3CDTF">2026-08-24T16:56:39Z</dcterms:modified>
</cp:coreProperties>
</file>