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28878"/>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81806"/>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603504"/>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804672"/>
            <a:ext cx="10582351" cy="29414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171969"/>
            <a:ext cx="10582351" cy="186383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371600"/>
          </a:xfrm>
          <a:prstGeom prst="roundRect">
            <a:avLst>
              <a:gd name="adj" fmla="val 4000"/>
            </a:avLst>
          </a:prstGeom>
          <a:solidFill>
            <a:srgbClr val="FBF1EE"/>
          </a:solidFill>
          <a:ln w="12700">
            <a:solidFill>
              <a:srgbClr val="C8553D"/>
            </a:solidFill>
            <a:prstDash val="solid"/>
          </a:ln>
        </p:spPr>
      </p:sp>
      <p:sp>
        <p:nvSpPr>
          <p:cNvPr id="7" name="Text 5"/>
          <p:cNvSpPr/>
          <p:nvPr/>
        </p:nvSpPr>
        <p:spPr>
          <a:xfrm>
            <a:off x="749808" y="3520440"/>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BASE CASE PROJECT IRR</a:t>
            </a:r>
            <a:endParaRPr lang="en-US" sz="900" dirty="0"/>
          </a:p>
        </p:txBody>
      </p:sp>
      <p:sp>
        <p:nvSpPr>
          <p:cNvPr id="8" name="Text 6"/>
          <p:cNvSpPr/>
          <p:nvPr/>
        </p:nvSpPr>
        <p:spPr>
          <a:xfrm>
            <a:off x="749808" y="3749040"/>
            <a:ext cx="3173882" cy="457200"/>
          </a:xfrm>
          <a:prstGeom prst="rect">
            <a:avLst/>
          </a:prstGeom>
          <a:noFill/>
          <a:ln/>
        </p:spPr>
        <p:txBody>
          <a:bodyPr wrap="square" lIns="0" tIns="0" rIns="0" bIns="0" rtlCol="0" anchor="t"/>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371600"/>
          </a:xfrm>
          <a:prstGeom prst="roundRect">
            <a:avLst>
              <a:gd name="adj" fmla="val 4000"/>
            </a:avLst>
          </a:prstGeom>
          <a:solidFill>
            <a:srgbClr val="EDFAF4"/>
          </a:solidFill>
          <a:ln w="12700">
            <a:solidFill>
              <a:srgbClr val="10B981"/>
            </a:solidFill>
            <a:prstDash val="solid"/>
          </a:ln>
        </p:spPr>
      </p:sp>
      <p:sp>
        <p:nvSpPr>
          <p:cNvPr id="11" name="Text 9"/>
          <p:cNvSpPr/>
          <p:nvPr/>
        </p:nvSpPr>
        <p:spPr>
          <a:xfrm>
            <a:off x="4508906" y="3520440"/>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ON BDA'S OWN ASSUMPTION</a:t>
            </a:r>
            <a:endParaRPr lang="en-US" sz="900" dirty="0"/>
          </a:p>
        </p:txBody>
      </p:sp>
      <p:sp>
        <p:nvSpPr>
          <p:cNvPr id="12" name="Text 10"/>
          <p:cNvSpPr/>
          <p:nvPr/>
        </p:nvSpPr>
        <p:spPr>
          <a:xfrm>
            <a:off x="4508906" y="3749040"/>
            <a:ext cx="3173882" cy="457200"/>
          </a:xfrm>
          <a:prstGeom prst="rect">
            <a:avLst/>
          </a:prstGeom>
          <a:noFill/>
          <a:ln/>
        </p:spPr>
        <p:txBody>
          <a:bodyPr wrap="square" lIns="0" tIns="0" rIns="0" bIns="0" rtlCol="0" anchor="t"/>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371600"/>
          </a:xfrm>
          <a:prstGeom prst="roundRect">
            <a:avLst>
              <a:gd name="adj" fmla="val 4000"/>
            </a:avLst>
          </a:prstGeom>
          <a:solidFill>
            <a:srgbClr val="F5F6F8"/>
          </a:solidFill>
          <a:ln w="12700">
            <a:solidFill>
              <a:srgbClr val="E2E4EA"/>
            </a:solidFill>
            <a:prstDash val="solid"/>
          </a:ln>
        </p:spPr>
      </p:sp>
      <p:sp>
        <p:nvSpPr>
          <p:cNvPr id="15" name="Text 13"/>
          <p:cNvSpPr/>
          <p:nvPr/>
        </p:nvSpPr>
        <p:spPr>
          <a:xfrm>
            <a:off x="8268005" y="3520440"/>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THE WHOLE DIFFERENCE</a:t>
            </a:r>
            <a:endParaRPr lang="en-US" sz="900" dirty="0"/>
          </a:p>
        </p:txBody>
      </p:sp>
      <p:sp>
        <p:nvSpPr>
          <p:cNvPr id="16" name="Text 14"/>
          <p:cNvSpPr/>
          <p:nvPr/>
        </p:nvSpPr>
        <p:spPr>
          <a:xfrm>
            <a:off x="8268005" y="3749040"/>
            <a:ext cx="3173882" cy="457200"/>
          </a:xfrm>
          <a:prstGeom prst="rect">
            <a:avLst/>
          </a:prstGeom>
          <a:noFill/>
          <a:ln/>
        </p:spPr>
        <p:txBody>
          <a:bodyPr wrap="square" lIns="0" tIns="0" rIns="0" bIns="0" rtlCol="0" anchor="t"/>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98448"/>
          </a:xfrm>
          <a:prstGeom prst="roundRect">
            <a:avLst>
              <a:gd name="adj" fmla="val 3521"/>
            </a:avLst>
          </a:prstGeom>
          <a:solidFill>
            <a:srgbClr val="F1F5FE"/>
          </a:solidFill>
          <a:ln w="15875">
            <a:solidFill>
              <a:srgbClr val="2B66EA"/>
            </a:solidFill>
            <a:prstDash val="solid"/>
          </a:ln>
        </p:spPr>
      </p:sp>
      <p:sp>
        <p:nvSpPr>
          <p:cNvPr id="19" name="Text 17"/>
          <p:cNvSpPr/>
          <p:nvPr/>
        </p:nvSpPr>
        <p:spPr>
          <a:xfrm>
            <a:off x="804672" y="5102352"/>
            <a:ext cx="2743200" cy="201168"/>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303520"/>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What would change the recommendation</a:t>
            </a:r>
            <a:endParaRPr lang="en-US" sz="1500" dirty="0"/>
          </a:p>
        </p:txBody>
      </p:sp>
      <p:sp>
        <p:nvSpPr>
          <p:cNvPr id="21" name="Text 19"/>
          <p:cNvSpPr/>
          <p:nvPr/>
        </p:nvSpPr>
        <p:spPr>
          <a:xfrm>
            <a:off x="804672" y="5608892"/>
            <a:ext cx="10582351" cy="572453"/>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Written confirmation from BDA on three points moves this from marginal to clearly fundable: the show's capacity, daily slot count and any soft-launch footfall data; an agreed tariff with a contractual escalation path rather than annual discretion; and resolution of the five-versus-seven-year lock-in conflict. All three are legitimate pre-bid queries and all three are free to ask.</a:t>
            </a:r>
            <a:endParaRPr lang="en-US" sz="9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94733"/>
            <a:ext cx="11057839" cy="1696339"/>
          </a:xfrm>
          <a:prstGeom prst="roundRect">
            <a:avLst>
              <a:gd name="adj" fmla="val 2695"/>
            </a:avLst>
          </a:prstGeom>
          <a:solidFill>
            <a:srgbClr val="FBEFEC"/>
          </a:solidFill>
          <a:ln w="15875">
            <a:solidFill>
              <a:srgbClr val="C8553D"/>
            </a:solidFill>
            <a:prstDash val="solid"/>
          </a:ln>
        </p:spPr>
      </p:sp>
      <p:sp>
        <p:nvSpPr>
          <p:cNvPr id="8" name="Text 5"/>
          <p:cNvSpPr/>
          <p:nvPr/>
        </p:nvSpPr>
        <p:spPr>
          <a:xfrm>
            <a:off x="804672" y="4741037"/>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942205"/>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Two clauses that decide how this can be financed</a:t>
            </a:r>
            <a:endParaRPr lang="en-US" sz="1500" dirty="0"/>
          </a:p>
        </p:txBody>
      </p:sp>
      <p:sp>
        <p:nvSpPr>
          <p:cNvPr id="10" name="Text 7"/>
          <p:cNvSpPr/>
          <p:nvPr/>
        </p:nvSpPr>
        <p:spPr>
          <a:xfrm>
            <a:off x="804672" y="5247576"/>
            <a:ext cx="10582351" cy="970344"/>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850" dirty="0"/>
          </a:p>
          <a:p>
            <a:pPr indent="0" marL="0">
              <a:lnSpc>
                <a:spcPts val="1207"/>
              </a:lnSpc>
              <a:buNone/>
            </a:pPr>
            <a:endParaRPr lang="en-US" sz="850" dirty="0"/>
          </a:p>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8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350" dirty="0"/>
          </a:p>
        </p:txBody>
      </p:sp>
      <p:sp>
        <p:nvSpPr>
          <p:cNvPr id="6" name="Shape 4"/>
          <p:cNvSpPr/>
          <p:nvPr/>
        </p:nvSpPr>
        <p:spPr>
          <a:xfrm>
            <a:off x="566928" y="1627632"/>
            <a:ext cx="3539642" cy="1225296"/>
          </a:xfrm>
          <a:prstGeom prst="roundRect">
            <a:avLst>
              <a:gd name="adj" fmla="val 4478"/>
            </a:avLst>
          </a:prstGeom>
          <a:solidFill>
            <a:srgbClr val="F5F6F8"/>
          </a:solidFill>
          <a:ln w="12700">
            <a:solidFill>
              <a:srgbClr val="E2E4EA"/>
            </a:solidFill>
            <a:prstDash val="solid"/>
          </a:ln>
        </p:spPr>
      </p:sp>
      <p:sp>
        <p:nvSpPr>
          <p:cNvPr id="7" name="Text 5"/>
          <p:cNvSpPr/>
          <p:nvPr/>
        </p:nvSpPr>
        <p:spPr>
          <a:xfrm>
            <a:off x="749808"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FACILITY AS BRIEFED</a:t>
            </a:r>
            <a:endParaRPr lang="en-US" sz="900" dirty="0"/>
          </a:p>
        </p:txBody>
      </p:sp>
      <p:sp>
        <p:nvSpPr>
          <p:cNvPr id="8" name="Text 6"/>
          <p:cNvSpPr/>
          <p:nvPr/>
        </p:nvSpPr>
        <p:spPr>
          <a:xfrm>
            <a:off x="749808"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46888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62763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TRUE CAPITAL AT RISK</a:t>
            </a:r>
            <a:endParaRPr lang="en-US" sz="900" dirty="0"/>
          </a:p>
        </p:txBody>
      </p:sp>
      <p:sp>
        <p:nvSpPr>
          <p:cNvPr id="12" name="Text 10"/>
          <p:cNvSpPr/>
          <p:nvPr/>
        </p:nvSpPr>
        <p:spPr>
          <a:xfrm>
            <a:off x="4508906"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46888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627632"/>
            <a:ext cx="3539642" cy="1225296"/>
          </a:xfrm>
          <a:prstGeom prst="roundRect">
            <a:avLst>
              <a:gd name="adj" fmla="val 4478"/>
            </a:avLst>
          </a:prstGeom>
          <a:solidFill>
            <a:srgbClr val="FBF1EE"/>
          </a:solidFill>
          <a:ln w="12700">
            <a:solidFill>
              <a:srgbClr val="C8553D"/>
            </a:solidFill>
            <a:prstDash val="solid"/>
          </a:ln>
        </p:spPr>
      </p:sp>
      <p:sp>
        <p:nvSpPr>
          <p:cNvPr id="15" name="Text 13"/>
          <p:cNvSpPr/>
          <p:nvPr/>
        </p:nvSpPr>
        <p:spPr>
          <a:xfrm>
            <a:off x="8268005"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SERVICEABLE AT 1.30× DSCR</a:t>
            </a:r>
            <a:endParaRPr lang="en-US" sz="900" dirty="0"/>
          </a:p>
        </p:txBody>
      </p:sp>
      <p:sp>
        <p:nvSpPr>
          <p:cNvPr id="16" name="Text 14"/>
          <p:cNvSpPr/>
          <p:nvPr/>
        </p:nvSpPr>
        <p:spPr>
          <a:xfrm>
            <a:off x="8268005"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46888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090672"/>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and registration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₹11.2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Advance licence fee — first quarter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₹8.3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and track — year 2, optional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and year 2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6061964"/>
            <a:ext cx="11057839" cy="731520"/>
          </a:xfrm>
          <a:prstGeom prst="roundRect">
            <a:avLst>
              <a:gd name="adj" fmla="val 6250"/>
            </a:avLst>
          </a:prstGeom>
          <a:solidFill>
            <a:srgbClr val="FDF6EC"/>
          </a:solidFill>
          <a:ln w="15875">
            <a:solidFill>
              <a:srgbClr val="D97706"/>
            </a:solidFill>
            <a:prstDash val="solid"/>
          </a:ln>
        </p:spPr>
      </p:sp>
      <p:sp>
        <p:nvSpPr>
          <p:cNvPr id="20" name="Text 17"/>
          <p:cNvSpPr/>
          <p:nvPr/>
        </p:nvSpPr>
        <p:spPr>
          <a:xfrm>
            <a:off x="804672" y="6208268"/>
            <a:ext cx="2743200" cy="201168"/>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6409436"/>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performance security is the hidden cost</a:t>
            </a:r>
            <a:endParaRPr lang="en-US" sz="1500" dirty="0"/>
          </a:p>
        </p:txBody>
      </p:sp>
      <p:sp>
        <p:nvSpPr>
          <p:cNvPr id="22" name="Text 19"/>
          <p:cNvSpPr/>
          <p:nvPr/>
        </p:nvSpPr>
        <p:spPr>
          <a:xfrm>
            <a:off x="804672" y="6714808"/>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₹30 L sits with BDA, interest-free, for fifteen years. At an 11.5% opportunity cost that is roughly ₹3.45 lakh a year foregone, or about ₹52 lakh across the contract — more than a year and a half of licence fee. Price it into the bid rather than treating it as a refundable deposit.</a:t>
            </a:r>
            <a:endParaRPr lang="en-US" sz="8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350" dirty="0"/>
          </a:p>
        </p:txBody>
      </p:sp>
      <p:graphicFrame>
        <p:nvGraphicFramePr>
          <p:cNvPr id="6" name="Chart 0" descr=""/>
          <p:cNvGraphicFramePr/>
          <p:nvPr/>
        </p:nvGraphicFramePr>
        <p:xfrm>
          <a:off x="566928" y="1627632"/>
          <a:ext cx="11057839" cy="2606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462272"/>
            <a:ext cx="11057839" cy="1640690"/>
          </a:xfrm>
          <a:prstGeom prst="roundRect">
            <a:avLst>
              <a:gd name="adj" fmla="val 2787"/>
            </a:avLst>
          </a:prstGeom>
          <a:solidFill>
            <a:srgbClr val="FBEFEC"/>
          </a:solidFill>
          <a:ln w="15875">
            <a:solidFill>
              <a:srgbClr val="C8553D"/>
            </a:solidFill>
            <a:prstDash val="solid"/>
          </a:ln>
        </p:spPr>
      </p:sp>
      <p:sp>
        <p:nvSpPr>
          <p:cNvPr id="8" name="Text 5"/>
          <p:cNvSpPr/>
          <p:nvPr/>
        </p:nvSpPr>
        <p:spPr>
          <a:xfrm>
            <a:off x="804672" y="4608576"/>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809744"/>
            <a:ext cx="10582351" cy="29414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5177041"/>
            <a:ext cx="10582351" cy="85276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Insurance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Marketing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41289"/>
            <a:ext cx="11057839" cy="731520"/>
          </a:xfrm>
          <a:prstGeom prst="roundRect">
            <a:avLst>
              <a:gd name="adj" fmla="val 6250"/>
            </a:avLst>
          </a:prstGeom>
          <a:solidFill>
            <a:srgbClr val="FDF6EC"/>
          </a:solidFill>
          <a:ln w="15875">
            <a:solidFill>
              <a:srgbClr val="D97706"/>
            </a:solidFill>
            <a:prstDash val="solid"/>
          </a:ln>
        </p:spPr>
      </p:sp>
      <p:sp>
        <p:nvSpPr>
          <p:cNvPr id="8" name="Text 5"/>
          <p:cNvSpPr/>
          <p:nvPr/>
        </p:nvSpPr>
        <p:spPr>
          <a:xfrm>
            <a:off x="804672" y="5887593"/>
            <a:ext cx="2743200" cy="201168"/>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6088761"/>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manpower floor is contractual, not discretionary</a:t>
            </a:r>
            <a:endParaRPr lang="en-US" sz="1500" dirty="0"/>
          </a:p>
        </p:txBody>
      </p:sp>
      <p:sp>
        <p:nvSpPr>
          <p:cNvPr id="10" name="Text 7"/>
          <p:cNvSpPr/>
          <p:nvPr/>
        </p:nvSpPr>
        <p:spPr>
          <a:xfrm>
            <a:off x="804672" y="6394132"/>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BDA prescribes 4 sweepers and 5 security personnel per shift, plus 8 gardeners, a site manager, an electrician and a plumber per day — around 29 heads before a single ticket is sold. Add ticketing, show technicians and food-court staff and the establishment is roughly 37 people, with EPF and ESI explicit. Payroll is the largest cost line in every year and it cannot be flexed down in a bad season. That is the structural reason the margin here is thinner than at Geeta Govind Vatika.</a:t>
            </a:r>
            <a:endParaRPr lang="en-US" sz="8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350" dirty="0"/>
          </a:p>
        </p:txBody>
      </p:sp>
      <p:graphicFrame>
        <p:nvGraphicFramePr>
          <p:cNvPr id="6" name="Chart 0" descr=""/>
          <p:cNvGraphicFramePr/>
          <p:nvPr/>
        </p:nvGraphicFramePr>
        <p:xfrm>
          <a:off x="566928" y="1627632"/>
          <a:ext cx="11057839"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5093208"/>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EBITDA BREAKEVEN</a:t>
            </a:r>
            <a:endParaRPr lang="en-US" sz="900" dirty="0"/>
          </a:p>
        </p:txBody>
      </p:sp>
      <p:sp>
        <p:nvSpPr>
          <p:cNvPr id="9" name="Text 6"/>
          <p:cNvSpPr/>
          <p:nvPr/>
        </p:nvSpPr>
        <p:spPr>
          <a:xfrm>
            <a:off x="749808" y="5321808"/>
            <a:ext cx="3173882" cy="457200"/>
          </a:xfrm>
          <a:prstGeom prst="rect">
            <a:avLst/>
          </a:prstGeom>
          <a:noFill/>
          <a:ln/>
        </p:spPr>
        <p:txBody>
          <a:bodyPr wrap="square" lIns="0" tIns="0" rIns="0" bIns="0" rtlCol="0" anchor="t"/>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4508906" y="5093208"/>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MARGIN AT MATURITY</a:t>
            </a:r>
            <a:endParaRPr lang="en-US" sz="900" dirty="0"/>
          </a:p>
        </p:txBody>
      </p:sp>
      <p:sp>
        <p:nvSpPr>
          <p:cNvPr id="13" name="Text 10"/>
          <p:cNvSpPr/>
          <p:nvPr/>
        </p:nvSpPr>
        <p:spPr>
          <a:xfrm>
            <a:off x="4508906" y="5321808"/>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8268005" y="5093208"/>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CUMULATIVE EBITDA</a:t>
            </a:r>
            <a:endParaRPr lang="en-US" sz="900" dirty="0"/>
          </a:p>
        </p:txBody>
      </p:sp>
      <p:sp>
        <p:nvSpPr>
          <p:cNvPr id="17" name="Text 14"/>
          <p:cNvSpPr/>
          <p:nvPr/>
        </p:nvSpPr>
        <p:spPr>
          <a:xfrm>
            <a:off x="8268005" y="5321808"/>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350" dirty="0"/>
          </a:p>
        </p:txBody>
      </p:sp>
      <p:graphicFrame>
        <p:nvGraphicFramePr>
          <p:cNvPr id="6" name="Chart 0" descr=""/>
          <p:cNvGraphicFramePr/>
          <p:nvPr/>
        </p:nvGraphicFramePr>
        <p:xfrm>
          <a:off x="566928" y="1627632"/>
          <a:ext cx="11057839" cy="2514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70832"/>
            <a:ext cx="2599868" cy="1280160"/>
          </a:xfrm>
          <a:prstGeom prst="roundRect">
            <a:avLst>
              <a:gd name="adj" fmla="val 4286"/>
            </a:avLst>
          </a:prstGeom>
          <a:solidFill>
            <a:srgbClr val="F5F6F8"/>
          </a:solidFill>
          <a:ln w="12700">
            <a:solidFill>
              <a:srgbClr val="E2E4EA"/>
            </a:solidFill>
            <a:prstDash val="solid"/>
          </a:ln>
        </p:spPr>
      </p:sp>
      <p:sp>
        <p:nvSpPr>
          <p:cNvPr id="8" name="Text 5"/>
          <p:cNvSpPr/>
          <p:nvPr/>
        </p:nvSpPr>
        <p:spPr>
          <a:xfrm>
            <a:off x="749808"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PROJECT IRR</a:t>
            </a:r>
            <a:endParaRPr lang="en-US" sz="900" dirty="0"/>
          </a:p>
        </p:txBody>
      </p:sp>
      <p:sp>
        <p:nvSpPr>
          <p:cNvPr id="9" name="Text 6"/>
          <p:cNvSpPr/>
          <p:nvPr/>
        </p:nvSpPr>
        <p:spPr>
          <a:xfrm>
            <a:off x="749808" y="4736592"/>
            <a:ext cx="2234108" cy="457200"/>
          </a:xfrm>
          <a:prstGeom prst="rect">
            <a:avLst/>
          </a:prstGeom>
          <a:noFill/>
          <a:ln/>
        </p:spPr>
        <p:txBody>
          <a:bodyPr wrap="square" lIns="0" tIns="0" rIns="0" bIns="0" rtlCol="0" anchor="t"/>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4370832"/>
            <a:ext cx="2599868" cy="1280160"/>
          </a:xfrm>
          <a:prstGeom prst="roundRect">
            <a:avLst>
              <a:gd name="adj" fmla="val 4286"/>
            </a:avLst>
          </a:prstGeom>
          <a:solidFill>
            <a:srgbClr val="F5F6F8"/>
          </a:solidFill>
          <a:ln w="12700">
            <a:solidFill>
              <a:srgbClr val="E2E4EA"/>
            </a:solidFill>
            <a:prstDash val="solid"/>
          </a:ln>
        </p:spPr>
      </p:sp>
      <p:sp>
        <p:nvSpPr>
          <p:cNvPr id="12" name="Text 9"/>
          <p:cNvSpPr/>
          <p:nvPr/>
        </p:nvSpPr>
        <p:spPr>
          <a:xfrm>
            <a:off x="3569132"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PAYBACK</a:t>
            </a:r>
            <a:endParaRPr lang="en-US" sz="900" dirty="0"/>
          </a:p>
        </p:txBody>
      </p:sp>
      <p:sp>
        <p:nvSpPr>
          <p:cNvPr id="13" name="Text 10"/>
          <p:cNvSpPr/>
          <p:nvPr/>
        </p:nvSpPr>
        <p:spPr>
          <a:xfrm>
            <a:off x="3569132" y="4736592"/>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4370832"/>
            <a:ext cx="2599868" cy="1280160"/>
          </a:xfrm>
          <a:prstGeom prst="roundRect">
            <a:avLst>
              <a:gd name="adj" fmla="val 4286"/>
            </a:avLst>
          </a:prstGeom>
          <a:solidFill>
            <a:srgbClr val="F5F6F8"/>
          </a:solidFill>
          <a:ln w="12700">
            <a:solidFill>
              <a:srgbClr val="E2E4EA"/>
            </a:solidFill>
            <a:prstDash val="solid"/>
          </a:ln>
        </p:spPr>
      </p:sp>
      <p:sp>
        <p:nvSpPr>
          <p:cNvPr id="16" name="Text 13"/>
          <p:cNvSpPr/>
          <p:nvPr/>
        </p:nvSpPr>
        <p:spPr>
          <a:xfrm>
            <a:off x="6388456"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ALL-IN COST OF CGTMSE DEBT</a:t>
            </a:r>
            <a:endParaRPr lang="en-US" sz="900" dirty="0"/>
          </a:p>
        </p:txBody>
      </p:sp>
      <p:sp>
        <p:nvSpPr>
          <p:cNvPr id="17" name="Text 14"/>
          <p:cNvSpPr/>
          <p:nvPr/>
        </p:nvSpPr>
        <p:spPr>
          <a:xfrm>
            <a:off x="6388456" y="4736592"/>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4370832"/>
            <a:ext cx="2599868" cy="1280160"/>
          </a:xfrm>
          <a:prstGeom prst="roundRect">
            <a:avLst>
              <a:gd name="adj" fmla="val 4286"/>
            </a:avLst>
          </a:prstGeom>
          <a:solidFill>
            <a:srgbClr val="F5F6F8"/>
          </a:solidFill>
          <a:ln w="12700">
            <a:solidFill>
              <a:srgbClr val="E2E4EA"/>
            </a:solidFill>
            <a:prstDash val="solid"/>
          </a:ln>
        </p:spPr>
      </p:sp>
      <p:sp>
        <p:nvSpPr>
          <p:cNvPr id="20" name="Text 17"/>
          <p:cNvSpPr/>
          <p:nvPr/>
        </p:nvSpPr>
        <p:spPr>
          <a:xfrm>
            <a:off x="9207779"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SPREAD OVER DEBT</a:t>
            </a:r>
            <a:endParaRPr lang="en-US" sz="900" dirty="0"/>
          </a:p>
        </p:txBody>
      </p:sp>
      <p:sp>
        <p:nvSpPr>
          <p:cNvPr id="21" name="Text 18"/>
          <p:cNvSpPr/>
          <p:nvPr/>
        </p:nvSpPr>
        <p:spPr>
          <a:xfrm>
            <a:off x="9207779" y="4736592"/>
            <a:ext cx="2234108" cy="457200"/>
          </a:xfrm>
          <a:prstGeom prst="rect">
            <a:avLst/>
          </a:prstGeom>
          <a:noFill/>
          <a:ln/>
        </p:spPr>
        <p:txBody>
          <a:bodyPr wrap="square" lIns="0" tIns="0" rIns="0" bIns="0" rtlCol="0" anchor="t"/>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350" dirty="0"/>
          </a:p>
        </p:txBody>
      </p:sp>
      <p:graphicFrame>
        <p:nvGraphicFramePr>
          <p:cNvPr id="6" name="Chart 0" descr=""/>
          <p:cNvGraphicFramePr/>
          <p:nvPr/>
        </p:nvGraphicFramePr>
        <p:xfrm>
          <a:off x="566928" y="1627632"/>
          <a:ext cx="11057839"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41422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5532120"/>
            <a:ext cx="11057839" cy="758952"/>
          </a:xfrm>
          <a:prstGeom prst="roundRect">
            <a:avLst>
              <a:gd name="adj" fmla="val 6024"/>
            </a:avLst>
          </a:prstGeom>
          <a:solidFill>
            <a:srgbClr val="EDFAF4"/>
          </a:solidFill>
          <a:ln w="15875">
            <a:solidFill>
              <a:srgbClr val="10B981"/>
            </a:solidFill>
            <a:prstDash val="solid"/>
          </a:ln>
        </p:spPr>
      </p:sp>
      <p:sp>
        <p:nvSpPr>
          <p:cNvPr id="9" name="Text 5"/>
          <p:cNvSpPr/>
          <p:nvPr/>
        </p:nvSpPr>
        <p:spPr>
          <a:xfrm>
            <a:off x="804672" y="5678424"/>
            <a:ext cx="2743200" cy="201168"/>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5879592"/>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BDA's own case works — and it is not implausible</a:t>
            </a:r>
            <a:endParaRPr lang="en-US" sz="1500" dirty="0"/>
          </a:p>
        </p:txBody>
      </p:sp>
      <p:sp>
        <p:nvSpPr>
          <p:cNvPr id="11" name="Text 7"/>
          <p:cNvSpPr/>
          <p:nvPr/>
        </p:nvSpPr>
        <p:spPr>
          <a:xfrm>
            <a:off x="804672" y="6184964"/>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On BDA's stated assumptions the project returns 36.1% with a stabilised margin of 36.5%. Bid at a price that survives the base case and rewards the BDA case.</a:t>
            </a:r>
            <a:endParaRPr lang="en-US" sz="85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041648"/>
            <a:ext cx="11057839" cy="1411298"/>
          </a:xfrm>
          <a:prstGeom prst="roundRect">
            <a:avLst>
              <a:gd name="adj" fmla="val 3240"/>
            </a:avLst>
          </a:prstGeom>
          <a:solidFill>
            <a:srgbClr val="FBEFEC"/>
          </a:solidFill>
          <a:ln w="15875">
            <a:solidFill>
              <a:srgbClr val="C8553D"/>
            </a:solidFill>
            <a:prstDash val="solid"/>
          </a:ln>
        </p:spPr>
      </p:sp>
      <p:sp>
        <p:nvSpPr>
          <p:cNvPr id="8" name="Text 5"/>
          <p:cNvSpPr/>
          <p:nvPr/>
        </p:nvSpPr>
        <p:spPr>
          <a:xfrm>
            <a:off x="804672" y="4187952"/>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389120"/>
            <a:ext cx="10582351" cy="29414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at project level</a:t>
            </a:r>
            <a:endParaRPr lang="en-US" sz="1900" dirty="0"/>
          </a:p>
        </p:txBody>
      </p:sp>
      <p:sp>
        <p:nvSpPr>
          <p:cNvPr id="10" name="Text 7"/>
          <p:cNvSpPr/>
          <p:nvPr/>
        </p:nvSpPr>
        <p:spPr>
          <a:xfrm>
            <a:off x="804672" y="4756417"/>
            <a:ext cx="10582351" cy="623377"/>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1.8%. Reaching a 22% hurdle would take 100% — the entire project and then some. There is no split of this concession that pays third-party equity a market return and leaves E-O-D a reason to operate it.</a:t>
            </a:r>
            <a:endParaRPr lang="en-US" sz="1200" dirty="0"/>
          </a:p>
        </p:txBody>
      </p:sp>
      <p:sp>
        <p:nvSpPr>
          <p:cNvPr id="11" name="Shape 8"/>
          <p:cNvSpPr/>
          <p:nvPr/>
        </p:nvSpPr>
        <p:spPr>
          <a:xfrm>
            <a:off x="566928" y="5654114"/>
            <a:ext cx="11057839" cy="731520"/>
          </a:xfrm>
          <a:prstGeom prst="roundRect">
            <a:avLst>
              <a:gd name="adj" fmla="val 6250"/>
            </a:avLst>
          </a:prstGeom>
          <a:solidFill>
            <a:srgbClr val="FDF6EC"/>
          </a:solidFill>
          <a:ln w="15875">
            <a:solidFill>
              <a:srgbClr val="D97706"/>
            </a:solidFill>
            <a:prstDash val="solid"/>
          </a:ln>
        </p:spPr>
      </p:sp>
      <p:sp>
        <p:nvSpPr>
          <p:cNvPr id="12" name="Text 9"/>
          <p:cNvSpPr/>
          <p:nvPr/>
        </p:nvSpPr>
        <p:spPr>
          <a:xfrm>
            <a:off x="804672" y="5800418"/>
            <a:ext cx="2743200" cy="201168"/>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13" name="Text 10"/>
          <p:cNvSpPr/>
          <p:nvPr/>
        </p:nvSpPr>
        <p:spPr>
          <a:xfrm>
            <a:off x="804672" y="6001586"/>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And it needs BDA's written consent</a:t>
            </a:r>
            <a:endParaRPr lang="en-US" sz="1500" dirty="0"/>
          </a:p>
        </p:txBody>
      </p:sp>
      <p:sp>
        <p:nvSpPr>
          <p:cNvPr id="14" name="Text 11"/>
          <p:cNvSpPr/>
          <p:nvPr/>
        </p:nvSpPr>
        <p:spPr>
          <a:xfrm>
            <a:off x="804672" y="6306957"/>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Any equity structure that changes VAPPL's shareholding pattern requires BDA's prior written approval during the lock-in, with forfeiture of the performance security and blacklisting as the stated consequence of breach. The equity conversation starts at BDA's office, not the investor's.</a:t>
            </a:r>
            <a:endParaRPr lang="en-US" sz="850" dirty="0"/>
          </a:p>
        </p:txBody>
      </p:sp>
      <p:sp>
        <p:nvSpPr>
          <p:cNvPr id="15" name="Text 1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350" dirty="0"/>
          </a:p>
        </p:txBody>
      </p:sp>
      <p:graphicFrame>
        <p:nvGraphicFramePr>
          <p:cNvPr id="6" name="Chart 0" descr=""/>
          <p:cNvGraphicFramePr/>
          <p:nvPr/>
        </p:nvGraphicFramePr>
        <p:xfrm>
          <a:off x="566928" y="1627632"/>
          <a:ext cx="11057839"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206240"/>
            <a:ext cx="2599868" cy="1298448"/>
          </a:xfrm>
          <a:prstGeom prst="roundRect">
            <a:avLst>
              <a:gd name="adj" fmla="val 4225"/>
            </a:avLst>
          </a:prstGeom>
          <a:solidFill>
            <a:srgbClr val="F5F6F8"/>
          </a:solidFill>
          <a:ln w="12700">
            <a:solidFill>
              <a:srgbClr val="E2E4EA"/>
            </a:solidFill>
            <a:prstDash val="solid"/>
          </a:ln>
        </p:spPr>
      </p:sp>
      <p:sp>
        <p:nvSpPr>
          <p:cNvPr id="8" name="Text 5"/>
          <p:cNvSpPr/>
          <p:nvPr/>
        </p:nvSpPr>
        <p:spPr>
          <a:xfrm>
            <a:off x="749808"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TOTAL FACILITY</a:t>
            </a:r>
            <a:endParaRPr lang="en-US" sz="900" dirty="0"/>
          </a:p>
        </p:txBody>
      </p:sp>
      <p:sp>
        <p:nvSpPr>
          <p:cNvPr id="9" name="Text 6"/>
          <p:cNvSpPr/>
          <p:nvPr/>
        </p:nvSpPr>
        <p:spPr>
          <a:xfrm>
            <a:off x="749808" y="4572000"/>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4206240"/>
            <a:ext cx="2599868" cy="1298448"/>
          </a:xfrm>
          <a:prstGeom prst="roundRect">
            <a:avLst>
              <a:gd name="adj" fmla="val 4225"/>
            </a:avLst>
          </a:prstGeom>
          <a:solidFill>
            <a:srgbClr val="F5F6F8"/>
          </a:solidFill>
          <a:ln w="12700">
            <a:solidFill>
              <a:srgbClr val="E2E4EA"/>
            </a:solidFill>
            <a:prstDash val="solid"/>
          </a:ln>
        </p:spPr>
      </p:sp>
      <p:sp>
        <p:nvSpPr>
          <p:cNvPr id="12" name="Text 9"/>
          <p:cNvSpPr/>
          <p:nvPr/>
        </p:nvSpPr>
        <p:spPr>
          <a:xfrm>
            <a:off x="3569132"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ALL-IN RATE</a:t>
            </a:r>
            <a:endParaRPr lang="en-US" sz="900" dirty="0"/>
          </a:p>
        </p:txBody>
      </p:sp>
      <p:sp>
        <p:nvSpPr>
          <p:cNvPr id="13" name="Text 10"/>
          <p:cNvSpPr/>
          <p:nvPr/>
        </p:nvSpPr>
        <p:spPr>
          <a:xfrm>
            <a:off x="3569132" y="4572000"/>
            <a:ext cx="2234108" cy="457200"/>
          </a:xfrm>
          <a:prstGeom prst="rect">
            <a:avLst/>
          </a:prstGeom>
          <a:noFill/>
          <a:ln/>
        </p:spPr>
        <p:txBody>
          <a:bodyPr wrap="square" lIns="0" tIns="0" rIns="0" bIns="0" rtlCol="0" anchor="t"/>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4206240"/>
            <a:ext cx="2599868" cy="1298448"/>
          </a:xfrm>
          <a:prstGeom prst="roundRect">
            <a:avLst>
              <a:gd name="adj" fmla="val 4225"/>
            </a:avLst>
          </a:prstGeom>
          <a:solidFill>
            <a:srgbClr val="F5F6F8"/>
          </a:solidFill>
          <a:ln w="12700">
            <a:solidFill>
              <a:srgbClr val="E2E4EA"/>
            </a:solidFill>
            <a:prstDash val="solid"/>
          </a:ln>
        </p:spPr>
      </p:sp>
      <p:sp>
        <p:nvSpPr>
          <p:cNvPr id="16" name="Text 13"/>
          <p:cNvSpPr/>
          <p:nvPr/>
        </p:nvSpPr>
        <p:spPr>
          <a:xfrm>
            <a:off x="6388456"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MINIMUM DSCR</a:t>
            </a:r>
            <a:endParaRPr lang="en-US" sz="900" dirty="0"/>
          </a:p>
        </p:txBody>
      </p:sp>
      <p:sp>
        <p:nvSpPr>
          <p:cNvPr id="17" name="Text 14"/>
          <p:cNvSpPr/>
          <p:nvPr/>
        </p:nvSpPr>
        <p:spPr>
          <a:xfrm>
            <a:off x="6388456" y="4572000"/>
            <a:ext cx="2234108" cy="457200"/>
          </a:xfrm>
          <a:prstGeom prst="rect">
            <a:avLst/>
          </a:prstGeom>
          <a:noFill/>
          <a:ln/>
        </p:spPr>
        <p:txBody>
          <a:bodyPr wrap="square" lIns="0" tIns="0" rIns="0" bIns="0" rtlCol="0" anchor="t"/>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4206240"/>
            <a:ext cx="2599868" cy="1298448"/>
          </a:xfrm>
          <a:prstGeom prst="roundRect">
            <a:avLst>
              <a:gd name="adj" fmla="val 4225"/>
            </a:avLst>
          </a:prstGeom>
          <a:solidFill>
            <a:srgbClr val="F5F6F8"/>
          </a:solidFill>
          <a:ln w="12700">
            <a:solidFill>
              <a:srgbClr val="E2E4EA"/>
            </a:solidFill>
            <a:prstDash val="solid"/>
          </a:ln>
        </p:spPr>
      </p:sp>
      <p:sp>
        <p:nvSpPr>
          <p:cNvPr id="20" name="Text 17"/>
          <p:cNvSpPr/>
          <p:nvPr/>
        </p:nvSpPr>
        <p:spPr>
          <a:xfrm>
            <a:off x="9207779"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DEBT CAPACITY</a:t>
            </a:r>
            <a:endParaRPr lang="en-US" sz="900" dirty="0"/>
          </a:p>
        </p:txBody>
      </p:sp>
      <p:sp>
        <p:nvSpPr>
          <p:cNvPr id="21" name="Text 18"/>
          <p:cNvSpPr/>
          <p:nvPr/>
        </p:nvSpPr>
        <p:spPr>
          <a:xfrm>
            <a:off x="9207779" y="4572000"/>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760720"/>
            <a:ext cx="11057839" cy="731520"/>
          </a:xfrm>
          <a:prstGeom prst="roundRect">
            <a:avLst>
              <a:gd name="adj" fmla="val 6250"/>
            </a:avLst>
          </a:prstGeom>
          <a:solidFill>
            <a:srgbClr val="FBEFEC"/>
          </a:solidFill>
          <a:ln w="15875">
            <a:solidFill>
              <a:srgbClr val="C8553D"/>
            </a:solidFill>
            <a:prstDash val="solid"/>
          </a:ln>
        </p:spPr>
      </p:sp>
      <p:sp>
        <p:nvSpPr>
          <p:cNvPr id="24" name="Text 21"/>
          <p:cNvSpPr/>
          <p:nvPr/>
        </p:nvSpPr>
        <p:spPr>
          <a:xfrm>
            <a:off x="804672" y="5907024"/>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6108192"/>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500" dirty="0"/>
          </a:p>
        </p:txBody>
      </p:sp>
      <p:sp>
        <p:nvSpPr>
          <p:cNvPr id="26" name="Text 23"/>
          <p:cNvSpPr/>
          <p:nvPr/>
        </p:nvSpPr>
        <p:spPr>
          <a:xfrm>
            <a:off x="804672" y="6413563"/>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At ₹4.17 Cr the minimum post-moratorium DSCR is 1.09×; banks underwrite to 1.30× and prefer 1.50×. The workable structure is a sanctioned limit of ₹4.17 Cr with a committed component of ₹2.81 Cr and the balance uncommitted. Presenting two full years of opex to a credit committee as committed term money will get the proposal declined.</a:t>
            </a:r>
            <a:endParaRPr lang="en-US" sz="85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041648"/>
            <a:ext cx="11057839" cy="2103120"/>
          </a:xfrm>
          <a:prstGeom prst="roundRect">
            <a:avLst>
              <a:gd name="adj" fmla="val 2174"/>
            </a:avLst>
          </a:prstGeom>
          <a:solidFill>
            <a:srgbClr val="FBEFEC"/>
          </a:solidFill>
          <a:ln w="15875">
            <a:solidFill>
              <a:srgbClr val="C8553D"/>
            </a:solidFill>
            <a:prstDash val="solid"/>
          </a:ln>
        </p:spPr>
      </p:sp>
      <p:sp>
        <p:nvSpPr>
          <p:cNvPr id="8" name="Text 5"/>
          <p:cNvSpPr/>
          <p:nvPr/>
        </p:nvSpPr>
        <p:spPr>
          <a:xfrm>
            <a:off x="804672" y="4187952"/>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389120"/>
            <a:ext cx="10582351" cy="263182"/>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700" dirty="0"/>
          </a:p>
        </p:txBody>
      </p:sp>
      <p:sp>
        <p:nvSpPr>
          <p:cNvPr id="10" name="Text 7"/>
          <p:cNvSpPr/>
          <p:nvPr/>
        </p:nvSpPr>
        <p:spPr>
          <a:xfrm>
            <a:off x="804672" y="4725454"/>
            <a:ext cx="10582351" cy="1346162"/>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000" dirty="0"/>
          </a:p>
          <a:p>
            <a:pPr indent="0" marL="0">
              <a:lnSpc>
                <a:spcPts val="1420"/>
              </a:lnSpc>
              <a:buNone/>
            </a:pPr>
            <a:endParaRPr lang="en-US" sz="1000" dirty="0"/>
          </a:p>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000" dirty="0"/>
          </a:p>
          <a:p>
            <a:pPr indent="0" marL="0">
              <a:lnSpc>
                <a:spcPts val="1420"/>
              </a:lnSpc>
              <a:buNone/>
            </a:pPr>
            <a:endParaRPr lang="en-US" sz="1000" dirty="0"/>
          </a:p>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1.8%</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1.13×</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-1.4%</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0.92×</a:t>
            </a:r>
            <a:endParaRPr lang="en-US" sz="950" dirty="0"/>
          </a:p>
        </p:txBody>
      </p:sp>
      <p:sp>
        <p:nvSpPr>
          <p:cNvPr id="56" name="Shape 54"/>
          <p:cNvSpPr/>
          <p:nvPr/>
        </p:nvSpPr>
        <p:spPr>
          <a:xfrm>
            <a:off x="566928" y="4224528"/>
            <a:ext cx="11057839" cy="1870083"/>
          </a:xfrm>
          <a:prstGeom prst="roundRect">
            <a:avLst>
              <a:gd name="adj" fmla="val 2445"/>
            </a:avLst>
          </a:prstGeom>
          <a:solidFill>
            <a:srgbClr val="FDF6EC"/>
          </a:solidFill>
          <a:ln w="15875">
            <a:solidFill>
              <a:srgbClr val="D97706"/>
            </a:solidFill>
            <a:prstDash val="solid"/>
          </a:ln>
        </p:spPr>
      </p:sp>
      <p:sp>
        <p:nvSpPr>
          <p:cNvPr id="57" name="Text 55"/>
          <p:cNvSpPr/>
          <p:nvPr/>
        </p:nvSpPr>
        <p:spPr>
          <a:xfrm>
            <a:off x="804672" y="4370832"/>
            <a:ext cx="2743200" cy="201168"/>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72000"/>
            <a:ext cx="10582351" cy="29414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939297"/>
            <a:ext cx="10582351" cy="1082162"/>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2B66EA"/>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dates are blank</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data sheet's key-dates table has no bid start, end, pre-bid meeting or technical-opening dates. Confirm the live schedule on etender.up.nic.in before planning submission.</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2026-08-23T14:26:30Z</dcterms:created>
  <dcterms:modified xsi:type="dcterms:W3CDTF">2026-08-23T14:26:30Z</dcterms:modified>
</cp:coreProperties>
</file>