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Gate entry</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0.4</c:v>
                </c:pt>
                <c:pt idx="1">
                  <c:v>0.51</c:v>
                </c:pt>
                <c:pt idx="2">
                  <c:v>0.58</c:v>
                </c:pt>
                <c:pt idx="3">
                  <c:v>0.63</c:v>
                </c:pt>
                <c:pt idx="4">
                  <c:v>0.69</c:v>
                </c:pt>
                <c:pt idx="5">
                  <c:v>0.73</c:v>
                </c:pt>
                <c:pt idx="6">
                  <c:v>0.78</c:v>
                </c:pt>
              </c:numCache>
            </c:numRef>
          </c:val>
        </c:ser>
        <c:ser>
          <c:idx val="1"/>
          <c:order val="1"/>
          <c:tx>
            <c:strRef>
              <c:f>Sheet1!$C$1</c:f>
              <c:strCache>
                <c:ptCount val="1"/>
                <c:pt idx="0">
                  <c:v>Fountain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0.63</c:v>
                </c:pt>
                <c:pt idx="1">
                  <c:v>0.86</c:v>
                </c:pt>
                <c:pt idx="2">
                  <c:v>1.15</c:v>
                </c:pt>
                <c:pt idx="3">
                  <c:v>1.3</c:v>
                </c:pt>
                <c:pt idx="4">
                  <c:v>1.57</c:v>
                </c:pt>
                <c:pt idx="5">
                  <c:v>1.66</c:v>
                </c:pt>
                <c:pt idx="6">
                  <c:v>1.96</c:v>
                </c:pt>
              </c:numCache>
            </c:numRef>
          </c:val>
        </c:ser>
        <c:ser>
          <c:idx val="2"/>
          <c:order val="2"/>
          <c:tx>
            <c:strRef>
              <c:f>Sheet1!$D$1</c:f>
              <c:strCache>
                <c:ptCount val="1"/>
                <c:pt idx="0">
                  <c:v>Food and beverage</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Sheet1!$D$2:$D$8</c:f>
              <c:numCache>
                <c:formatCode>General</c:formatCode>
                <c:ptCount val="7"/>
                <c:pt idx="0">
                  <c:v>0.31</c:v>
                </c:pt>
                <c:pt idx="1">
                  <c:v>0.43</c:v>
                </c:pt>
                <c:pt idx="2">
                  <c:v>0.52</c:v>
                </c:pt>
                <c:pt idx="3">
                  <c:v>0.62</c:v>
                </c:pt>
                <c:pt idx="4">
                  <c:v>0.71</c:v>
                </c:pt>
                <c:pt idx="5">
                  <c:v>0.81</c:v>
                </c:pt>
                <c:pt idx="6">
                  <c:v>0.9</c:v>
                </c:pt>
              </c:numCache>
            </c:numRef>
          </c:val>
        </c:ser>
        <c:ser>
          <c:idx val="3"/>
          <c:order val="3"/>
          <c:tx>
            <c:strRef>
              <c:f>Sheet1!$E$1</c:f>
              <c:strCache>
                <c:ptCount val="1"/>
                <c:pt idx="0">
                  <c:v>E-O-D activity layer</c:v>
                </c:pt>
              </c:strCache>
            </c:strRef>
          </c:tx>
          <c:spPr>
            <a:solidFill>
              <a:srgbClr val="D9770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Sheet1!$E$2:$E$8</c:f>
              <c:numCache>
                <c:formatCode>General</c:formatCode>
                <c:ptCount val="7"/>
                <c:pt idx="0">
                  <c:v>0.35</c:v>
                </c:pt>
                <c:pt idx="1">
                  <c:v>0.56</c:v>
                </c:pt>
                <c:pt idx="2">
                  <c:v>0.73</c:v>
                </c:pt>
                <c:pt idx="3">
                  <c:v>0.92</c:v>
                </c:pt>
                <c:pt idx="4">
                  <c:v>1.05</c:v>
                </c:pt>
                <c:pt idx="5">
                  <c:v>1.26</c:v>
                </c:pt>
                <c:pt idx="6">
                  <c:v>1.4</c:v>
                </c:pt>
              </c:numCache>
            </c:numRef>
          </c:val>
        </c:ser>
        <c:ser>
          <c:idx val="4"/>
          <c:order val="4"/>
          <c:tx>
            <c:strRef>
              <c:f>Sheet1!$F$1</c:f>
              <c:strCache>
                <c:ptCount val="1"/>
                <c:pt idx="0">
                  <c:v>Parking, events and shoots</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Sheet1!$F$2:$F$8</c:f>
              <c:numCache>
                <c:formatCode>General</c:formatCode>
                <c:ptCount val="7"/>
                <c:pt idx="0">
                  <c:v>0.28</c:v>
                </c:pt>
                <c:pt idx="1">
                  <c:v>0.35</c:v>
                </c:pt>
                <c:pt idx="2">
                  <c:v>0.4</c:v>
                </c:pt>
                <c:pt idx="3">
                  <c:v>0.44</c:v>
                </c:pt>
                <c:pt idx="4">
                  <c:v>0.47</c:v>
                </c:pt>
                <c:pt idx="5">
                  <c:v>0.51</c:v>
                </c:pt>
                <c:pt idx="6">
                  <c:v>0.54</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1.96</c:v>
                </c:pt>
                <c:pt idx="1">
                  <c:v>2.7</c:v>
                </c:pt>
                <c:pt idx="2">
                  <c:v>3.38</c:v>
                </c:pt>
                <c:pt idx="3">
                  <c:v>3.91</c:v>
                </c:pt>
                <c:pt idx="4">
                  <c:v>4.5</c:v>
                </c:pt>
                <c:pt idx="5">
                  <c:v>4.97</c:v>
                </c:pt>
                <c:pt idx="6">
                  <c:v>5.58</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-0.21</c:v>
                </c:pt>
                <c:pt idx="1">
                  <c:v>0.16</c:v>
                </c:pt>
                <c:pt idx="2">
                  <c:v>0.5</c:v>
                </c:pt>
                <c:pt idx="3">
                  <c:v>0.71</c:v>
                </c:pt>
                <c:pt idx="4">
                  <c:v>0.97</c:v>
                </c:pt>
                <c:pt idx="5">
                  <c:v>1.1</c:v>
                </c:pt>
                <c:pt idx="6">
                  <c:v>1.36</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Sheet1!$A$2:$A$9</c:f>
              <c:multiLvlStrCache>
                <c:ptCount val="8"/>
                <c:lvl>
                  <c:pt idx="0">
                    <c:v>Capital</c:v>
                  </c:pt>
                  <c:pt idx="1">
                    <c:v>Yr 1</c:v>
                  </c:pt>
                  <c:pt idx="2">
                    <c:v>Yr 2</c:v>
                  </c:pt>
                  <c:pt idx="3">
                    <c:v>Yr 3</c:v>
                  </c:pt>
                  <c:pt idx="4">
                    <c:v>Yr 4</c:v>
                  </c:pt>
                  <c:pt idx="5">
                    <c:v>Yr 5</c:v>
                  </c:pt>
                  <c:pt idx="6">
                    <c:v>Yr 6</c:v>
                  </c:pt>
                  <c:pt idx="7">
                    <c:v>Yr 7</c:v>
                  </c:pt>
                </c:lvl>
              </c:multiLvlStrCache>
            </c:multiLvlStrRef>
          </c:cat>
          <c:val>
            <c:numRef>
              <c:f>Sheet1!$B$2:$B$9</c:f>
              <c:numCache>
                <c:formatCode>General</c:formatCode>
                <c:ptCount val="8"/>
                <c:pt idx="0">
                  <c:v>-1.18</c:v>
                </c:pt>
                <c:pt idx="1">
                  <c:v>-0.25</c:v>
                </c:pt>
                <c:pt idx="2">
                  <c:v>0.1</c:v>
                </c:pt>
                <c:pt idx="3">
                  <c:v>0.35</c:v>
                </c:pt>
                <c:pt idx="4">
                  <c:v>0.49</c:v>
                </c:pt>
                <c:pt idx="5">
                  <c:v>0.67</c:v>
                </c:pt>
                <c:pt idx="6">
                  <c:v>0.76</c:v>
                </c:pt>
                <c:pt idx="7">
                  <c:v>1.04</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Upside</c:v>
                  </c:pt>
                </c:lvl>
              </c:multiLvlStrCache>
            </c:multiLvlStrRef>
          </c:cat>
          <c:val>
            <c:numRef>
              <c:f>Sheet1!$B$2:$B$4</c:f>
              <c:numCache>
                <c:formatCode>General</c:formatCode>
                <c:ptCount val="3"/>
                <c:pt idx="0">
                  <c:v>-28</c:v>
                </c:pt>
                <c:pt idx="1">
                  <c:v>18.7</c:v>
                </c:pt>
                <c:pt idx="2">
                  <c:v>45.9</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0.24</c:v>
                </c:pt>
                <c:pt idx="1">
                  <c:v>0.21</c:v>
                </c:pt>
                <c:pt idx="2">
                  <c:v>0.19</c:v>
                </c:pt>
                <c:pt idx="3">
                  <c:v>0.47</c:v>
                </c:pt>
                <c:pt idx="4">
                  <c:v>0.43</c:v>
                </c:pt>
                <c:pt idx="5">
                  <c:v>0.39</c:v>
                </c:pt>
                <c:pt idx="6">
                  <c:v>0.34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-0.21</c:v>
                </c:pt>
                <c:pt idx="1">
                  <c:v>0.16</c:v>
                </c:pt>
                <c:pt idx="2">
                  <c:v>0.5</c:v>
                </c:pt>
                <c:pt idx="3">
                  <c:v>0.71</c:v>
                </c:pt>
                <c:pt idx="4">
                  <c:v>0.97</c:v>
                </c:pt>
                <c:pt idx="5">
                  <c:v>1.1</c:v>
                </c:pt>
                <c:pt idx="6">
                  <c:v>1.36</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01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Geeta Govind</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A 19-acre cultural park in Taj Nagri Phase-II, five minutes from the park E-O-D already runs. Seven years of operating rights, no land to buy, no structures to build — and one year of operating expenditure to fund before it pays for itself.</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Agra Development Authority · Licence-fee model · 7 + 4 years</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₹2.5 lakh per month · forward e-auction · 5% annual escalation</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FUNDING ASK</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₹3.35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Mobilisation plus one year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₹1.39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rest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18.7%</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Payback 4.7 years</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7 EBITDA</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₹1.36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24.3% margin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ADA has built a ₹4.0–4.2 crore themed park and now wants an operator. Everything physical already exists — the musical fountains, the 40-minute Krishna Leela laser show, eight kiosks, the Tulsi forest. The winning bidder pays a monthly licence fee and keeps what it collects at the gate.</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Agra Development Authority (ADA)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 years + 4 years extendable (performance + mutual consent)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 evaluation, then forward e-auction on the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₹2.5 L per month + GST · ₹30 L a year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Escalation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a year on the preceding year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Payment terms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First 6 months in advance within 7 days of the work order; then half-yearly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 months of the licence fee at the winning e-auction bid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Gate tariff</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 entry. Fountain and laser show at rates approved by ADA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Asset position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ADA owns all assets. No permanent structures permitted. Electricity paid direct to discom.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997704"/>
            <a:ext cx="11057839" cy="1287363"/>
          </a:xfrm>
          <a:prstGeom prst="roundRect">
            <a:avLst>
              <a:gd name="adj" fmla="val 3551"/>
            </a:avLst>
          </a:prstGeom>
          <a:solidFill>
            <a:srgbClr val="F1F5FE"/>
          </a:solidFill>
          <a:ln w="15875">
            <a:solidFill>
              <a:srgbClr val="2B66EA"/>
            </a:solidFill>
            <a:prstDash val="solid"/>
          </a:ln>
        </p:spPr>
      </p:sp>
      <p:sp>
        <p:nvSpPr>
          <p:cNvPr id="8" name="Text 5"/>
          <p:cNvSpPr/>
          <p:nvPr/>
        </p:nvSpPr>
        <p:spPr>
          <a:xfrm>
            <a:off x="804672" y="5107432"/>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9" name="Text 6"/>
          <p:cNvSpPr/>
          <p:nvPr/>
        </p:nvSpPr>
        <p:spPr>
          <a:xfrm>
            <a:off x="804672" y="529031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Why E-O-D wins this on the technical bid</a:t>
            </a:r>
            <a:endParaRPr lang="en-US" sz="1900" dirty="0"/>
          </a:p>
        </p:txBody>
      </p:sp>
      <p:sp>
        <p:nvSpPr>
          <p:cNvPr id="10" name="Text 7"/>
          <p:cNvSpPr/>
          <p:nvPr/>
        </p:nvSpPr>
        <p:spPr>
          <a:xfrm>
            <a:off x="804672" y="5633771"/>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ADA asks for ₹1 crore average turnover and two similar projects above ₹50 lakh. VAPPL turned over ₹16.29 Cr in FY25-26 and runs four parks — two of them on concessions granted by ADA itself. The competitive question is the auction, not the qualification.</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one year of opex as loan or investment. That is the right facility size — but being precise about what the money does changes which instrument fits.</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₹3.35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plus 12 months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BF1EE"/>
          </a:solidFill>
          <a:ln w="12700">
            <a:solidFill>
              <a:srgbClr val="C8553D"/>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₹1.39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plus the year-1 operating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REVOLVING LIQUIDITY</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₹1.96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Drawn, spent, and recovered from collections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1089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Total 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activity equipment, kiosk fit-out, ticketing,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₹90.0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 (3 months, refundable), advance licence fee (6 months), EMD and tender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₹28.1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₹118.1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₹217.3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₹335.4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4961128"/>
            <a:ext cx="11057839" cy="1287363"/>
          </a:xfrm>
          <a:prstGeom prst="roundRect">
            <a:avLst>
              <a:gd name="adj" fmla="val 3551"/>
            </a:avLst>
          </a:prstGeom>
          <a:solidFill>
            <a:srgbClr val="FBEFEC"/>
          </a:solidFill>
          <a:ln w="15875">
            <a:solidFill>
              <a:srgbClr val="C8553D"/>
            </a:solidFill>
            <a:prstDash val="solid"/>
          </a:ln>
        </p:spPr>
      </p:sp>
      <p:sp>
        <p:nvSpPr>
          <p:cNvPr id="20" name="Text 17"/>
          <p:cNvSpPr/>
          <p:nvPr/>
        </p:nvSpPr>
        <p:spPr>
          <a:xfrm>
            <a:off x="804672" y="507085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2537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A liquidity requirement, not a capital requirement</a:t>
            </a:r>
            <a:endParaRPr lang="en-US" sz="1900" dirty="0"/>
          </a:p>
        </p:txBody>
      </p:sp>
      <p:sp>
        <p:nvSpPr>
          <p:cNvPr id="22" name="Text 19"/>
          <p:cNvSpPr/>
          <p:nvPr/>
        </p:nvSpPr>
        <p:spPr>
          <a:xfrm>
            <a:off x="804672" y="5597195"/>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₹3.35 Cr asked for, only ₹1.39 Cr is capital the project consumes and does not return. The rest is working capital — spent on wages and electricity, recovered at the gate. Equity does not come back; a revolving limit does.</a:t>
            </a:r>
            <a:endParaRPr lang="en-US" sz="12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Six streams, built bottom-up from footfall and capture rates. All figures net of GST.</a:t>
            </a:r>
            <a:endParaRPr lang="en-US" sz="1250" dirty="0"/>
          </a:p>
        </p:txBody>
      </p:sp>
      <p:graphicFrame>
        <p:nvGraphicFramePr>
          <p:cNvPr id="6" name="Chart 0" descr=""/>
          <p:cNvGraphicFramePr/>
          <p:nvPr/>
        </p:nvGraphicFramePr>
        <p:xfrm>
          <a:off x="566928" y="1310132"/>
          <a:ext cx="11057839"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27652"/>
            <a:ext cx="2599868" cy="1097280"/>
          </a:xfrm>
          <a:prstGeom prst="roundRect">
            <a:avLst>
              <a:gd name="adj" fmla="val 5000"/>
            </a:avLst>
          </a:prstGeom>
          <a:solidFill>
            <a:srgbClr val="F5F6F8"/>
          </a:solidFill>
          <a:ln w="12700">
            <a:solidFill>
              <a:srgbClr val="E2E4EA"/>
            </a:solidFill>
            <a:prstDash val="solid"/>
          </a:ln>
        </p:spPr>
      </p:sp>
      <p:sp>
        <p:nvSpPr>
          <p:cNvPr id="8" name="Text 5"/>
          <p:cNvSpPr/>
          <p:nvPr/>
        </p:nvSpPr>
        <p:spPr>
          <a:xfrm>
            <a:off x="749808"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FOOTFALL</a:t>
            </a:r>
            <a:endParaRPr lang="en-US" sz="850" dirty="0"/>
          </a:p>
        </p:txBody>
      </p:sp>
      <p:sp>
        <p:nvSpPr>
          <p:cNvPr id="9" name="Text 6"/>
          <p:cNvSpPr/>
          <p:nvPr/>
        </p:nvSpPr>
        <p:spPr>
          <a:xfrm>
            <a:off x="749808" y="469341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3.10 L</a:t>
            </a:r>
            <a:endParaRPr lang="en-US" sz="2600" dirty="0"/>
          </a:p>
        </p:txBody>
      </p:sp>
      <p:sp>
        <p:nvSpPr>
          <p:cNvPr id="10" name="Text 7"/>
          <p:cNvSpPr/>
          <p:nvPr/>
        </p:nvSpPr>
        <p:spPr>
          <a:xfrm>
            <a:off x="749808"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850 visits a day</a:t>
            </a:r>
            <a:endParaRPr lang="en-US" sz="950" dirty="0"/>
          </a:p>
        </p:txBody>
      </p:sp>
      <p:sp>
        <p:nvSpPr>
          <p:cNvPr id="11" name="Shape 8"/>
          <p:cNvSpPr/>
          <p:nvPr/>
        </p:nvSpPr>
        <p:spPr>
          <a:xfrm>
            <a:off x="3386252" y="4327652"/>
            <a:ext cx="2599868" cy="1097280"/>
          </a:xfrm>
          <a:prstGeom prst="roundRect">
            <a:avLst>
              <a:gd name="adj" fmla="val 5000"/>
            </a:avLst>
          </a:prstGeom>
          <a:solidFill>
            <a:srgbClr val="F5F6F8"/>
          </a:solidFill>
          <a:ln w="12700">
            <a:solidFill>
              <a:srgbClr val="E2E4EA"/>
            </a:solidFill>
            <a:prstDash val="solid"/>
          </a:ln>
        </p:spPr>
      </p:sp>
      <p:sp>
        <p:nvSpPr>
          <p:cNvPr id="12" name="Text 9"/>
          <p:cNvSpPr/>
          <p:nvPr/>
        </p:nvSpPr>
        <p:spPr>
          <a:xfrm>
            <a:off x="3569132"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7 FOOTFALL</a:t>
            </a:r>
            <a:endParaRPr lang="en-US" sz="850" dirty="0"/>
          </a:p>
        </p:txBody>
      </p:sp>
      <p:sp>
        <p:nvSpPr>
          <p:cNvPr id="13" name="Text 10"/>
          <p:cNvSpPr/>
          <p:nvPr/>
        </p:nvSpPr>
        <p:spPr>
          <a:xfrm>
            <a:off x="3569132" y="469341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5.75 L</a:t>
            </a:r>
            <a:endParaRPr lang="en-US" sz="2600" dirty="0"/>
          </a:p>
        </p:txBody>
      </p:sp>
      <p:sp>
        <p:nvSpPr>
          <p:cNvPr id="14" name="Text 11"/>
          <p:cNvSpPr/>
          <p:nvPr/>
        </p:nvSpPr>
        <p:spPr>
          <a:xfrm>
            <a:off x="3569132"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1,575 visits a day</a:t>
            </a:r>
            <a:endParaRPr lang="en-US" sz="950" dirty="0"/>
          </a:p>
        </p:txBody>
      </p:sp>
      <p:sp>
        <p:nvSpPr>
          <p:cNvPr id="15" name="Shape 12"/>
          <p:cNvSpPr/>
          <p:nvPr/>
        </p:nvSpPr>
        <p:spPr>
          <a:xfrm>
            <a:off x="6205576" y="4327652"/>
            <a:ext cx="2599868" cy="1097280"/>
          </a:xfrm>
          <a:prstGeom prst="roundRect">
            <a:avLst>
              <a:gd name="adj" fmla="val 5000"/>
            </a:avLst>
          </a:prstGeom>
          <a:solidFill>
            <a:srgbClr val="F5F6F8"/>
          </a:solidFill>
          <a:ln w="12700">
            <a:solidFill>
              <a:srgbClr val="E2E4EA"/>
            </a:solidFill>
            <a:prstDash val="solid"/>
          </a:ln>
        </p:spPr>
      </p:sp>
      <p:sp>
        <p:nvSpPr>
          <p:cNvPr id="16" name="Text 13"/>
          <p:cNvSpPr/>
          <p:nvPr/>
        </p:nvSpPr>
        <p:spPr>
          <a:xfrm>
            <a:off x="6388456"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SHOW CONVERSION</a:t>
            </a:r>
            <a:endParaRPr lang="en-US" sz="850" dirty="0"/>
          </a:p>
        </p:txBody>
      </p:sp>
      <p:sp>
        <p:nvSpPr>
          <p:cNvPr id="17" name="Text 14"/>
          <p:cNvSpPr/>
          <p:nvPr/>
        </p:nvSpPr>
        <p:spPr>
          <a:xfrm>
            <a:off x="6388456" y="4693412"/>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24% → 31%</a:t>
            </a:r>
            <a:endParaRPr lang="en-US" sz="2000" dirty="0"/>
          </a:p>
        </p:txBody>
      </p:sp>
      <p:sp>
        <p:nvSpPr>
          <p:cNvPr id="18" name="Text 15"/>
          <p:cNvSpPr/>
          <p:nvPr/>
        </p:nvSpPr>
        <p:spPr>
          <a:xfrm>
            <a:off x="6388456"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Share buying the fountain and laser ticket</a:t>
            </a:r>
            <a:endParaRPr lang="en-US" sz="950" dirty="0"/>
          </a:p>
        </p:txBody>
      </p:sp>
      <p:sp>
        <p:nvSpPr>
          <p:cNvPr id="19" name="Shape 16"/>
          <p:cNvSpPr/>
          <p:nvPr/>
        </p:nvSpPr>
        <p:spPr>
          <a:xfrm>
            <a:off x="9024899" y="4327652"/>
            <a:ext cx="2599868" cy="1097280"/>
          </a:xfrm>
          <a:prstGeom prst="roundRect">
            <a:avLst>
              <a:gd name="adj" fmla="val 5000"/>
            </a:avLst>
          </a:prstGeom>
          <a:solidFill>
            <a:srgbClr val="F5F6F8"/>
          </a:solidFill>
          <a:ln w="12700">
            <a:solidFill>
              <a:srgbClr val="E2E4EA"/>
            </a:solidFill>
            <a:prstDash val="solid"/>
          </a:ln>
        </p:spPr>
      </p:sp>
      <p:sp>
        <p:nvSpPr>
          <p:cNvPr id="20" name="Text 17"/>
          <p:cNvSpPr/>
          <p:nvPr/>
        </p:nvSpPr>
        <p:spPr>
          <a:xfrm>
            <a:off x="9207779"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GATE TARIFF</a:t>
            </a:r>
            <a:endParaRPr lang="en-US" sz="850" dirty="0"/>
          </a:p>
        </p:txBody>
      </p:sp>
      <p:sp>
        <p:nvSpPr>
          <p:cNvPr id="21" name="Text 18"/>
          <p:cNvSpPr/>
          <p:nvPr/>
        </p:nvSpPr>
        <p:spPr>
          <a:xfrm>
            <a:off x="9207779" y="469341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a:t>
            </a:r>
            <a:endParaRPr lang="en-US" sz="2600" dirty="0"/>
          </a:p>
        </p:txBody>
      </p:sp>
      <p:sp>
        <p:nvSpPr>
          <p:cNvPr id="22" name="Text 19"/>
          <p:cNvSpPr/>
          <p:nvPr/>
        </p:nvSpPr>
        <p:spPr>
          <a:xfrm>
            <a:off x="9207779"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Fixed by ADA — no escalation modelled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Payroll and the licence fee are the two structural lines. Everything else scales with footfall, revenue or inflation.</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200400"/>
                <a:gridCol w="1122491"/>
                <a:gridCol w="1122491"/>
                <a:gridCol w="1122491"/>
                <a:gridCol w="1122491"/>
                <a:gridCol w="1122491"/>
                <a:gridCol w="1122491"/>
                <a:gridCol w="1122491"/>
              </a:tblGrid>
              <a:tr h="26517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0.92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 and spares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Water and 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F&amp;B cost of goods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Marketing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Corporate overhead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2.17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3.53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3.87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65176">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 / 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1.96 · -11%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2.70 · 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3.38 · 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3.91 · 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4.50 · 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4.97 · 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5.58 · 24%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bl>
          </a:graphicData>
        </a:graphic>
      </p:graphicFrame>
      <p:sp>
        <p:nvSpPr>
          <p:cNvPr id="7" name="Shape 4"/>
          <p:cNvSpPr/>
          <p:nvPr/>
        </p:nvSpPr>
        <p:spPr>
          <a:xfrm>
            <a:off x="566928" y="5054981"/>
            <a:ext cx="11057839" cy="1287363"/>
          </a:xfrm>
          <a:prstGeom prst="roundRect">
            <a:avLst>
              <a:gd name="adj" fmla="val 3551"/>
            </a:avLst>
          </a:prstGeom>
          <a:solidFill>
            <a:srgbClr val="FDF6EC"/>
          </a:solidFill>
          <a:ln w="15875">
            <a:solidFill>
              <a:srgbClr val="D97706"/>
            </a:solidFill>
            <a:prstDash val="solid"/>
          </a:ln>
        </p:spPr>
      </p:sp>
      <p:sp>
        <p:nvSpPr>
          <p:cNvPr id="8" name="Text 5"/>
          <p:cNvSpPr/>
          <p:nvPr/>
        </p:nvSpPr>
        <p:spPr>
          <a:xfrm>
            <a:off x="804672" y="5164709"/>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47589"/>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What is not in this model</a:t>
            </a:r>
            <a:endParaRPr lang="en-US" sz="1900" dirty="0"/>
          </a:p>
        </p:txBody>
      </p:sp>
      <p:sp>
        <p:nvSpPr>
          <p:cNvPr id="10" name="Text 7"/>
          <p:cNvSpPr/>
          <p:nvPr/>
        </p:nvSpPr>
        <p:spPr>
          <a:xfrm>
            <a:off x="804672" y="5691048"/>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CCTV integration, ex-servicemen at entry, police verification and six-monthly audits are costed above. What is not costed is replacing a laser or fountain asset that reaches end of life mid-term — that burden sits with the agency. Get the AMC history before bidding.</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Year 1 loses money — a 15-day mobilisation window, a full-year licence fee from day one, and a park that has never opened to the public.</a:t>
            </a:r>
            <a:endParaRPr lang="en-US" sz="1250" dirty="0"/>
          </a:p>
        </p:txBody>
      </p:sp>
      <p:graphicFrame>
        <p:nvGraphicFramePr>
          <p:cNvPr id="6" name="Chart 0" descr=""/>
          <p:cNvGraphicFramePr/>
          <p:nvPr/>
        </p:nvGraphicFramePr>
        <p:xfrm>
          <a:off x="566928" y="131013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2</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₹0.21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24.3%</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₹4.58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18.7%</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4.7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+6.2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Percentage points of project IRR above the cost of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Three drivers move this project: footfall, show conversion, and the licence fee you bid. The downside moves all three against you at once.</a:t>
            </a:r>
            <a:endParaRPr lang="en-US" sz="1250" dirty="0"/>
          </a:p>
        </p:txBody>
      </p:sp>
      <p:graphicFrame>
        <p:nvGraphicFramePr>
          <p:cNvPr id="6" name="Chart 0" descr=""/>
          <p:cNvGraphicFramePr/>
          <p:nvPr/>
        </p:nvGraphicFramePr>
        <p:xfrm>
          <a:off x="566928" y="131013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350469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Upside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₹-0.64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₹-0.21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₹5.49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32.0%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4.7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2.9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605276"/>
            <a:ext cx="11057839" cy="1062299"/>
          </a:xfrm>
          <a:prstGeom prst="roundRect">
            <a:avLst>
              <a:gd name="adj" fmla="val 4304"/>
            </a:avLst>
          </a:prstGeom>
          <a:solidFill>
            <a:srgbClr val="FBEFEC"/>
          </a:solidFill>
          <a:ln w="15875">
            <a:solidFill>
              <a:srgbClr val="C8553D"/>
            </a:solidFill>
            <a:prstDash val="solid"/>
          </a:ln>
        </p:spPr>
      </p:sp>
      <p:sp>
        <p:nvSpPr>
          <p:cNvPr id="9" name="Text 5"/>
          <p:cNvSpPr/>
          <p:nvPr/>
        </p:nvSpPr>
        <p:spPr>
          <a:xfrm>
            <a:off x="804672" y="3715004"/>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389788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downside is a bad bid, not a bad year</a:t>
            </a:r>
            <a:endParaRPr lang="en-US" sz="1900" dirty="0"/>
          </a:p>
        </p:txBody>
      </p:sp>
      <p:sp>
        <p:nvSpPr>
          <p:cNvPr id="11" name="Text 7"/>
          <p:cNvSpPr/>
          <p:nvPr/>
        </p:nvSpPr>
        <p:spPr>
          <a:xfrm>
            <a:off x="804672" y="424134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model solves the break-even licence fee at ₹45.1 L a year — ₹3.76 L a month, about 50% above ADA's reserve. Hold that line in the auction room.</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third party funds the project for a share of it. No repayment obligation, no covenant — and on these numbers the most expensive money on the table.</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₹1.39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5, valued as the discounted remaining concession cash flow</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Investor proceeds — dividends plus 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₹1.72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775708"/>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88543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06831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Project-level equity is the wrong instrument here</a:t>
            </a:r>
            <a:endParaRPr lang="en-US" sz="1900" dirty="0"/>
          </a:p>
        </p:txBody>
      </p:sp>
      <p:sp>
        <p:nvSpPr>
          <p:cNvPr id="10" name="Text 7"/>
          <p:cNvSpPr/>
          <p:nvPr/>
        </p:nvSpPr>
        <p:spPr>
          <a:xfrm>
            <a:off x="804672" y="5411775"/>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60% the investor earns 4.7% — below a deposit rate. Clearing a conventional 22% hurdle would take 100% of the project. A seven-year concession generating ₹3.16 Cr of lifetime free cash flow cannot pay an equity return on ₹1.39 Cr and still leave E-O-D a reason to operate it. If equity is wanted, raise it at company level.</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CGTMSE-guaranteed composite facility: a small term loan against mobilisation, and a revolving working-capital limit against the operating cycle. No collateral, no charge on ADA's assets — which matters, because there are none to charge.</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₹3.37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₹1.20 Cr + working capital ₹2.17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1.49×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3-year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₹3.46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EDFAF4"/>
          </a:solidFill>
          <a:ln w="15875">
            <a:solidFill>
              <a:srgbClr val="10B981"/>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fits — but the moratorium is doing the work</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three-year principal moratorium pushes the first repayment into year 4, when EBITDA is ₹0.71 Cr rather than ₹0.16 Cr. A bank offering this with a one-year moratorium is offering a facility that defaults in year 2.</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project ramps, then compulsory conversion into equity on a formula fixed the day it is issued.</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₹1.39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annually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 — compulsory, not at the holder's option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 stake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61892"/>
            <a:ext cx="11057839" cy="1962556"/>
          </a:xfrm>
          <a:prstGeom prst="roundRect">
            <a:avLst>
              <a:gd name="adj" fmla="val 2330"/>
            </a:avLst>
          </a:prstGeom>
          <a:solidFill>
            <a:srgbClr val="FBEFEC"/>
          </a:solidFill>
          <a:ln w="15875">
            <a:solidFill>
              <a:srgbClr val="C8553D"/>
            </a:solidFill>
            <a:prstDash val="solid"/>
          </a:ln>
        </p:spPr>
      </p:sp>
      <p:sp>
        <p:nvSpPr>
          <p:cNvPr id="8" name="Text 5"/>
          <p:cNvSpPr/>
          <p:nvPr/>
        </p:nvSpPr>
        <p:spPr>
          <a:xfrm>
            <a:off x="804672" y="40716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2545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Worse than either pure option, at project level</a:t>
            </a:r>
            <a:endParaRPr lang="en-US" sz="1900" dirty="0"/>
          </a:p>
        </p:txBody>
      </p:sp>
      <p:sp>
        <p:nvSpPr>
          <p:cNvPr id="10" name="Text 7"/>
          <p:cNvSpPr/>
          <p:nvPr/>
        </p:nvSpPr>
        <p:spPr>
          <a:xfrm>
            <a:off x="804672" y="4597959"/>
            <a:ext cx="10582351" cy="1253338"/>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CCD returns -4.0% — below the equity case, because the coupon years consume the cash the project needs while ramping. It combines the cash-flow burden of debt with the dilution of equity and the guarantee benefit of neither.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If a CCD is used anywhere: the conversion formula must be fixed on the date of issue, or it fails the FEMA pricing test and becomes external commercial borrowing. Until it converts it is borrowing on the balance sheet.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4.7%</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₹1.39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1.24×</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10B981"/>
                </a:solidFill>
                <a:latin typeface="Calibri" pitchFamily="34" charset="0"/>
                <a:ea typeface="Calibri" pitchFamily="34" charset="-122"/>
                <a:cs typeface="Calibri" pitchFamily="34" charset="-120"/>
              </a:rPr>
              <a:t>1.49×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₹3.37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1.20 / 2.17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₹1.07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-4.0%</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₹1.39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3</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55%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0.84×</a:t>
            </a:r>
            <a:endParaRPr lang="en-US" sz="950" dirty="0"/>
          </a:p>
        </p:txBody>
      </p:sp>
      <p:sp>
        <p:nvSpPr>
          <p:cNvPr id="56" name="Shape 54"/>
          <p:cNvSpPr/>
          <p:nvPr/>
        </p:nvSpPr>
        <p:spPr>
          <a:xfrm>
            <a:off x="566928" y="4224528"/>
            <a:ext cx="11057839" cy="1572768"/>
          </a:xfrm>
          <a:prstGeom prst="roundRect">
            <a:avLst>
              <a:gd name="adj" fmla="val 2907"/>
            </a:avLst>
          </a:prstGeom>
          <a:solidFill>
            <a:srgbClr val="EDFAF4"/>
          </a:solidFill>
          <a:ln w="15875">
            <a:solidFill>
              <a:srgbClr val="10B981"/>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Option B — a right-sized CGTMSE composite facility</a:t>
            </a:r>
            <a:endParaRPr lang="en-US" sz="1900" dirty="0"/>
          </a:p>
        </p:txBody>
      </p:sp>
      <p:sp>
        <p:nvSpPr>
          <p:cNvPr id="59" name="Text 57"/>
          <p:cNvSpPr/>
          <p:nvPr/>
        </p:nvSpPr>
        <p:spPr>
          <a:xfrm>
            <a:off x="804672" y="4860595"/>
            <a:ext cx="10582351" cy="86354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project earns 18.7% against 12.50% guaranteed debt. That +6.2 pp spread belongs to E-O-D, and debt is the only instrument that lets E-O-D keep it. Term loan ₹1.20 Cr over 7 years with a 3-year principal moratorium, plus a working-capital limit sanctioned at ₹0.90 Cr rather than the full year of opex — saving ₹1.27 L of guarantee fee and leaving more of the group's ₹10 Cr CGTMSE ceiling for Karnal.</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Auction overshoot</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 cap on the forward e-auction. Every ₹1 lakh a year above the modelled ₹36 L costs about ₹8.1 lakh over the term. Mitigation: a board-approved walk-away of ₹45.1 L a year.</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ADA tariff control</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ADA fixes the gate at ₹20 and approves every other rate. The show ticket carries roughly a third of revenue and E-O-D cannot price it. Mitigation: agree the tariff and escalation path in writing before the work order.</a:t>
            </a:r>
            <a:endParaRPr lang="en-US" sz="1050" dirty="0"/>
          </a:p>
        </p:txBody>
      </p:sp>
      <p:sp>
        <p:nvSpPr>
          <p:cNvPr id="11" name="Shape 9"/>
          <p:cNvSpPr/>
          <p:nvPr/>
        </p:nvSpPr>
        <p:spPr>
          <a:xfrm>
            <a:off x="566928" y="3474720"/>
            <a:ext cx="182880" cy="182880"/>
          </a:xfrm>
          <a:prstGeom prst="ellipse">
            <a:avLst/>
          </a:prstGeom>
          <a:solidFill>
            <a:srgbClr val="D97706"/>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Laser and fountain asset condition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agency inherits equipment of unknown age and must replace end-of-life assets at its own cost. Mitigation: joint condition survey and AMC history before bidding.</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Year-1 cash</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project loses ₹0.21 Cr at EBITDA in year 1 while paying six months of licence fee in advance. Mitigation: this is what the working-capital limit is for.</a:t>
            </a:r>
            <a:endParaRPr lang="en-US" sz="1050" dirty="0"/>
          </a:p>
        </p:txBody>
      </p:sp>
      <p:sp>
        <p:nvSpPr>
          <p:cNvPr id="17" name="Shape 15"/>
          <p:cNvSpPr/>
          <p:nvPr/>
        </p:nvSpPr>
        <p:spPr>
          <a:xfrm>
            <a:off x="6278728" y="2322576"/>
            <a:ext cx="182880" cy="182880"/>
          </a:xfrm>
          <a:prstGeom prst="ellipse">
            <a:avLst/>
          </a:prstGeom>
          <a:solidFill>
            <a:srgbClr val="D97706"/>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No permanent structures</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3.3.2 bars permanent construction, so the activity layer must be demountable — higher unit cost, shorter asset life. The capex schedule assumes an eight-year life.</a:t>
            </a:r>
            <a:endParaRPr lang="en-US" sz="1050" dirty="0"/>
          </a:p>
        </p:txBody>
      </p:sp>
      <p:sp>
        <p:nvSpPr>
          <p:cNvPr id="20" name="Shape 18"/>
          <p:cNvSpPr/>
          <p:nvPr/>
        </p:nvSpPr>
        <p:spPr>
          <a:xfrm>
            <a:off x="6278728" y="3474720"/>
            <a:ext cx="182880" cy="182880"/>
          </a:xfrm>
          <a:prstGeom prst="ellipse">
            <a:avLst/>
          </a:prstGeom>
          <a:solidFill>
            <a:srgbClr val="2B66EA"/>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tariff is not set in the RFP</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Left to be agreed with ADA at least ten days before implementation. The largest revenue assumption in the model and the least documented. Raise it as a pre-bid query.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Geeta Govind Vatika — Project Finance</dc:title>
  <dc:subject>ADA licence-fee concession, 7+4 years</dc:subject>
  <dc:creator>Vision Amusement Park Pvt. Ltd.</dc:creator>
  <cp:lastModifiedBy>Vision Amusement Park Pvt. Ltd.</cp:lastModifiedBy>
  <cp:revision>1</cp:revision>
  <dcterms:created xsi:type="dcterms:W3CDTF">2026-08-23T14:34:47Z</dcterms:created>
  <dcterms:modified xsi:type="dcterms:W3CDTF">2026-08-23T14:34:47Z</dcterms:modified>
</cp:coreProperties>
</file>