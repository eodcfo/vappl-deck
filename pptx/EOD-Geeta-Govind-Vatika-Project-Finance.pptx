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Gate entry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0.48</c:v>
                </c:pt>
                <c:pt idx="1">
                  <c:v>0.57</c:v>
                </c:pt>
                <c:pt idx="2">
                  <c:v>0.63</c:v>
                </c:pt>
                <c:pt idx="3">
                  <c:v>0.67</c:v>
                </c:pt>
                <c:pt idx="4">
                  <c:v>0.71</c:v>
                </c:pt>
                <c:pt idx="5">
                  <c:v>0.74</c:v>
                </c:pt>
                <c:pt idx="6">
                  <c:v>0.79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Fountain &amp; laser show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0.76</c:v>
                </c:pt>
                <c:pt idx="1">
                  <c:v>0.96</c:v>
                </c:pt>
                <c:pt idx="2">
                  <c:v>1.24</c:v>
                </c:pt>
                <c:pt idx="3">
                  <c:v>1.37</c:v>
                </c:pt>
                <c:pt idx="4">
                  <c:v>1.62</c:v>
                </c:pt>
                <c:pt idx="5">
                  <c:v>1.69</c:v>
                </c:pt>
                <c:pt idx="6">
                  <c:v>1.98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Food and beverage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0.37</c:v>
                </c:pt>
                <c:pt idx="1">
                  <c:v>0.48</c:v>
                </c:pt>
                <c:pt idx="2">
                  <c:v>0.56</c:v>
                </c:pt>
                <c:pt idx="3">
                  <c:v>0.65</c:v>
                </c:pt>
                <c:pt idx="4">
                  <c:v>0.74</c:v>
                </c:pt>
                <c:pt idx="5">
                  <c:v>0.83</c:v>
                </c:pt>
                <c:pt idx="6">
                  <c:v>0.91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Vendor-operated activities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0.08</c:v>
                </c:pt>
                <c:pt idx="1">
                  <c:v>0.12</c:v>
                </c:pt>
                <c:pt idx="2">
                  <c:v>0.16</c:v>
                </c:pt>
                <c:pt idx="3">
                  <c:v>0.19</c:v>
                </c:pt>
                <c:pt idx="4">
                  <c:v>0.22</c:v>
                </c:pt>
                <c:pt idx="5">
                  <c:v>0.26</c:v>
                </c:pt>
                <c:pt idx="6">
                  <c:v>0.28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Parking, events and shoots</c:v>
                </c:pt>
              </c:strCache>
            </c:strRef>
          </c:tx>
          <c:spPr>
            <a:solidFill>
              <a:srgbClr val="8A93A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0.64</c:v>
                </c:pt>
                <c:pt idx="1">
                  <c:v>0.74</c:v>
                </c:pt>
                <c:pt idx="2">
                  <c:v>0.82</c:v>
                </c:pt>
                <c:pt idx="3">
                  <c:v>0.89</c:v>
                </c:pt>
                <c:pt idx="4">
                  <c:v>0.95</c:v>
                </c:pt>
                <c:pt idx="5">
                  <c:v>1.01</c:v>
                </c:pt>
                <c:pt idx="6">
                  <c:v>1.07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2.35</c:v>
                </c:pt>
                <c:pt idx="1">
                  <c:v>2.87</c:v>
                </c:pt>
                <c:pt idx="2">
                  <c:v>3.41</c:v>
                </c:pt>
                <c:pt idx="3">
                  <c:v>3.77</c:v>
                </c:pt>
                <c:pt idx="4">
                  <c:v>4.23</c:v>
                </c:pt>
                <c:pt idx="5">
                  <c:v>4.53</c:v>
                </c:pt>
                <c:pt idx="6">
                  <c:v>5.02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EBITDA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0.14</c:v>
                </c:pt>
                <c:pt idx="1">
                  <c:v>0.42</c:v>
                </c:pt>
                <c:pt idx="2">
                  <c:v>0.73</c:v>
                </c:pt>
                <c:pt idx="3">
                  <c:v>0.87</c:v>
                </c:pt>
                <c:pt idx="4">
                  <c:v>1.1</c:v>
                </c:pt>
                <c:pt idx="5">
                  <c:v>1.15</c:v>
                </c:pt>
                <c:pt idx="6">
                  <c:v>1.37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GEETA GOVIND VATIKA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Vatika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commissioned by the Agra Development Authority. Seven years of operating rights, extendable by four. A ₹1 crore facility to mobilise; operating cost met from collections.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Agra Development Authority · Licence-fee model · 7 + 4 years · 19 acres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licence fee ₹2.5 lakh per month · forward e-auction · 5% annual escalation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Mobilisation capex, deposit and advance licence fee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₹2.35 Cr of revenue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EBITDA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₹1.37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 margin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6934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Nineteen acres in Taj Nagri Phase-II, built and fitted out by ADA. The asset is already in place: musical fountains, a 40-minute Krishna Leela laser show, an open-air amphitheatre, a waterbody, eight kiosks and a Tulsi forest. The operator pays a monthly licence fee and retains gate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acres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49808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Taj Nagri Phase-II, adjoining Agra Chaupati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+ 4 years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508906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Extendable on performance and mutual consent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772412"/>
            <a:ext cx="3539642" cy="1133856"/>
          </a:xfrm>
          <a:prstGeom prst="roundRect">
            <a:avLst>
              <a:gd name="adj" fmla="val 4839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89128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SOUGHT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213817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₹1.00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613660"/>
            <a:ext cx="31738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park already built and commissioned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144012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0399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Development Authority (ADA)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period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+ 4 years extendable (performance + mutual consent)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Technical evaluation, then forward e-auction on the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Reserve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 L per month + GST · ₹30 L a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a year on the preceding year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Payment terms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6 months in advance within 7 days of the work order; then half-yearly in advance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months of the licence fee at the winning e-auction bid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tariff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 entry. Fountain and laser show at rates approved by 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Asset position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 owns all assets. No permanent structures permitted. Electricity paid direct to discom.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covers mobilisation only: capital equipment, the security deposit and the first six months of licence fee. Operating cost from month one is met from gate, event and F&amp;B collections.</a:t>
            </a:r>
            <a:endParaRPr lang="en-US" sz="12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9326880"/>
                <a:gridCol w="173095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of 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Kiosk counters, common seating, shade structures  ·  7-year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Ticketing, POS and CCTV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Horticulture equipment, tools, uniforms, safety kit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Signage, branding, wayfinding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Pre-operative and contingency  ·  5-year life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capital equipment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 deposit — three months of licence fee, refundable at expiry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 licence fee — first six months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EMD and tender fee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Sub-total — mobilisation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₹58.1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Opening-season working capital — timing float on the advance licence fee, payroll and electricity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₹41.9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facility sought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₹100.0 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741416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796280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ACTIVITY IS BOUGHT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5970016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activity on site is brought in by a vendor on rent or revenue share — none of it is funded from this facility, none of it appears as capital expenditure, and the vendor carries its own operating cost. E-O-D books its 20% share of the vendor's takings, not the gross spend.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· year one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of operating cost is financed. The opening season is met from gate, event and F&amp;B collections.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REVENUE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₹2.35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GST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OPERATING COST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₹2.21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financed — met from collections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371600"/>
          </a:xfrm>
          <a:prstGeom prst="roundRect">
            <a:avLst>
              <a:gd name="adj" fmla="val 4000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EBITDA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 season carries itself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010916"/>
          <a:ext cx="11057839" cy="914400"/>
        </p:xfrm>
        <a:graphic>
          <a:graphicData uri="http://schemas.openxmlformats.org/drawingml/2006/table">
            <a:tbl>
              <a:tblPr/>
              <a:tblGrid>
                <a:gridCol w="6766560"/>
                <a:gridCol w="2103120"/>
                <a:gridCol w="2188159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revenue by stream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Fountain and laser show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Food and beverage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Events, IPs and shoots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Total, net of GST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streams. Each is footfall multiplied by a capture rate and a tariff, net of GST. Every rate is derived in section 08.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 FOOTFALL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3.75 L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1,027 visits a day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7 FOOTFALL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5.80 L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1,589 visits a day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VISIT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1, net of GST. Year 7: ₹87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4281932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400804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TARIFF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647692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512318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by ADA. No escalation modelled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model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licence fee escalates on a contracted rate; payroll scales with footfall; the rest move with inflation, revenue or the activity they support.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122491"/>
                <a:gridCol w="1122491"/>
                <a:gridCol w="1122491"/>
                <a:gridCol w="1122491"/>
                <a:gridCol w="1122491"/>
                <a:gridCol w="1122491"/>
                <a:gridCol w="1122491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Yr 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 to 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AMC and spares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Water and horticulture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operating cost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margin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808980"/>
            <a:ext cx="11057839" cy="10973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5863844"/>
            <a:ext cx="11057839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SHOW AMC LINE DOES AND DOES NOT COVER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566928" y="6037580"/>
            <a:ext cx="11057839" cy="343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line covers servicing and consumable spares only. End-of-life replacement of a laser projector, pump or control unit falls on the agency under the RFP, and no provision for it is carried here — the age and condition of the installed equipment are not known. Open item, section 09.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Seven-year projection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initial term. The four extension years are excluded from every figure in this deck.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POSITIVE FROM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49808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₹0.14 Cr in the opening season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MARGIN, YEAR 7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27.2%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the 27–29% group target for FY28-29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3733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4922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EBITDA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7391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₹5.78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2146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seven-year initial term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cash flow and returns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 free cash flow. Capital deployed is the mobilisation envelope; operating cost is not financed, so it is not a capital item.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589776"/>
                <a:gridCol w="1589776"/>
                <a:gridCol w="1589776"/>
                <a:gridCol w="1589776"/>
                <a:gridCol w="1589776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Maint.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free cash flow, seven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capital deployed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IRR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55.2%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Unlevered, extension years excluded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yrs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first deployment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 AT 15%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₹1.46 Cr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Discounted at 15%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5177028"/>
            <a:ext cx="2599868" cy="1152144"/>
          </a:xfrm>
          <a:prstGeom prst="roundRect">
            <a:avLst>
              <a:gd name="adj" fmla="val 4762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5295900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 NET OF CAPITAL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5542788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₹3.43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6018276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₹4.01 Cr earned over seven years, less the ₹0.58 Cr deployed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CGTMSE-guaranteed composite facility of ₹1.00 Cr: a term loan against mobilisation and a small revolving limit for within-year seasonality. No collateral, and no charge over ADA's assets.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406079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CGS-I · ceiling ₹10 Cr per borrower, aggregated across all lenders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 loan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₹0.58 Cr — mobilisation capex, security deposit, advance licence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Working capital limit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₹0.42 Cr — within-year seasonality standby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 · repo-linked; CGTMSE keeps MLI pricing within ~3% of EBLR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 · on the sanctioned amount in year 1, on the outstanding thereafter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All-in cost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Tenor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years — proposed, to be agreed with the lender. Matched to the licence period so the loan cannot outlive the concession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year — proposed, to be agreed with the lender. CGTMSE prescribes neither tenor nor moratorium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 coverage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 · ₹0.75 Cr guaranteed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Nil collateral. Hypothecation of assets financed. Director personal guarantee permitted; third-party guarantee is not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finance cost over the term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₹0.45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facility · repayment and cover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  <a:gridCol w="97464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 crore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o/s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TL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WC int.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service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DSCR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·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4.14×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5.47×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7.71×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11.95×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49808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749808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2.11×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749808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years. Banks underwrite to 1.30×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26026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8906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DSCR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4508906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6.72×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08906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repayment years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085125" y="3752596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8005" y="3871468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CAPACITY AT 1.30×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268005" y="4118356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₹1.26 Cr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68005" y="4593844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Headroom of ₹0.26 Cr over the facility sought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566928" y="5197348"/>
            <a:ext cx="11057839" cy="1166774"/>
          </a:xfrm>
          <a:prstGeom prst="roundRect">
            <a:avLst>
              <a:gd name="adj" fmla="val 3918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530707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804672" y="5489956"/>
            <a:ext cx="10582351" cy="243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40"/>
              </a:lnSpc>
              <a:buNone/>
            </a:pPr>
            <a:r>
              <a:rPr lang="en-US" sz="1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assumption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804672" y="5787847"/>
            <a:ext cx="10582351" cy="5031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20"/>
              </a:lnSpc>
              <a:buNone/>
            </a:pPr>
            <a:r>
              <a:rPr lang="en-US" sz="10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calculated on a licence fee of ₹36 L a year — ₹3.0 lakh a month against ADA's ₹2.5 L per month reserve — escalating at 5% a year as the RFP provides. The fee is settled by forward e-auction and is not known until it concludes; the model requires re-running against the actual award.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revenue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in this deck is computed from the inputs below. Nothing is entered directly into the tables.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1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Opening season, marketing-led, ADA's ₹20 gate held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 7 footfall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1,589 visits a day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5.80 lakh visits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path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Front-loaded, flattening as the site matures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+16% yr 2, +5% by yr 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 entry ratio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of under-5s and free morning walkers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76% → 80%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conversion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buying the fountain and laser ticket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24% → 31%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spending at a kiosk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32% → 38%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using a vendor-operated activity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 → 16%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revenue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E-O-D books its share of vendor takings, not gross spend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occupancy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Visitors per vehicle, for the parking 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 entry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by ADA. No escalation modelled across the 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Show tariff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to ADA approval; escalated every second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₹100 → ₹130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Ready-to-eat and pre-packaged only; no cooking on site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₹35 → ₹46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 spend per capture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Visitor spend at the vendor, before E-O-D's share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₹120 → ₹180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Parking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62% two-wheeler at ₹10, 38% four-wheeler at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₹10 / ₹20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Events and IPs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programming and E-O-D-run IPs, private events, shoots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L → ₹85 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GST treatment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Entry, show, activities, parking at 18%; F&amp;B at 12%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net of GST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 and method · cost and facility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13385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035040"/>
                <a:gridCol w="2279599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Licence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Winning bid, contracted escalation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₹36 L, +5%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Payroll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 heads at year-1 footfall; scales at 0.35× footfall growth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 a year, plus scale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inflation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Electricity, horticulture, AMC, repairs, insurance, IT, contingency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F&amp;B cost of goods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Supplied from the EAC kitchens at transfer cost, not bought 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 of F&amp;B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Front-loaded for the opening season, then normalised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 → 4.5%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overhead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Agra cluster allocation, not a standalone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Depreciation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Straight line over the lives shown in section 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₹5.5 L a year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Deducted in free cash flow, not in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 of revenue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EBIT where positive; nil where negative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cash flow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 less tax less maintenance capex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 and EMD refund only. No going-concern or extension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Deposits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Discount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 the NPV in section 06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Interest rate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Scheduled bank, repo-linked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guarantee fee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CGTMSE standard slab for the facility size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Repayment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Equal principal instalments after the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yrs, 1-yr moratorium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CFADS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Cash available for debt service, taken as 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and open items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fee at auction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cap on the forward e-auction, and the fee escalates 5% a year on whatever is bid. Every ₹1 lakh a year above the modelled ₹36 L costs about ₹8.1 lakh across the term. The project stops covering the cost of its debt above ₹76.8 L a year.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and fountain asset condition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agency inherits equipment of unknown age and must replace end-of-life assets at its own cost, with the onus of proving irreparability also on the agency. Not provided for in the cost model.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vendor availability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activity line is E-O-D's 20% share of vendor takings, not own-operated revenue. It depends on vendors taking space and on ADA approving the concept. At ₹0.16 Cr in year 3 it carries no capital at risk and its loss does not threaten debt service.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57200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5" name="Text 13"/>
          <p:cNvSpPr/>
          <p:nvPr/>
        </p:nvSpPr>
        <p:spPr>
          <a:xfrm>
            <a:off x="859536" y="453542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tariff not set in the RFP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9536" y="4782312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agreed with ADA at least ten days before implementation. The model assumes ₹100 in year 1 rising to ₹130 by year 7. The show and activity lines together are 41% of year-3 revenue.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Winning licence fee unknown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1380744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figure is built on a ₹36 L annual bid and requires re-running against the actual award.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2304288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2267712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arrears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2514600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Electricity is paid direct to the discom monthly. VAPPL carries ₹2.14 Cr of accumulated arrears across the existing estate, which is a condition precedent to any lender sanction.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78728" y="3438144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24" name="Text 22"/>
          <p:cNvSpPr/>
          <p:nvPr/>
        </p:nvSpPr>
        <p:spPr>
          <a:xfrm>
            <a:off x="6571336" y="3401568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Concession renewal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571336" y="3648456"/>
            <a:ext cx="505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years, extendable by four at ADA's discretion, with the licence fee revisable for the extended term. No extension value is included in any figure in this deck.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Geeta Govind Vatika · Agra Development Authority · Project finance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Geeta Govind Vatika — Project Finance</dc:title>
  <dc:subject>ADA licence-fee concession, 7+4 years</dc:subject>
  <dc:creator>Vision Amusement Park Pvt. Ltd.</dc:creator>
  <cp:lastModifiedBy>Vision Amusement Park Pvt. Ltd.</cp:lastModifiedBy>
  <cp:revision>1</cp:revision>
  <dcterms:created xsi:type="dcterms:W3CDTF">2026-08-25T02:22:38Z</dcterms:created>
  <dcterms:modified xsi:type="dcterms:W3CDTF">2026-08-25T02:22:38Z</dcterms:modified>
</cp:coreProperties>
</file>