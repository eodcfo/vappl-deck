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Gate entry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0.48</c:v>
                </c:pt>
                <c:pt idx="1">
                  <c:v>0.57</c:v>
                </c:pt>
                <c:pt idx="2">
                  <c:v>0.63</c:v>
                </c:pt>
                <c:pt idx="3">
                  <c:v>0.67</c:v>
                </c:pt>
                <c:pt idx="4">
                  <c:v>0.71</c:v>
                </c:pt>
                <c:pt idx="5">
                  <c:v>0.74</c:v>
                </c:pt>
                <c:pt idx="6">
                  <c:v>0.79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Fountain &amp; laser show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0.76</c:v>
                </c:pt>
                <c:pt idx="1">
                  <c:v>0.96</c:v>
                </c:pt>
                <c:pt idx="2">
                  <c:v>1.24</c:v>
                </c:pt>
                <c:pt idx="3">
                  <c:v>1.37</c:v>
                </c:pt>
                <c:pt idx="4">
                  <c:v>1.62</c:v>
                </c:pt>
                <c:pt idx="5">
                  <c:v>1.69</c:v>
                </c:pt>
                <c:pt idx="6">
                  <c:v>1.98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Food and beverage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0.37</c:v>
                </c:pt>
                <c:pt idx="1">
                  <c:v>0.48</c:v>
                </c:pt>
                <c:pt idx="2">
                  <c:v>0.56</c:v>
                </c:pt>
                <c:pt idx="3">
                  <c:v>0.65</c:v>
                </c:pt>
                <c:pt idx="4">
                  <c:v>0.74</c:v>
                </c:pt>
                <c:pt idx="5">
                  <c:v>0.83</c:v>
                </c:pt>
                <c:pt idx="6">
                  <c:v>0.91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E-O-D activity layer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0.42</c:v>
                </c:pt>
                <c:pt idx="1">
                  <c:v>0.62</c:v>
                </c:pt>
                <c:pt idx="2">
                  <c:v>0.79</c:v>
                </c:pt>
                <c:pt idx="3">
                  <c:v>0.96</c:v>
                </c:pt>
                <c:pt idx="4">
                  <c:v>1.08</c:v>
                </c:pt>
                <c:pt idx="5">
                  <c:v>1.28</c:v>
                </c:pt>
                <c:pt idx="6">
                  <c:v>1.42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Parking, events and shoots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0.44</c:v>
                </c:pt>
                <c:pt idx="1">
                  <c:v>0.5</c:v>
                </c:pt>
                <c:pt idx="2">
                  <c:v>0.54</c:v>
                </c:pt>
                <c:pt idx="3">
                  <c:v>0.57</c:v>
                </c:pt>
                <c:pt idx="4">
                  <c:v>0.6</c:v>
                </c:pt>
                <c:pt idx="5">
                  <c:v>0.63</c:v>
                </c:pt>
                <c:pt idx="6">
                  <c:v>0.66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6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2.48</c:v>
                </c:pt>
                <c:pt idx="1">
                  <c:v>3.13</c:v>
                </c:pt>
                <c:pt idx="2">
                  <c:v>3.76</c:v>
                </c:pt>
                <c:pt idx="3">
                  <c:v>4.22</c:v>
                </c:pt>
                <c:pt idx="4">
                  <c:v>4.74</c:v>
                </c:pt>
                <c:pt idx="5">
                  <c:v>5.17</c:v>
                </c:pt>
                <c:pt idx="6">
                  <c:v>5.75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0.17</c:v>
                </c:pt>
                <c:pt idx="1">
                  <c:v>0.51</c:v>
                </c:pt>
                <c:pt idx="2">
                  <c:v>0.87</c:v>
                </c:pt>
                <c:pt idx="3">
                  <c:v>1.06</c:v>
                </c:pt>
                <c:pt idx="4">
                  <c:v>1.33</c:v>
                </c:pt>
                <c:pt idx="5">
                  <c:v>1.45</c:v>
                </c:pt>
                <c:pt idx="6">
                  <c:v>1.71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6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FINANCE · GEETA GOVIND VATIKA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Vatika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2706624"/>
            <a:ext cx="10241280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acres in Taj Nagri Phase-II, built and commissioned by the Agra Development Authority. Seven years of operating rights, extendable by four. A ₹1 crore facility to mobilise; operating cost met from collections.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460496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 Development Authority · Licence-fee model · 7 + 4 years · 19 acres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licence fee ₹2.5 lakh per month · forward e-auction · 5% annual escalation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4681728"/>
            <a:ext cx="11057839" cy="10973"/>
          </a:xfrm>
          <a:prstGeom prst="rect">
            <a:avLst/>
          </a:prstGeom>
          <a:solidFill>
            <a:srgbClr val="2A324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SOUGHT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 capex, deposit and advance licence fee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5396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EBITDA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95396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395396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₹2.48 Cr of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23864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EBITDA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23864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₹1.71 Cr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223864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 margin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331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DSCR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52331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2.07×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052331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repayment years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acres in Taj Nagri Phase-II, built and fitted out by ADA. The asset is already in place: musical fountains, a 40-minute Krishna Leela laser show, an open-air amphitheatre, a waterbody, eight kiosks and a Tulsi forest. The operator pays a monthly licence fee and retains gate collections.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41272"/>
            <a:ext cx="353964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601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9070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acres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238252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 Nagri Phase-II, adjoining Agra Chaupati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6026" y="1541272"/>
            <a:ext cx="353964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8906" y="16601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08906" y="19070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+ 4 years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8906" y="238252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on performance and mutual consent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5125" y="1541272"/>
            <a:ext cx="3539642" cy="1133856"/>
          </a:xfrm>
          <a:prstGeom prst="roundRect">
            <a:avLst>
              <a:gd name="adj" fmla="val 4839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8005" y="16601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SOUGHT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68005" y="19070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68005" y="238252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park already built and commissioned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12872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039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 Development Authority (ADA)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years + 4 years extendable (performance + mutual consent)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evaluation, then forward e-auction on the licence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licence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₹2.5 L per month + GST · ₹30 L a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a year on the preceding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terms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6 months in advance within 7 days of the work order; then half-yearly in advance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deposit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 of the licence fee at the winning e-auction 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tariff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 entry. Fountain and laser show at rates approved by 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 to ₹50,000 per violation; liquidated damages capped at 10% of total remittance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 owns all assets. No permanent structures permitted. Electricity paid direct to discom.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facility covers mobilisation only: capital equipment, the security deposit and the first six months of licence fee. Operating cost from month one is met from gate, event and F&amp;B collections.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41272"/>
          <a:ext cx="11057839" cy="914400"/>
        </p:xfrm>
        <a:graphic>
          <a:graphicData uri="http://schemas.openxmlformats.org/drawingml/2006/table">
            <a:tbl>
              <a:tblPr/>
              <a:tblGrid>
                <a:gridCol w="9326880"/>
                <a:gridCol w="1730959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of funds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equipment (demountable — no permanent structures permitted)  ·  8-year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 counters, common seating, shade structures  ·  7-year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Ticketing, POS, CCTV and ICCC integration  ·  5-year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Signage, branding, wayfinding  ·  5-year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Uniforms, tools, horticulture kit, safety equipment  ·  3-year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Pre-operative and contingency  ·  5-year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Sub-total — mobilisation capex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₹72.0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deposit — three months of licence fee, refundable at expiry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licence fee — first six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EMD and tender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facility sought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₹100.1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year 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of operating cost is financed. The opening season is met from gate, event and F&amp;B collections.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310132"/>
            <a:ext cx="3539642" cy="13716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290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758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₹2.48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215138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GST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6026" y="1310132"/>
            <a:ext cx="3539642" cy="13716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8906" y="14290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OPERATING COST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08906" y="16758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₹2.32 Cr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08906" y="215138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financed — met from collections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5125" y="1310132"/>
            <a:ext cx="3539642" cy="1371600"/>
          </a:xfrm>
          <a:prstGeom prst="roundRect">
            <a:avLst>
              <a:gd name="adj" fmla="val 4000"/>
            </a:avLst>
          </a:prstGeom>
          <a:solidFill>
            <a:srgbClr val="EDFA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8005" y="14290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EBITDA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68005" y="16758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68005" y="215138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season carries itself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10916"/>
          <a:ext cx="11057839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2103120"/>
                <a:gridCol w="2188159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revenue by stream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Fountain and laser 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and beverage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Events, IPs and shoots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Total, net of GST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streams. Each is footfall multiplied by a capture rate and a tariff, net of GST. Every rate is derived in section 07.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310132"/>
          <a:ext cx="11057839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8193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4008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FOOTFALL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6476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L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512318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1,027 visits a day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6252" y="428193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9132" y="44008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FOOTFALL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69132" y="46476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5.80 L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9132" y="512318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1,589 visits a day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05576" y="428193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8456" y="44008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VISIT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88456" y="46476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₹66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88456" y="512318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1, net of GST. Year 7: ₹99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024899" y="428193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07779" y="44008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TARIFF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07779" y="46476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07779" y="512318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ADA. No escalation modelled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licence fee escalates on a contracted rate; payroll scales with footfall; the rest move with inflation, revenue or the activity they support.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0132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22491"/>
                <a:gridCol w="1122491"/>
                <a:gridCol w="1122491"/>
                <a:gridCol w="1122491"/>
                <a:gridCol w="1122491"/>
                <a:gridCol w="1122491"/>
                <a:gridCol w="1122491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fee to 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AMC and spares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and horticulture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F&amp;B cost of goods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operating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operating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138928"/>
            <a:ext cx="11057839" cy="1188720"/>
          </a:xfrm>
          <a:prstGeom prst="roundRect">
            <a:avLst>
              <a:gd name="adj" fmla="val 3846"/>
            </a:avLst>
          </a:prstGeom>
          <a:solidFill>
            <a:srgbClr val="F1F5FE"/>
          </a:solidFill>
          <a:ln w="15875">
            <a:solidFill>
              <a:srgbClr val="2B66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248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2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5431536"/>
            <a:ext cx="10582351" cy="24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carried inside these lines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5729427"/>
            <a:ext cx="10582351" cy="52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integrated with the Agra Smart City centre, ex-servicemen at entry points, police verification, personnel insurance, a dedicated technical supervisor and six-monthly safety audits all sit within payroll, insurance and IT above. Not costed: replacement of any laser or fountain asset reaching end of life, which the RFP places on the agency.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Seven-year projection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term. The four extension years are excluded from every figure in this deck.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310132"/>
          <a:ext cx="11057839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373372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4922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 FROM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7391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5214620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 in the opening season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6026" y="4373372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8906" y="44922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YEAR 7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08906" y="47391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08906" y="5214620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27–29% group target for FY28-29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85125" y="4373372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8005" y="44922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EBITDA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68005" y="47391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₹7.10 Cr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268005" y="5214620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seven-year initial term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cash flow and returns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 free cash flow. Capital deployed is the mobilisation envelope; operating cost is not financed, so it is not a capital item.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0132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89776"/>
                <a:gridCol w="1589776"/>
                <a:gridCol w="1589776"/>
                <a:gridCol w="1589776"/>
                <a:gridCol w="1589776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Maint.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deployed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free cash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63626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75513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500202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547751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Unlevered, extension years excluded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6252" y="463626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9132" y="475513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69132" y="500202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yrs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9132" y="547751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deployment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05576" y="463626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8456" y="475513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15%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88456" y="500202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₹1.57 Cr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88456" y="547751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at 15%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024899" y="4636262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07779" y="475513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FCF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07779" y="500202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₹5.04 Cr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07779" y="5477510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years, after tax and maintenance capex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CGTMSE-guaranteed composite facility of ₹1.00 Cr: a term loan against mobilisation and a small revolving limit for within-year seasonality. No collateral, and no charge over ADA's assets.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41272"/>
          <a:ext cx="11057839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06079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CGTMSE CGS-I · ceiling ₹10 Cr per borrower, aggregated across all lenders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 loan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₹0.80 Cr — mobilisation capex, security deposit, advance licence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₹0.20 Cr — within-year seasonality standby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11.50% · repo-linked; CGTMSE keeps MLI pricing within ~3% of EBLR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guarantee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 · on the sanctioned amount in year 1, on the outstanding thereafter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Tenor / moratorium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years / 1-year principal moratorium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· ₹0.75 Cr guaranteed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 collateral. Hypothecation of assets financed. Director personal guarantee permitted; third-party guarantee is 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finance cost over the 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facility · repayment and cover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33856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74649"/>
                <a:gridCol w="974649"/>
                <a:gridCol w="974649"/>
                <a:gridCol w="974649"/>
                <a:gridCol w="974649"/>
                <a:gridCol w="974649"/>
                <a:gridCol w="974649"/>
                <a:gridCol w="974649"/>
                <a:gridCol w="97464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o/s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int.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drawn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int.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· moratorium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8.46×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11.08×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752596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3871468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DSCR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49808" y="4118356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2.07×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9808" y="4593844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repayment years. Banks underwrite to 1.30×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26026" y="3752596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8906" y="3871468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DSCR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08906" y="4118356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6.27×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08906" y="4593844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repayment years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85125" y="3752596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8005" y="3871468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CAPACITY AT 1.30×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68005" y="4118356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₹1.62 Cr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68005" y="4593844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of ₹0.62 Cr over the facility sought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" y="5197348"/>
            <a:ext cx="11057839" cy="1166774"/>
          </a:xfrm>
          <a:prstGeom prst="roundRect">
            <a:avLst>
              <a:gd name="adj" fmla="val 3918"/>
            </a:avLst>
          </a:prstGeom>
          <a:solidFill>
            <a:srgbClr val="F1F5FE"/>
          </a:solidFill>
          <a:ln w="15875">
            <a:solidFill>
              <a:srgbClr val="2B66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53070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2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4672" y="5489956"/>
            <a:ext cx="10582351" cy="24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fee sensitivity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4672" y="5787847"/>
            <a:ext cx="10582351" cy="50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assumes a winning bid of ₹36 L a year, 20% above ADA's ₹30 L reserve. Solving for the licence fee at which the project IRR falls to the 12.10% all-in cost of this facility gives ₹80.9 L a year, or ₹6.74 L a month — about 2.7× the reserve. Above that level the project no longer covers the cost of the debt funding it.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method · revenue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is computed from the inputs below. Nothing is entered directly into the tables.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0132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27959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footfall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season, marketing-led, ADA's ₹20 gate held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 lakh visits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7 footfall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1,590 visits a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 lakh visits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Front-loaded, flattening as the site matures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 yr 2, +3% by yr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entry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of under-5s and free morning walkers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 → 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buying the fountain and laser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 → 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F&amp;B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spending at a kiosk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 → 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buying into the activity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 → 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occupancy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Visitors per vehicle, for the parking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by ADA. No escalation modelled across the 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tariff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to ADA approval; escalated every second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 → ₹130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F&amp;B spend per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Ready-to-eat and pre-packaged only; no cooking on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 → ₹46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spend per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across the activity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₹120 → ₹180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 two-wheeler at ₹10, 38% four-wheeler at ₹20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 / ₹20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and 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programming, private events, photo and pre-wedding shoots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 L → ₹44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Entry, show, activities, parking at 18%; F&amp;B at 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net of GST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method · cost, capital and facility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33856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279599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Winning bid, contracted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 L, +5% a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heads at year-1 footfall; scales at 0.35× footfall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 a year, plus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inflation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Electricity, horticulture, AMC, repairs, insurance, IT, contingency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 a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F&amp;B cost of goods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Supplied from the EAC kitchens at transfer cost, not bought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 of F&amp;B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operating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Consumables and vendor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of activity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Front-loaded for the opening season, then normalised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 → 4.5%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overhead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 cluster allocation, not a standalone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line over the lives shown in section 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₹11.5 L a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Deducted in free cash flow, not in 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EBIT where positive; nil where 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less tax less maintenance 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and EMD refund only. No going-concern or extension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the NPV in section 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bank, repo-linked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guarantee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CGTMSE standard slab for the facility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principal instalments after the moratorium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yrs, 1-yr moratorium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available for debt service, taken as 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open items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82880" cy="1828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13385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fee at auction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1380744"/>
            <a:ext cx="505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 on the forward e-auction, and the fee escalates 5% a year on whatever is bid. Every ₹1 lakh a year above the modelled ₹36 L costs about ₹8.1 lakh across the term. The project stops covering the cost of its debt above ₹80.9 L a year.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67712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and activity tariffs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514600"/>
            <a:ext cx="505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fixes the gate at ₹20 and approves every other rate, with ten days' notice for any revision. The show and activity lines together are 46% of year-3 revenue.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438144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401568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and fountain asset condition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9536" y="3648456"/>
            <a:ext cx="505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agency inherits equipment of unknown age and must replace end-of-life assets at its own cost, with the onus of proving irreparability also on the agency. Not provided for in the cost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1170432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571336" y="113385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in the opening season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71336" y="1380744"/>
            <a:ext cx="505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assumes 3.75 lakh visits at a site with no operating history. Year-1 EBITDA is ₹0.17 Cr; a shortfall of roughly 7% in revenue removes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8728" y="2304288"/>
            <a:ext cx="182880" cy="182880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18" name="Text 16"/>
          <p:cNvSpPr/>
          <p:nvPr/>
        </p:nvSpPr>
        <p:spPr>
          <a:xfrm>
            <a:off x="6571336" y="2267712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tariff not set in the RFP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71336" y="2514600"/>
            <a:ext cx="505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agreed with ADA at least ten days before implementation. The model assumes ₹100 in year 1 rising to ₹130 by year 7.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8728" y="3438144"/>
            <a:ext cx="182880" cy="182880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1336" y="3401568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licence fee unknown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71336" y="3648456"/>
            <a:ext cx="505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built on a ₹36 L annual bid and requires re-running against the actual award.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 Govind Vatika · Agra Development Authority · Project finance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E-O-D Parks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Geeta Govind Vatika — Project Finance</dc:title>
  <dc:subject>ADA licence-fee concession, 7+4 years</dc:subject>
  <dc:creator>Vision Amusement Park Pvt. Ltd.</dc:creator>
  <cp:lastModifiedBy>Vision Amusement Park Pvt. Ltd.</cp:lastModifiedBy>
  <cp:revision>1</cp:revision>
  <dcterms:created xsi:type="dcterms:W3CDTF">2026-08-24T16:56:39Z</dcterms:created>
  <dcterms:modified xsi:type="dcterms:W3CDTF">2026-08-24T16:56:39Z</dcterms:modified>
</cp:coreProperties>
</file>