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1.37</c:v>
                </c:pt>
                <c:pt idx="4">
                  <c:v>1.62</c:v>
                </c:pt>
                <c:pt idx="5">
                  <c:v>1.69</c:v>
                </c:pt>
                <c:pt idx="6">
                  <c:v>1.98</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E-O-D 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0.42</c:v>
                </c:pt>
                <c:pt idx="1">
                  <c:v>0.62</c:v>
                </c:pt>
                <c:pt idx="2">
                  <c:v>0.79</c:v>
                </c:pt>
                <c:pt idx="3">
                  <c:v>0.96</c:v>
                </c:pt>
                <c:pt idx="4">
                  <c:v>1.08</c:v>
                </c:pt>
                <c:pt idx="5">
                  <c:v>1.28</c:v>
                </c:pt>
                <c:pt idx="6">
                  <c:v>1.42</c:v>
                </c:pt>
              </c:numCache>
            </c:numRef>
          </c:val>
        </c:ser>
        <c:ser>
          <c:idx val="4"/>
          <c:order val="4"/>
          <c:tx>
            <c:strRef>
              <c:f>Sheet1!$F$1</c:f>
              <c:strCache>
                <c:ptCount val="1"/>
                <c:pt idx="0">
                  <c:v>Parking, events and shoots</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0.44</c:v>
                </c:pt>
                <c:pt idx="1">
                  <c:v>0.5</c:v>
                </c:pt>
                <c:pt idx="2">
                  <c:v>0.54</c:v>
                </c:pt>
                <c:pt idx="3">
                  <c:v>0.57</c:v>
                </c:pt>
                <c:pt idx="4">
                  <c:v>0.6</c:v>
                </c:pt>
                <c:pt idx="5">
                  <c:v>0.63</c:v>
                </c:pt>
                <c:pt idx="6">
                  <c:v>0.66</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2.48</c:v>
                </c:pt>
                <c:pt idx="1">
                  <c:v>3.13</c:v>
                </c:pt>
                <c:pt idx="2">
                  <c:v>3.76</c:v>
                </c:pt>
                <c:pt idx="3">
                  <c:v>4.22</c:v>
                </c:pt>
                <c:pt idx="4">
                  <c:v>4.74</c:v>
                </c:pt>
                <c:pt idx="5">
                  <c:v>5.17</c:v>
                </c:pt>
                <c:pt idx="6">
                  <c:v>5.75</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0.17</c:v>
                </c:pt>
                <c:pt idx="1">
                  <c:v>0.51</c:v>
                </c:pt>
                <c:pt idx="2">
                  <c:v>0.87</c:v>
                </c:pt>
                <c:pt idx="3">
                  <c:v>1.06</c:v>
                </c:pt>
                <c:pt idx="4">
                  <c:v>1.33</c:v>
                </c:pt>
                <c:pt idx="5">
                  <c:v>1.45</c:v>
                </c:pt>
                <c:pt idx="6">
                  <c:v>1.71</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Sheet1!$A$2:$A$9</c:f>
              <c:multiLvlStrCache>
                <c:ptCount val="8"/>
                <c:lvl>
                  <c:pt idx="0">
                    <c:v>Capital</c:v>
                  </c:pt>
                  <c:pt idx="1">
                    <c:v>Yr 1</c:v>
                  </c:pt>
                  <c:pt idx="2">
                    <c:v>Yr 2</c:v>
                  </c:pt>
                  <c:pt idx="3">
                    <c:v>Yr 3</c:v>
                  </c:pt>
                  <c:pt idx="4">
                    <c:v>Yr 4</c:v>
                  </c:pt>
                  <c:pt idx="5">
                    <c:v>Yr 5</c:v>
                  </c:pt>
                  <c:pt idx="6">
                    <c:v>Yr 6</c:v>
                  </c:pt>
                  <c:pt idx="7">
                    <c:v>Yr 7</c:v>
                  </c:pt>
                </c:lvl>
              </c:multiLvlStrCache>
            </c:multiLvlStrRef>
          </c:cat>
          <c:val>
            <c:numRef>
              <c:f>Sheet1!$B$2:$B$9</c:f>
              <c:numCache>
                <c:formatCode>General</c:formatCode>
                <c:ptCount val="8"/>
                <c:pt idx="0">
                  <c:v>-1</c:v>
                </c:pt>
                <c:pt idx="1">
                  <c:v>0.1</c:v>
                </c:pt>
                <c:pt idx="2">
                  <c:v>0.35</c:v>
                </c:pt>
                <c:pt idx="3">
                  <c:v>0.61</c:v>
                </c:pt>
                <c:pt idx="4">
                  <c:v>0.74</c:v>
                </c:pt>
                <c:pt idx="5">
                  <c:v>0.93</c:v>
                </c:pt>
                <c:pt idx="6">
                  <c:v>1.01</c:v>
                </c:pt>
                <c:pt idx="7">
                  <c:v>1.3</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Upside</c:v>
                  </c:pt>
                </c:lvl>
              </c:multiLvlStrCache>
            </c:multiLvlStrRef>
          </c:cat>
          <c:val>
            <c:numRef>
              <c:f>Sheet1!$B$2:$B$4</c:f>
              <c:numCache>
                <c:formatCode>General</c:formatCode>
                <c:ptCount val="3"/>
                <c:pt idx="0">
                  <c:v>-1.4</c:v>
                </c:pt>
                <c:pt idx="1">
                  <c:v>43.3</c:v>
                </c:pt>
                <c:pt idx="2">
                  <c:v>74.4</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0.12</c:v>
                </c:pt>
                <c:pt idx="1">
                  <c:v>0.25</c:v>
                </c:pt>
                <c:pt idx="2">
                  <c:v>0.23</c:v>
                </c:pt>
                <c:pt idx="3">
                  <c:v>0.21</c:v>
                </c:pt>
                <c:pt idx="4">
                  <c:v>0.19</c:v>
                </c:pt>
                <c:pt idx="5">
                  <c:v>0.17</c:v>
                </c:pt>
                <c:pt idx="6">
                  <c:v>0.15</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0.17</c:v>
                </c:pt>
                <c:pt idx="1">
                  <c:v>0.51</c:v>
                </c:pt>
                <c:pt idx="2">
                  <c:v>0.87</c:v>
                </c:pt>
                <c:pt idx="3">
                  <c:v>1.06</c:v>
                </c:pt>
                <c:pt idx="4">
                  <c:v>1.33</c:v>
                </c:pt>
                <c:pt idx="5">
                  <c:v>1.45</c:v>
                </c:pt>
                <c:pt idx="6">
                  <c:v>1.71</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01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next door to the park E-O-D already runs. Seven years of operating rights, no land to buy, no structures to build. One crore to open the doors — and from there it pays for itself at the gate.</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FUNDING ASK</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only — operating cost met from collections</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₹0.17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Positive from the opening season</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43.3%</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Payback 2.9 years</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₹1.71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29.8% margin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now looking for an operator. The asset is already there — musical fountains, a 40-minute Krishna Leela laser show, an open-air amphitheatre, a waterbody, eight kiosks and a Tulsi forest. The operator pays a monthly licence fee and keeps what it collects at the gate.</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7241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Agra Development Authority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 years + 4 years extendable (performance + mutual consent)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₹2.5 L per month + GST · ₹30 L a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Escalation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a year on the preceding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Payment terms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 months of the licence fee at the winning e-auction bid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tariff</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Asset position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228844"/>
            <a:ext cx="11057839" cy="1098885"/>
          </a:xfrm>
          <a:prstGeom prst="roundRect">
            <a:avLst>
              <a:gd name="adj" fmla="val 4161"/>
            </a:avLst>
          </a:prstGeom>
          <a:solidFill>
            <a:srgbClr val="F1F5FE"/>
          </a:solidFill>
          <a:ln w="15875">
            <a:solidFill>
              <a:srgbClr val="2B66EA"/>
            </a:solidFill>
            <a:prstDash val="solid"/>
          </a:ln>
        </p:spPr>
      </p:sp>
      <p:sp>
        <p:nvSpPr>
          <p:cNvPr id="8" name="Text 5"/>
          <p:cNvSpPr/>
          <p:nvPr/>
        </p:nvSpPr>
        <p:spPr>
          <a:xfrm>
            <a:off x="804672" y="5338572"/>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9" name="Text 6"/>
          <p:cNvSpPr/>
          <p:nvPr/>
        </p:nvSpPr>
        <p:spPr>
          <a:xfrm>
            <a:off x="804672" y="5521452"/>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What the Agra cluster does to the commercials</a:t>
            </a:r>
            <a:endParaRPr lang="en-US" sz="1400" dirty="0"/>
          </a:p>
        </p:txBody>
      </p:sp>
      <p:sp>
        <p:nvSpPr>
          <p:cNvPr id="10" name="Text 7"/>
          <p:cNvSpPr/>
          <p:nvPr/>
        </p:nvSpPr>
        <p:spPr>
          <a:xfrm>
            <a:off x="804672" y="5788965"/>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The site adjoins Agra Chaupati and is a short drive from Subhash Park, both already operating. Overhead is charged at 5% of revenue rather than a standalone rate; food and beverage is supplied from the Chaupati kitchens, so the site needs counters rather than a built kitchen and runs at 44% cost of goods instead of 52%; and marketing reaches an audience already visiting the cluster.</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one year of opex as loan or investment. That is the right facility size — but being precise about what the money does changes which instrument fits.</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12 months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BF1EE"/>
          </a:solidFill>
          <a:ln w="12700">
            <a:solidFill>
              <a:srgbClr val="C8553D"/>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the year-1 operating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REVOLVING LIQUIDITY</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₹0.00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Drawn, spent, and recovered from collections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1089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Total 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activity equipment, kiosk fit-out, ticketing,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(3 months, refundable), advance licence fee (6 months), 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₹231.7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4961128"/>
            <a:ext cx="11057839" cy="1287363"/>
          </a:xfrm>
          <a:prstGeom prst="roundRect">
            <a:avLst>
              <a:gd name="adj" fmla="val 3551"/>
            </a:avLst>
          </a:prstGeom>
          <a:solidFill>
            <a:srgbClr val="FBEFEC"/>
          </a:solidFill>
          <a:ln w="15875">
            <a:solidFill>
              <a:srgbClr val="C8553D"/>
            </a:solidFill>
            <a:prstDash val="solid"/>
          </a:ln>
        </p:spPr>
      </p:sp>
      <p:sp>
        <p:nvSpPr>
          <p:cNvPr id="20" name="Text 17"/>
          <p:cNvSpPr/>
          <p:nvPr/>
        </p:nvSpPr>
        <p:spPr>
          <a:xfrm>
            <a:off x="804672" y="507085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2537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A liquidity requirement, not a capital requirement</a:t>
            </a:r>
            <a:endParaRPr lang="en-US" sz="1900" dirty="0"/>
          </a:p>
        </p:txBody>
      </p:sp>
      <p:sp>
        <p:nvSpPr>
          <p:cNvPr id="22" name="Text 19"/>
          <p:cNvSpPr/>
          <p:nvPr/>
        </p:nvSpPr>
        <p:spPr>
          <a:xfrm>
            <a:off x="804672" y="559719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₹1.00 Cr asked for, only ₹1.00 Cr is capital the project consumes and does not return. The rest is working capital — spent on wages and electricity, recovered at the gate. Equity does not come back; a revolving limit does.</a:t>
            </a:r>
            <a:endParaRPr lang="en-US" sz="12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Six streams, built bottom-up from footfall and capture rates. All figures net of GST.</a:t>
            </a:r>
            <a:endParaRPr lang="en-US" sz="1250" dirty="0"/>
          </a:p>
        </p:txBody>
      </p:sp>
      <p:graphicFrame>
        <p:nvGraphicFramePr>
          <p:cNvPr id="6" name="Chart 0" descr=""/>
          <p:cNvGraphicFramePr/>
          <p:nvPr/>
        </p:nvGraphicFramePr>
        <p:xfrm>
          <a:off x="566928" y="1310132"/>
          <a:ext cx="11057839"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27652"/>
            <a:ext cx="2599868" cy="1097280"/>
          </a:xfrm>
          <a:prstGeom prst="roundRect">
            <a:avLst>
              <a:gd name="adj" fmla="val 5000"/>
            </a:avLst>
          </a:prstGeom>
          <a:solidFill>
            <a:srgbClr val="F5F6F8"/>
          </a:solidFill>
          <a:ln w="12700">
            <a:solidFill>
              <a:srgbClr val="E2E4EA"/>
            </a:solidFill>
            <a:prstDash val="solid"/>
          </a:ln>
        </p:spPr>
      </p:sp>
      <p:sp>
        <p:nvSpPr>
          <p:cNvPr id="8" name="Text 5"/>
          <p:cNvSpPr/>
          <p:nvPr/>
        </p:nvSpPr>
        <p:spPr>
          <a:xfrm>
            <a:off x="749808"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850 visits a day</a:t>
            </a:r>
            <a:endParaRPr lang="en-US" sz="950" dirty="0"/>
          </a:p>
        </p:txBody>
      </p:sp>
      <p:sp>
        <p:nvSpPr>
          <p:cNvPr id="11" name="Shape 8"/>
          <p:cNvSpPr/>
          <p:nvPr/>
        </p:nvSpPr>
        <p:spPr>
          <a:xfrm>
            <a:off x="3386252" y="4327652"/>
            <a:ext cx="2599868" cy="1097280"/>
          </a:xfrm>
          <a:prstGeom prst="roundRect">
            <a:avLst>
              <a:gd name="adj" fmla="val 5000"/>
            </a:avLst>
          </a:prstGeom>
          <a:solidFill>
            <a:srgbClr val="F5F6F8"/>
          </a:solidFill>
          <a:ln w="12700">
            <a:solidFill>
              <a:srgbClr val="E2E4EA"/>
            </a:solidFill>
            <a:prstDash val="solid"/>
          </a:ln>
        </p:spPr>
      </p:sp>
      <p:sp>
        <p:nvSpPr>
          <p:cNvPr id="12" name="Text 9"/>
          <p:cNvSpPr/>
          <p:nvPr/>
        </p:nvSpPr>
        <p:spPr>
          <a:xfrm>
            <a:off x="3569132"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1,575 visits a day</a:t>
            </a:r>
            <a:endParaRPr lang="en-US" sz="950" dirty="0"/>
          </a:p>
        </p:txBody>
      </p:sp>
      <p:sp>
        <p:nvSpPr>
          <p:cNvPr id="15" name="Shape 12"/>
          <p:cNvSpPr/>
          <p:nvPr/>
        </p:nvSpPr>
        <p:spPr>
          <a:xfrm>
            <a:off x="6205576" y="4327652"/>
            <a:ext cx="2599868" cy="1097280"/>
          </a:xfrm>
          <a:prstGeom prst="roundRect">
            <a:avLst>
              <a:gd name="adj" fmla="val 5000"/>
            </a:avLst>
          </a:prstGeom>
          <a:solidFill>
            <a:srgbClr val="F5F6F8"/>
          </a:solidFill>
          <a:ln w="12700">
            <a:solidFill>
              <a:srgbClr val="E2E4EA"/>
            </a:solidFill>
            <a:prstDash val="solid"/>
          </a:ln>
        </p:spPr>
      </p:sp>
      <p:sp>
        <p:nvSpPr>
          <p:cNvPr id="16" name="Text 13"/>
          <p:cNvSpPr/>
          <p:nvPr/>
        </p:nvSpPr>
        <p:spPr>
          <a:xfrm>
            <a:off x="6388456"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SHOW CONVERSION</a:t>
            </a:r>
            <a:endParaRPr lang="en-US" sz="850" dirty="0"/>
          </a:p>
        </p:txBody>
      </p:sp>
      <p:sp>
        <p:nvSpPr>
          <p:cNvPr id="17" name="Text 14"/>
          <p:cNvSpPr/>
          <p:nvPr/>
        </p:nvSpPr>
        <p:spPr>
          <a:xfrm>
            <a:off x="6388456" y="4693412"/>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24% → 31%</a:t>
            </a:r>
            <a:endParaRPr lang="en-US" sz="2000" dirty="0"/>
          </a:p>
        </p:txBody>
      </p:sp>
      <p:sp>
        <p:nvSpPr>
          <p:cNvPr id="18" name="Text 15"/>
          <p:cNvSpPr/>
          <p:nvPr/>
        </p:nvSpPr>
        <p:spPr>
          <a:xfrm>
            <a:off x="6388456"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Share buying the fountain and laser ticket</a:t>
            </a:r>
            <a:endParaRPr lang="en-US" sz="950" dirty="0"/>
          </a:p>
        </p:txBody>
      </p:sp>
      <p:sp>
        <p:nvSpPr>
          <p:cNvPr id="19" name="Shape 16"/>
          <p:cNvSpPr/>
          <p:nvPr/>
        </p:nvSpPr>
        <p:spPr>
          <a:xfrm>
            <a:off x="9024899" y="4327652"/>
            <a:ext cx="2599868" cy="1097280"/>
          </a:xfrm>
          <a:prstGeom prst="roundRect">
            <a:avLst>
              <a:gd name="adj" fmla="val 5000"/>
            </a:avLst>
          </a:prstGeom>
          <a:solidFill>
            <a:srgbClr val="F5F6F8"/>
          </a:solidFill>
          <a:ln w="12700">
            <a:solidFill>
              <a:srgbClr val="E2E4EA"/>
            </a:solidFill>
            <a:prstDash val="solid"/>
          </a:ln>
        </p:spPr>
      </p:sp>
      <p:sp>
        <p:nvSpPr>
          <p:cNvPr id="20" name="Text 17"/>
          <p:cNvSpPr/>
          <p:nvPr/>
        </p:nvSpPr>
        <p:spPr>
          <a:xfrm>
            <a:off x="9207779"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Payroll and the licence fee are the two structural lines. Everything else scales with footfall, revenue or inflation.</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200400"/>
                <a:gridCol w="1122491"/>
                <a:gridCol w="1122491"/>
                <a:gridCol w="1122491"/>
                <a:gridCol w="1122491"/>
                <a:gridCol w="1122491"/>
                <a:gridCol w="1122491"/>
                <a:gridCol w="1122491"/>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0.97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 and spares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Water and 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F&amp;B cost of goods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Marketing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Corporate overhead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2.62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2.89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3.72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4.04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65176">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 / 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2.48 · 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3.13 · 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3.76 · 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4.22 · 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4.74 · 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5.17 · 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5.75 · 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bl>
          </a:graphicData>
        </a:graphic>
      </p:graphicFrame>
      <p:sp>
        <p:nvSpPr>
          <p:cNvPr id="7" name="Shape 4"/>
          <p:cNvSpPr/>
          <p:nvPr/>
        </p:nvSpPr>
        <p:spPr>
          <a:xfrm>
            <a:off x="566928" y="5054981"/>
            <a:ext cx="11057839" cy="1287363"/>
          </a:xfrm>
          <a:prstGeom prst="roundRect">
            <a:avLst>
              <a:gd name="adj" fmla="val 3551"/>
            </a:avLst>
          </a:prstGeom>
          <a:solidFill>
            <a:srgbClr val="FDF6EC"/>
          </a:solidFill>
          <a:ln w="15875">
            <a:solidFill>
              <a:srgbClr val="D97706"/>
            </a:solidFill>
            <a:prstDash val="solid"/>
          </a:ln>
        </p:spPr>
      </p:sp>
      <p:sp>
        <p:nvSpPr>
          <p:cNvPr id="8" name="Text 5"/>
          <p:cNvSpPr/>
          <p:nvPr/>
        </p:nvSpPr>
        <p:spPr>
          <a:xfrm>
            <a:off x="804672" y="5164709"/>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47589"/>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is not in this model</a:t>
            </a:r>
            <a:endParaRPr lang="en-US" sz="1900" dirty="0"/>
          </a:p>
        </p:txBody>
      </p:sp>
      <p:sp>
        <p:nvSpPr>
          <p:cNvPr id="10" name="Text 7"/>
          <p:cNvSpPr/>
          <p:nvPr/>
        </p:nvSpPr>
        <p:spPr>
          <a:xfrm>
            <a:off x="804672" y="5691048"/>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CCTV integration, ex-servicemen at entry, police verification and six-monthly audits are costed above. What is not costed is replacing a laser or fountain asset that reaches end of life mid-term — that burden sits with the agency. Get the AMC history before bidding.</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Year 1 loses money — a 15-day mobilisation window, a full-year licence fee from day one, and a park that has never opened to the public.</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₹0.00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29.8%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₹7.10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43.3%</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2.9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12.10%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+31.2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Percentage points of project IRR above the cost of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Three drivers move this project: footfall, show conversion, and the licence fee you bid. The downside moves all three against you at once.</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₹0.17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₹0.57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₹3.88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₹4.74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₹5.76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2.9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1.8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287363"/>
          </a:xfrm>
          <a:prstGeom prst="roundRect">
            <a:avLst>
              <a:gd name="adj" fmla="val 3551"/>
            </a:avLst>
          </a:prstGeom>
          <a:solidFill>
            <a:srgbClr val="FBEFEC"/>
          </a:solidFill>
          <a:ln w="15875">
            <a:solidFill>
              <a:srgbClr val="C8553D"/>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downside is a bad bid, not a bad year</a:t>
            </a:r>
            <a:endParaRPr lang="en-US" sz="1900" dirty="0"/>
          </a:p>
        </p:txBody>
      </p:sp>
      <p:sp>
        <p:nvSpPr>
          <p:cNvPr id="11" name="Text 7"/>
          <p:cNvSpPr/>
          <p:nvPr/>
        </p:nvSpPr>
        <p:spPr>
          <a:xfrm>
            <a:off x="804672" y="4241343"/>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model solves the break-even licence fee at ₹80.9 L a year — ₹6.74 L a month, about 170% above ADA's reserve. Hold that line in the auction room.</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third party funds the project for a share of it. No repayment obligation, no covenant — and on these numbers the most expensive money on the table.</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5, valued as the discounted remaining concession cash flow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Investor proceeds — dividends plus 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775708"/>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88543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06831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Project-level equity is the wrong instrument here</a:t>
            </a:r>
            <a:endParaRPr lang="en-US" sz="1900" dirty="0"/>
          </a:p>
        </p:txBody>
      </p:sp>
      <p:sp>
        <p:nvSpPr>
          <p:cNvPr id="10" name="Text 7"/>
          <p:cNvSpPr/>
          <p:nvPr/>
        </p:nvSpPr>
        <p:spPr>
          <a:xfrm>
            <a:off x="804672" y="5411775"/>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45% the investor earns 19.6% — below a deposit rate. Clearing a conventional 22% hurdle would take 49% of the project. A seven-year concession generating ₹5.04 Cr of lifetime free cash flow cannot pay an equity return on ₹1.00 Cr and still leave E-O-D a reason to operate it. If equity is wanted, raise it at company level.</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a small term loan against mobilisation, and a revolving working-capital limit against the operating cycle. No collateral, no charge on ADA's assets — which matters, because there are none to charge.</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₹0.80 Cr + working capital ₹0.20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+ 0.60%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2.07×</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1-year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₹1.62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EDFAF4"/>
          </a:solidFill>
          <a:ln w="15875">
            <a:solidFill>
              <a:srgbClr val="10B981"/>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fits — but the moratorium is doing the work</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three-year principal moratorium pushes the first repayment into year 4, when EBITDA is ₹1.06 Cr rather than ₹0.51 Cr. A bank offering this with a one-year moratorium is offering a facility that defaults in year 2.</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project ramps, then compulsory conversion into equity on a formula fixed the day it is issued.</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annually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 compulsory, not at the holder's option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stake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₹0.24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11.7%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61892"/>
            <a:ext cx="11057839" cy="1962556"/>
          </a:xfrm>
          <a:prstGeom prst="roundRect">
            <a:avLst>
              <a:gd name="adj" fmla="val 2330"/>
            </a:avLst>
          </a:prstGeom>
          <a:solidFill>
            <a:srgbClr val="FBEFEC"/>
          </a:solidFill>
          <a:ln w="15875">
            <a:solidFill>
              <a:srgbClr val="C8553D"/>
            </a:solidFill>
            <a:prstDash val="solid"/>
          </a:ln>
        </p:spPr>
      </p:sp>
      <p:sp>
        <p:nvSpPr>
          <p:cNvPr id="8" name="Text 5"/>
          <p:cNvSpPr/>
          <p:nvPr/>
        </p:nvSpPr>
        <p:spPr>
          <a:xfrm>
            <a:off x="804672" y="40716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2545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Worse than either pure option, at project level</a:t>
            </a:r>
            <a:endParaRPr lang="en-US" sz="1900" dirty="0"/>
          </a:p>
        </p:txBody>
      </p:sp>
      <p:sp>
        <p:nvSpPr>
          <p:cNvPr id="10" name="Text 7"/>
          <p:cNvSpPr/>
          <p:nvPr/>
        </p:nvSpPr>
        <p:spPr>
          <a:xfrm>
            <a:off x="804672" y="4597959"/>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CCD returns 11.7% — below the equity case, because the coupon years consume the cash the project needs while ramping. It combines the cash-flow burden of debt with the dilution of equity and the guarantee benefit of neither.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If a CCD is used anywhere: the conversion formula must be fixed on the date of issue, or it fails the FEMA pricing test and becomes external commercial borrowing. Until it converts it is borrowing on the balance sheet.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19.6%</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45%</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2.10×</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49%</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2.07×</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0.80 / 0.20</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₹0.51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11.7%</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3</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38%</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1.61×</a:t>
            </a:r>
            <a:endParaRPr lang="en-US" sz="950" dirty="0"/>
          </a:p>
        </p:txBody>
      </p:sp>
      <p:sp>
        <p:nvSpPr>
          <p:cNvPr id="56" name="Shape 54"/>
          <p:cNvSpPr/>
          <p:nvPr/>
        </p:nvSpPr>
        <p:spPr>
          <a:xfrm>
            <a:off x="566928" y="4224528"/>
            <a:ext cx="11057839" cy="1572768"/>
          </a:xfrm>
          <a:prstGeom prst="roundRect">
            <a:avLst>
              <a:gd name="adj" fmla="val 2907"/>
            </a:avLst>
          </a:prstGeom>
          <a:solidFill>
            <a:srgbClr val="EDFAF4"/>
          </a:solidFill>
          <a:ln w="15875">
            <a:solidFill>
              <a:srgbClr val="10B981"/>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Option B — a right-sized CGTMSE composite facility</a:t>
            </a:r>
            <a:endParaRPr lang="en-US" sz="1900" dirty="0"/>
          </a:p>
        </p:txBody>
      </p:sp>
      <p:sp>
        <p:nvSpPr>
          <p:cNvPr id="59" name="Text 57"/>
          <p:cNvSpPr/>
          <p:nvPr/>
        </p:nvSpPr>
        <p:spPr>
          <a:xfrm>
            <a:off x="804672" y="4860595"/>
            <a:ext cx="10582351" cy="86354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project earns 43.3% against 12.10% guaranteed debt. That +31.2 pp spread belongs to E-O-D, and debt is the only instrument that lets E-O-D keep it. Term loan ₹0.80 Cr over 7 years with a 1-year principal moratorium, plus a working-capital limit sanctioned at ₹0.20 Cr rather than the full year of opex — saving ₹0.00 L of guarantee fee and leaving more of the group's ₹10 Cr CGTMSE ceiling for Karnal.</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Auction overshoot</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Every ₹1 lakh a year above the modelled ₹36 L costs about ₹8.1 lakh over the term. Mitigation: a board-approved walk-away of ₹80.9 L a year.</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ADA tariff control</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ADA fixes the gate at ₹20 and approves every other rate. The show ticket carries roughly a third of revenue and E-O-D cannot price it. Mitigation: agree the tariff and escalation path in writing before the work order.</a:t>
            </a:r>
            <a:endParaRPr lang="en-US" sz="1050" dirty="0"/>
          </a:p>
        </p:txBody>
      </p:sp>
      <p:sp>
        <p:nvSpPr>
          <p:cNvPr id="11" name="Shape 9"/>
          <p:cNvSpPr/>
          <p:nvPr/>
        </p:nvSpPr>
        <p:spPr>
          <a:xfrm>
            <a:off x="566928" y="3474720"/>
            <a:ext cx="182880" cy="182880"/>
          </a:xfrm>
          <a:prstGeom prst="ellipse">
            <a:avLst/>
          </a:prstGeom>
          <a:solidFill>
            <a:srgbClr val="D97706"/>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Mitigation: joint condition survey and AMC history before bidding.</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Year-1 cash</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project loses ₹-0.17 Cr at EBITDA in year 1 while paying six months of licence fee in advance. Mitigation: this is what the working-capital limit is for.</a:t>
            </a:r>
            <a:endParaRPr lang="en-US" sz="1050" dirty="0"/>
          </a:p>
        </p:txBody>
      </p:sp>
      <p:sp>
        <p:nvSpPr>
          <p:cNvPr id="17" name="Shape 15"/>
          <p:cNvSpPr/>
          <p:nvPr/>
        </p:nvSpPr>
        <p:spPr>
          <a:xfrm>
            <a:off x="6278728" y="2322576"/>
            <a:ext cx="182880" cy="182880"/>
          </a:xfrm>
          <a:prstGeom prst="ellipse">
            <a:avLst/>
          </a:prstGeom>
          <a:solidFill>
            <a:srgbClr val="D97706"/>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No permanent structures</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3.3.2 bars permanent construction, so the activity layer must be demountable — higher unit cost, shorter asset life. The capex schedule assumes an eight-year life.</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is not set in the RFP</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Left to be agreed with ADA at least ten days before implementation. The largest revenue assumption in the model and the least documented. Raise it as a pre-bid query.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2026-08-24T16:41:32Z</dcterms:created>
  <dcterms:modified xsi:type="dcterms:W3CDTF">2026-08-24T16:41:32Z</dcterms:modified>
</cp:coreProperties>
</file>