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1.96</c:v>
                </c:pt>
                <c:pt idx="1">
                  <c:v>2.7</c:v>
                </c:pt>
                <c:pt idx="2">
                  <c:v>3.38</c:v>
                </c:pt>
                <c:pt idx="3">
                  <c:v>3.91</c:v>
                </c:pt>
                <c:pt idx="4">
                  <c:v>4.5</c:v>
                </c:pt>
                <c:pt idx="5">
                  <c:v>4.97</c:v>
                </c:pt>
                <c:pt idx="6">
                  <c:v>5.58</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-0.21</c:v>
                </c:pt>
                <c:pt idx="1">
                  <c:v>0.16</c:v>
                </c:pt>
                <c:pt idx="2">
                  <c:v>0.5</c:v>
                </c:pt>
                <c:pt idx="3">
                  <c:v>0.71</c:v>
                </c:pt>
                <c:pt idx="4">
                  <c:v>0.97</c:v>
                </c:pt>
                <c:pt idx="5">
                  <c:v>1.1</c:v>
                </c:pt>
                <c:pt idx="6">
                  <c:v>1.36</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Sheet1!$A$2:$A$9</c:f>
              <c:multiLvlStrCache>
                <c:ptCount val="8"/>
                <c:lvl>
                  <c:pt idx="0">
                    <c:v>Capital</c:v>
                  </c:pt>
                  <c:pt idx="1">
                    <c:v>Yr 1</c:v>
                  </c:pt>
                  <c:pt idx="2">
                    <c:v>Yr 2</c:v>
                  </c:pt>
                  <c:pt idx="3">
                    <c:v>Yr 3</c:v>
                  </c:pt>
                  <c:pt idx="4">
                    <c:v>Yr 4</c:v>
                  </c:pt>
                  <c:pt idx="5">
                    <c:v>Yr 5</c:v>
                  </c:pt>
                  <c:pt idx="6">
                    <c:v>Yr 6</c:v>
                  </c:pt>
                  <c:pt idx="7">
                    <c:v>Yr 7</c:v>
                  </c:pt>
                </c:lvl>
              </c:multiLvlStrCache>
            </c:multiLvlStrRef>
          </c:cat>
          <c:val>
            <c:numRef>
              <c:f>Sheet1!$B$2:$B$9</c:f>
              <c:numCache>
                <c:formatCode>General</c:formatCode>
                <c:ptCount val="8"/>
                <c:pt idx="0">
                  <c:v>-1.18</c:v>
                </c:pt>
                <c:pt idx="1">
                  <c:v>-0.25</c:v>
                </c:pt>
                <c:pt idx="2">
                  <c:v>0.1</c:v>
                </c:pt>
                <c:pt idx="3">
                  <c:v>0.35</c:v>
                </c:pt>
                <c:pt idx="4">
                  <c:v>0.49</c:v>
                </c:pt>
                <c:pt idx="5">
                  <c:v>0.67</c:v>
                </c:pt>
                <c:pt idx="6">
                  <c:v>0.76</c:v>
                </c:pt>
                <c:pt idx="7">
                  <c:v>1.04</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Upside</c:v>
                  </c:pt>
                </c:lvl>
              </c:multiLvlStrCache>
            </c:multiLvlStrRef>
          </c:cat>
          <c:val>
            <c:numRef>
              <c:f>Sheet1!$B$2:$B$4</c:f>
              <c:numCache>
                <c:formatCode>General</c:formatCode>
                <c:ptCount val="3"/>
                <c:pt idx="0">
                  <c:v>-28</c:v>
                </c:pt>
                <c:pt idx="1">
                  <c:v>18.7</c:v>
                </c:pt>
                <c:pt idx="2">
                  <c:v>45.9</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0.24</c:v>
                </c:pt>
                <c:pt idx="1">
                  <c:v>0.21</c:v>
                </c:pt>
                <c:pt idx="2">
                  <c:v>0.19</c:v>
                </c:pt>
                <c:pt idx="3">
                  <c:v>0.47</c:v>
                </c:pt>
                <c:pt idx="4">
                  <c:v>0.43</c:v>
                </c:pt>
                <c:pt idx="5">
                  <c:v>0.39</c:v>
                </c:pt>
                <c:pt idx="6">
                  <c:v>0.34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-0.21</c:v>
                </c:pt>
                <c:pt idx="1">
                  <c:v>0.16</c:v>
                </c:pt>
                <c:pt idx="2">
                  <c:v>0.5</c:v>
                </c:pt>
                <c:pt idx="3">
                  <c:v>0.71</c:v>
                </c:pt>
                <c:pt idx="4">
                  <c:v>0.97</c:v>
                </c:pt>
                <c:pt idx="5">
                  <c:v>1.1</c:v>
                </c:pt>
                <c:pt idx="6">
                  <c:v>1.36</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01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Geeta Govind</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28878"/>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A 19-acre cultural park in Taj Nagri Phase-II, five minutes from the park E-O-D already runs. Seven years of operating rights, no land to buy, no structures to build — and one year of operating expenditure to fund before it pays for itself.</a:t>
            </a:r>
            <a:endParaRPr lang="en-US" sz="1500" dirty="0"/>
          </a:p>
        </p:txBody>
      </p:sp>
      <p:sp>
        <p:nvSpPr>
          <p:cNvPr id="5" name="Text 3"/>
          <p:cNvSpPr/>
          <p:nvPr/>
        </p:nvSpPr>
        <p:spPr>
          <a:xfrm>
            <a:off x="566928" y="3781806"/>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Agra Development Authority · Licence-fee model · 7 + 4 years</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₹2.5 lakh per month · forward e-auction · 5% annual escalation</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FUNDING ASK</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₹3.35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Mobilisation plus one year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₹1.39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The rest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18.7%</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Payback 4.7 years</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7 EBITDA</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₹1.36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24.3% margin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ADA has built a ₹4.0–4.2 crore themed park and now wants an operator. Everything physical already exists — the musical fountains, the 40-minute Krishna Leela laser show, eight kiosks, the Tulsi forest. The winning bidder pays a monthly licence fee and keeps what it collects at the gate.</a:t>
            </a:r>
            <a:endParaRPr lang="en-US" sz="13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Agra Development Authority (ADA)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 years + 4 years extendable (performance + mutual consent)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 evaluation, then forward e-auction on the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₹2.5 L per month + GST · ₹30 L a year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Escalation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a year on the preceding year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Payment terms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First 6 months in advance within 7 days of the work order; then half-yearly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 months of the licence fee at the winning e-auction bid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Gate tariff</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 entry. Fountain and laser show at rates approved by ADA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Asset position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ADA owns all assets. No permanent structures permitted. Electricity paid direct to discom.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84064"/>
            <a:ext cx="11057839" cy="1207008"/>
          </a:xfrm>
          <a:prstGeom prst="roundRect">
            <a:avLst>
              <a:gd name="adj" fmla="val 3788"/>
            </a:avLst>
          </a:prstGeom>
          <a:solidFill>
            <a:srgbClr val="F1F5FE"/>
          </a:solidFill>
          <a:ln w="15875">
            <a:solidFill>
              <a:srgbClr val="2B66EA"/>
            </a:solidFill>
            <a:prstDash val="solid"/>
          </a:ln>
        </p:spPr>
      </p:sp>
      <p:sp>
        <p:nvSpPr>
          <p:cNvPr id="8" name="Text 5"/>
          <p:cNvSpPr/>
          <p:nvPr/>
        </p:nvSpPr>
        <p:spPr>
          <a:xfrm>
            <a:off x="804672" y="5230368"/>
            <a:ext cx="2743200" cy="201168"/>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9" name="Text 6"/>
          <p:cNvSpPr/>
          <p:nvPr/>
        </p:nvSpPr>
        <p:spPr>
          <a:xfrm>
            <a:off x="804672" y="5431536"/>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Why E-O-D wins this on the technical bid</a:t>
            </a:r>
            <a:endParaRPr lang="en-US" sz="1500" dirty="0"/>
          </a:p>
        </p:txBody>
      </p:sp>
      <p:sp>
        <p:nvSpPr>
          <p:cNvPr id="10" name="Text 7"/>
          <p:cNvSpPr/>
          <p:nvPr/>
        </p:nvSpPr>
        <p:spPr>
          <a:xfrm>
            <a:off x="804672" y="5736907"/>
            <a:ext cx="10582351" cy="481013"/>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ADA asks for ₹1 crore average turnover and two similar projects above ₹50 lakh. VAPPL turned over ₹16.29 Cr in FY25-26 and runs four parks — two of them on concessions granted by ADA itself. The competitive question is the auction, not the qualification.</a:t>
            </a:r>
            <a:endParaRPr lang="en-US" sz="8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The brief was one year of opex as loan or investment. That is the right facility size — but being precise about what the money does changes which instrument fits.</a:t>
            </a:r>
            <a:endParaRPr lang="en-US" sz="1350" dirty="0"/>
          </a:p>
        </p:txBody>
      </p:sp>
      <p:sp>
        <p:nvSpPr>
          <p:cNvPr id="6" name="Shape 4"/>
          <p:cNvSpPr/>
          <p:nvPr/>
        </p:nvSpPr>
        <p:spPr>
          <a:xfrm>
            <a:off x="566928" y="1627632"/>
            <a:ext cx="3539642" cy="1225296"/>
          </a:xfrm>
          <a:prstGeom prst="roundRect">
            <a:avLst>
              <a:gd name="adj" fmla="val 4478"/>
            </a:avLst>
          </a:prstGeom>
          <a:solidFill>
            <a:srgbClr val="F5F6F8"/>
          </a:solidFill>
          <a:ln w="12700">
            <a:solidFill>
              <a:srgbClr val="E2E4EA"/>
            </a:solidFill>
            <a:prstDash val="solid"/>
          </a:ln>
        </p:spPr>
      </p:sp>
      <p:sp>
        <p:nvSpPr>
          <p:cNvPr id="7" name="Text 5"/>
          <p:cNvSpPr/>
          <p:nvPr/>
        </p:nvSpPr>
        <p:spPr>
          <a:xfrm>
            <a:off x="749808" y="176479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FACILITY AS BRIEFED</a:t>
            </a:r>
            <a:endParaRPr lang="en-US" sz="900" dirty="0"/>
          </a:p>
        </p:txBody>
      </p:sp>
      <p:sp>
        <p:nvSpPr>
          <p:cNvPr id="8" name="Text 6"/>
          <p:cNvSpPr/>
          <p:nvPr/>
        </p:nvSpPr>
        <p:spPr>
          <a:xfrm>
            <a:off x="749808" y="1993392"/>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₹3.35 Cr</a:t>
            </a:r>
            <a:endParaRPr lang="en-US" sz="2600" dirty="0"/>
          </a:p>
        </p:txBody>
      </p:sp>
      <p:sp>
        <p:nvSpPr>
          <p:cNvPr id="9" name="Text 7"/>
          <p:cNvSpPr/>
          <p:nvPr/>
        </p:nvSpPr>
        <p:spPr>
          <a:xfrm>
            <a:off x="749808" y="246888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plus 12 months of operating cost</a:t>
            </a:r>
            <a:endParaRPr lang="en-US" sz="950" dirty="0"/>
          </a:p>
        </p:txBody>
      </p:sp>
      <p:sp>
        <p:nvSpPr>
          <p:cNvPr id="10" name="Shape 8"/>
          <p:cNvSpPr/>
          <p:nvPr/>
        </p:nvSpPr>
        <p:spPr>
          <a:xfrm>
            <a:off x="4326026" y="1627632"/>
            <a:ext cx="3539642" cy="1225296"/>
          </a:xfrm>
          <a:prstGeom prst="roundRect">
            <a:avLst>
              <a:gd name="adj" fmla="val 4478"/>
            </a:avLst>
          </a:prstGeom>
          <a:solidFill>
            <a:srgbClr val="FBF1EE"/>
          </a:solidFill>
          <a:ln w="12700">
            <a:solidFill>
              <a:srgbClr val="C8553D"/>
            </a:solidFill>
            <a:prstDash val="solid"/>
          </a:ln>
        </p:spPr>
      </p:sp>
      <p:sp>
        <p:nvSpPr>
          <p:cNvPr id="11" name="Text 9"/>
          <p:cNvSpPr/>
          <p:nvPr/>
        </p:nvSpPr>
        <p:spPr>
          <a:xfrm>
            <a:off x="4508906" y="176479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TRUE CAPITAL AT RISK</a:t>
            </a:r>
            <a:endParaRPr lang="en-US" sz="900" dirty="0"/>
          </a:p>
        </p:txBody>
      </p:sp>
      <p:sp>
        <p:nvSpPr>
          <p:cNvPr id="12" name="Text 10"/>
          <p:cNvSpPr/>
          <p:nvPr/>
        </p:nvSpPr>
        <p:spPr>
          <a:xfrm>
            <a:off x="4508906" y="1993392"/>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₹1.39 Cr</a:t>
            </a:r>
            <a:endParaRPr lang="en-US" sz="2600" dirty="0"/>
          </a:p>
        </p:txBody>
      </p:sp>
      <p:sp>
        <p:nvSpPr>
          <p:cNvPr id="13" name="Text 11"/>
          <p:cNvSpPr/>
          <p:nvPr/>
        </p:nvSpPr>
        <p:spPr>
          <a:xfrm>
            <a:off x="4508906" y="246888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plus the year-1 operating deficit</a:t>
            </a:r>
            <a:endParaRPr lang="en-US" sz="950" dirty="0"/>
          </a:p>
        </p:txBody>
      </p:sp>
      <p:sp>
        <p:nvSpPr>
          <p:cNvPr id="14" name="Shape 12"/>
          <p:cNvSpPr/>
          <p:nvPr/>
        </p:nvSpPr>
        <p:spPr>
          <a:xfrm>
            <a:off x="8085125" y="162763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76479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REVOLVING LIQUIDITY</a:t>
            </a:r>
            <a:endParaRPr lang="en-US" sz="900" dirty="0"/>
          </a:p>
        </p:txBody>
      </p:sp>
      <p:sp>
        <p:nvSpPr>
          <p:cNvPr id="16" name="Text 14"/>
          <p:cNvSpPr/>
          <p:nvPr/>
        </p:nvSpPr>
        <p:spPr>
          <a:xfrm>
            <a:off x="8268005" y="1993392"/>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₹1.96 Cr</a:t>
            </a:r>
            <a:endParaRPr lang="en-US" sz="2600" dirty="0"/>
          </a:p>
        </p:txBody>
      </p:sp>
      <p:sp>
        <p:nvSpPr>
          <p:cNvPr id="17" name="Text 15"/>
          <p:cNvSpPr/>
          <p:nvPr/>
        </p:nvSpPr>
        <p:spPr>
          <a:xfrm>
            <a:off x="8268005" y="246888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Drawn, spent, and recovered from collections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90672"/>
          <a:ext cx="11057839" cy="914400"/>
        </p:xfrm>
        <a:graphic>
          <a:graphicData uri="http://schemas.openxmlformats.org/drawingml/2006/table">
            <a:tbl>
              <a:tblPr/>
              <a:tblGrid>
                <a:gridCol w="9144000"/>
                <a:gridCol w="1913839"/>
              </a:tblGrid>
              <a:tr h="31089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Total 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activity equipment, kiosk fit-out, ticketing,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₹90.0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 — three months of licence fee, refundable at expiry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₹9.0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Advance licence fee — first six months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and tender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₹118.1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₹217.3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₹335.4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757990"/>
            <a:ext cx="11057839" cy="731520"/>
          </a:xfrm>
          <a:prstGeom prst="roundRect">
            <a:avLst>
              <a:gd name="adj" fmla="val 6250"/>
            </a:avLst>
          </a:prstGeom>
          <a:solidFill>
            <a:srgbClr val="FBEFEC"/>
          </a:solidFill>
          <a:ln w="15875">
            <a:solidFill>
              <a:srgbClr val="C8553D"/>
            </a:solidFill>
            <a:prstDash val="solid"/>
          </a:ln>
        </p:spPr>
      </p:sp>
      <p:sp>
        <p:nvSpPr>
          <p:cNvPr id="20" name="Text 17"/>
          <p:cNvSpPr/>
          <p:nvPr/>
        </p:nvSpPr>
        <p:spPr>
          <a:xfrm>
            <a:off x="804672" y="5904294"/>
            <a:ext cx="2743200" cy="201168"/>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6105461"/>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A liquidity requirement, not a capital requirement</a:t>
            </a:r>
            <a:endParaRPr lang="en-US" sz="1500" dirty="0"/>
          </a:p>
        </p:txBody>
      </p:sp>
      <p:sp>
        <p:nvSpPr>
          <p:cNvPr id="22" name="Text 19"/>
          <p:cNvSpPr/>
          <p:nvPr/>
        </p:nvSpPr>
        <p:spPr>
          <a:xfrm>
            <a:off x="804672" y="6410833"/>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Of the ₹3.35 Cr asked for, only ₹1.39 Cr is capital the project consumes and does not return. The rest is working capital — drawn to pay wages and the electricity bill, and recovered at the gate. Equity does not come back; a revolving limit does. That is why Option B is the recommendation.</a:t>
            </a:r>
            <a:endParaRPr lang="en-US" sz="8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Six streams, built bottom-up from footfall and capture rates. All figures net of GST.</a:t>
            </a:r>
            <a:endParaRPr lang="en-US" sz="1350" dirty="0"/>
          </a:p>
        </p:txBody>
      </p:sp>
      <p:graphicFrame>
        <p:nvGraphicFramePr>
          <p:cNvPr id="6" name="Chart 0" descr=""/>
          <p:cNvGraphicFramePr/>
          <p:nvPr/>
        </p:nvGraphicFramePr>
        <p:xfrm>
          <a:off x="566928" y="1627632"/>
          <a:ext cx="11057839" cy="27432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599432"/>
            <a:ext cx="2599868"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47365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YEAR 1 FOOTFALL</a:t>
            </a:r>
            <a:endParaRPr lang="en-US" sz="900" dirty="0"/>
          </a:p>
        </p:txBody>
      </p:sp>
      <p:sp>
        <p:nvSpPr>
          <p:cNvPr id="9" name="Text 6"/>
          <p:cNvSpPr/>
          <p:nvPr/>
        </p:nvSpPr>
        <p:spPr>
          <a:xfrm>
            <a:off x="749808" y="4965192"/>
            <a:ext cx="2234108"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3.10 L</a:t>
            </a:r>
            <a:endParaRPr lang="en-US" sz="2600" dirty="0"/>
          </a:p>
        </p:txBody>
      </p:sp>
      <p:sp>
        <p:nvSpPr>
          <p:cNvPr id="10" name="Text 7"/>
          <p:cNvSpPr/>
          <p:nvPr/>
        </p:nvSpPr>
        <p:spPr>
          <a:xfrm>
            <a:off x="749808" y="5440680"/>
            <a:ext cx="2234108"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850 visits a day</a:t>
            </a:r>
            <a:endParaRPr lang="en-US" sz="950" dirty="0"/>
          </a:p>
        </p:txBody>
      </p:sp>
      <p:sp>
        <p:nvSpPr>
          <p:cNvPr id="11" name="Shape 8"/>
          <p:cNvSpPr/>
          <p:nvPr/>
        </p:nvSpPr>
        <p:spPr>
          <a:xfrm>
            <a:off x="3386252" y="4599432"/>
            <a:ext cx="2599868"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3569132" y="47365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YEAR 7 FOOTFALL</a:t>
            </a:r>
            <a:endParaRPr lang="en-US" sz="900" dirty="0"/>
          </a:p>
        </p:txBody>
      </p:sp>
      <p:sp>
        <p:nvSpPr>
          <p:cNvPr id="13" name="Text 10"/>
          <p:cNvSpPr/>
          <p:nvPr/>
        </p:nvSpPr>
        <p:spPr>
          <a:xfrm>
            <a:off x="3569132" y="4965192"/>
            <a:ext cx="2234108"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5.75 L</a:t>
            </a:r>
            <a:endParaRPr lang="en-US" sz="2600" dirty="0"/>
          </a:p>
        </p:txBody>
      </p:sp>
      <p:sp>
        <p:nvSpPr>
          <p:cNvPr id="14" name="Text 11"/>
          <p:cNvSpPr/>
          <p:nvPr/>
        </p:nvSpPr>
        <p:spPr>
          <a:xfrm>
            <a:off x="3569132" y="5440680"/>
            <a:ext cx="2234108"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1,575 visits a day</a:t>
            </a:r>
            <a:endParaRPr lang="en-US" sz="950" dirty="0"/>
          </a:p>
        </p:txBody>
      </p:sp>
      <p:sp>
        <p:nvSpPr>
          <p:cNvPr id="15" name="Shape 12"/>
          <p:cNvSpPr/>
          <p:nvPr/>
        </p:nvSpPr>
        <p:spPr>
          <a:xfrm>
            <a:off x="6205576" y="4599432"/>
            <a:ext cx="2599868" cy="1170432"/>
          </a:xfrm>
          <a:prstGeom prst="roundRect">
            <a:avLst>
              <a:gd name="adj" fmla="val 4688"/>
            </a:avLst>
          </a:prstGeom>
          <a:solidFill>
            <a:srgbClr val="F5F6F8"/>
          </a:solidFill>
          <a:ln w="12700">
            <a:solidFill>
              <a:srgbClr val="E2E4EA"/>
            </a:solidFill>
            <a:prstDash val="solid"/>
          </a:ln>
        </p:spPr>
      </p:sp>
      <p:sp>
        <p:nvSpPr>
          <p:cNvPr id="16" name="Text 13"/>
          <p:cNvSpPr/>
          <p:nvPr/>
        </p:nvSpPr>
        <p:spPr>
          <a:xfrm>
            <a:off x="6388456" y="47365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SHOW CONVERSION</a:t>
            </a:r>
            <a:endParaRPr lang="en-US" sz="900" dirty="0"/>
          </a:p>
        </p:txBody>
      </p:sp>
      <p:sp>
        <p:nvSpPr>
          <p:cNvPr id="17" name="Text 14"/>
          <p:cNvSpPr/>
          <p:nvPr/>
        </p:nvSpPr>
        <p:spPr>
          <a:xfrm>
            <a:off x="6388456" y="4965192"/>
            <a:ext cx="2234108" cy="457200"/>
          </a:xfrm>
          <a:prstGeom prst="rect">
            <a:avLst/>
          </a:prstGeom>
          <a:noFill/>
          <a:ln/>
        </p:spPr>
        <p:txBody>
          <a:bodyPr wrap="square" lIns="0" tIns="0" rIns="0" bIns="0" rtlCol="0" anchor="t"/>
          <a:lstStyle/>
          <a:p>
            <a:pPr indent="0" marL="0">
              <a:buNone/>
            </a:pPr>
            <a:r>
              <a:rPr lang="en-US" sz="2000" b="1" dirty="0">
                <a:solidFill>
                  <a:srgbClr val="0A1426"/>
                </a:solidFill>
                <a:latin typeface="Calibri" pitchFamily="34" charset="0"/>
                <a:ea typeface="Calibri" pitchFamily="34" charset="-122"/>
                <a:cs typeface="Calibri" pitchFamily="34" charset="-120"/>
              </a:rPr>
              <a:t>24% → 31%</a:t>
            </a:r>
            <a:endParaRPr lang="en-US" sz="2000" dirty="0"/>
          </a:p>
        </p:txBody>
      </p:sp>
      <p:sp>
        <p:nvSpPr>
          <p:cNvPr id="18" name="Text 15"/>
          <p:cNvSpPr/>
          <p:nvPr/>
        </p:nvSpPr>
        <p:spPr>
          <a:xfrm>
            <a:off x="6388456" y="5440680"/>
            <a:ext cx="2234108"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Share buying the fountain and laser ticket</a:t>
            </a:r>
            <a:endParaRPr lang="en-US" sz="950" dirty="0"/>
          </a:p>
        </p:txBody>
      </p:sp>
      <p:sp>
        <p:nvSpPr>
          <p:cNvPr id="19" name="Shape 16"/>
          <p:cNvSpPr/>
          <p:nvPr/>
        </p:nvSpPr>
        <p:spPr>
          <a:xfrm>
            <a:off x="9024899" y="4599432"/>
            <a:ext cx="2599868" cy="1170432"/>
          </a:xfrm>
          <a:prstGeom prst="roundRect">
            <a:avLst>
              <a:gd name="adj" fmla="val 4688"/>
            </a:avLst>
          </a:prstGeom>
          <a:solidFill>
            <a:srgbClr val="F5F6F8"/>
          </a:solidFill>
          <a:ln w="12700">
            <a:solidFill>
              <a:srgbClr val="E2E4EA"/>
            </a:solidFill>
            <a:prstDash val="solid"/>
          </a:ln>
        </p:spPr>
      </p:sp>
      <p:sp>
        <p:nvSpPr>
          <p:cNvPr id="20" name="Text 17"/>
          <p:cNvSpPr/>
          <p:nvPr/>
        </p:nvSpPr>
        <p:spPr>
          <a:xfrm>
            <a:off x="9207779" y="47365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GATE TARIFF</a:t>
            </a:r>
            <a:endParaRPr lang="en-US" sz="900" dirty="0"/>
          </a:p>
        </p:txBody>
      </p:sp>
      <p:sp>
        <p:nvSpPr>
          <p:cNvPr id="21" name="Text 18"/>
          <p:cNvSpPr/>
          <p:nvPr/>
        </p:nvSpPr>
        <p:spPr>
          <a:xfrm>
            <a:off x="9207779" y="4965192"/>
            <a:ext cx="2234108"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₹20</a:t>
            </a:r>
            <a:endParaRPr lang="en-US" sz="2600" dirty="0"/>
          </a:p>
        </p:txBody>
      </p:sp>
      <p:sp>
        <p:nvSpPr>
          <p:cNvPr id="22" name="Text 19"/>
          <p:cNvSpPr/>
          <p:nvPr/>
        </p:nvSpPr>
        <p:spPr>
          <a:xfrm>
            <a:off x="9207779" y="5440680"/>
            <a:ext cx="2234108"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Fixed by ADA — no escalation modelled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Payroll and the licence fee are the two structural lines. Everything else scales with footfall, revenue or inflation.</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7839" cy="914400"/>
        </p:xfrm>
        <a:graphic>
          <a:graphicData uri="http://schemas.openxmlformats.org/drawingml/2006/table">
            <a:tbl>
              <a:tblPr/>
              <a:tblGrid>
                <a:gridCol w="3200400"/>
                <a:gridCol w="1122491"/>
                <a:gridCol w="1122491"/>
                <a:gridCol w="1122491"/>
                <a:gridCol w="1122491"/>
                <a:gridCol w="1122491"/>
                <a:gridCol w="1122491"/>
                <a:gridCol w="1122491"/>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0.92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 and spares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Water and 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F&amp;B cost of goods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Marketing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Corporate overhead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2.17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3.53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3.87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3.38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3.91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4.50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4.97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5.58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41289"/>
            <a:ext cx="11057839" cy="731520"/>
          </a:xfrm>
          <a:prstGeom prst="roundRect">
            <a:avLst>
              <a:gd name="adj" fmla="val 6250"/>
            </a:avLst>
          </a:prstGeom>
          <a:solidFill>
            <a:srgbClr val="FDF6EC"/>
          </a:solidFill>
          <a:ln w="15875">
            <a:solidFill>
              <a:srgbClr val="D97706"/>
            </a:solidFill>
            <a:prstDash val="solid"/>
          </a:ln>
        </p:spPr>
      </p:sp>
      <p:sp>
        <p:nvSpPr>
          <p:cNvPr id="8" name="Text 5"/>
          <p:cNvSpPr/>
          <p:nvPr/>
        </p:nvSpPr>
        <p:spPr>
          <a:xfrm>
            <a:off x="804672" y="5887593"/>
            <a:ext cx="2743200" cy="201168"/>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6088761"/>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What is not in this model</a:t>
            </a:r>
            <a:endParaRPr lang="en-US" sz="1500" dirty="0"/>
          </a:p>
        </p:txBody>
      </p:sp>
      <p:sp>
        <p:nvSpPr>
          <p:cNvPr id="10" name="Text 7"/>
          <p:cNvSpPr/>
          <p:nvPr/>
        </p:nvSpPr>
        <p:spPr>
          <a:xfrm>
            <a:off x="804672" y="6394132"/>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ADA requires CCTV integrated with the Agra Smart City centre, ex-servicemen at entry points, police verification, a dedicated technical supervisor and six-monthly safety audits — all costed above. What is not costed is replacing any laser or fountain asset that reaches end of life during the term. That burden sits with the agency, and the onus of proving irreparability sits there too. Get the commissioning dates and AMC history before bidding.</a:t>
            </a:r>
            <a:endParaRPr lang="en-US" sz="8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Year 1 loses money — a 15-day mobilisation window, a full-year licence fee from day one, and a park that has never opened to the public.</a:t>
            </a:r>
            <a:endParaRPr lang="en-US" sz="1350" dirty="0"/>
          </a:p>
        </p:txBody>
      </p:sp>
      <p:graphicFrame>
        <p:nvGraphicFramePr>
          <p:cNvPr id="6" name="Chart 0" descr=""/>
          <p:cNvGraphicFramePr/>
          <p:nvPr/>
        </p:nvGraphicFramePr>
        <p:xfrm>
          <a:off x="566928" y="1627632"/>
          <a:ext cx="11057839"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5093208"/>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EBITDA BREAKEVEN</a:t>
            </a:r>
            <a:endParaRPr lang="en-US" sz="900" dirty="0"/>
          </a:p>
        </p:txBody>
      </p:sp>
      <p:sp>
        <p:nvSpPr>
          <p:cNvPr id="9" name="Text 6"/>
          <p:cNvSpPr/>
          <p:nvPr/>
        </p:nvSpPr>
        <p:spPr>
          <a:xfrm>
            <a:off x="749808" y="5321808"/>
            <a:ext cx="3173882" cy="457200"/>
          </a:xfrm>
          <a:prstGeom prst="rect">
            <a:avLst/>
          </a:prstGeom>
          <a:noFill/>
          <a:ln/>
        </p:spPr>
        <p:txBody>
          <a:bodyPr wrap="square" lIns="0" tIns="0" rIns="0" bIns="0" rtlCol="0" anchor="t"/>
          <a:lstStyle/>
          <a:p>
            <a:pPr indent="0" marL="0">
              <a:buNone/>
            </a:pPr>
            <a:r>
              <a:rPr lang="en-US" sz="2000" b="1" dirty="0">
                <a:solidFill>
                  <a:srgbClr val="0A1426"/>
                </a:solidFill>
                <a:latin typeface="Calibri" pitchFamily="34" charset="0"/>
                <a:ea typeface="Calibri" pitchFamily="34" charset="-122"/>
                <a:cs typeface="Calibri" pitchFamily="34" charset="-120"/>
              </a:rPr>
              <a:t>Year 2</a:t>
            </a:r>
            <a:endParaRPr lang="en-US" sz="2000" dirty="0"/>
          </a:p>
        </p:txBody>
      </p:sp>
      <p:sp>
        <p:nvSpPr>
          <p:cNvPr id="10" name="Text 7"/>
          <p:cNvSpPr/>
          <p:nvPr/>
        </p:nvSpPr>
        <p:spPr>
          <a:xfrm>
            <a:off x="749808" y="5797296"/>
            <a:ext cx="3173882"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₹0.21 Cr of cumulative operating deficit</a:t>
            </a:r>
            <a:endParaRPr lang="en-US" sz="950" dirty="0"/>
          </a:p>
        </p:txBody>
      </p:sp>
      <p:sp>
        <p:nvSpPr>
          <p:cNvPr id="11" name="Shape 8"/>
          <p:cNvSpPr/>
          <p:nvPr/>
        </p:nvSpPr>
        <p:spPr>
          <a:xfrm>
            <a:off x="4326026" y="4956048"/>
            <a:ext cx="3539642"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4508906" y="5093208"/>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MARGIN AT MATURITY</a:t>
            </a:r>
            <a:endParaRPr lang="en-US" sz="900" dirty="0"/>
          </a:p>
        </p:txBody>
      </p:sp>
      <p:sp>
        <p:nvSpPr>
          <p:cNvPr id="13" name="Text 10"/>
          <p:cNvSpPr/>
          <p:nvPr/>
        </p:nvSpPr>
        <p:spPr>
          <a:xfrm>
            <a:off x="4508906" y="5321808"/>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24.3%</a:t>
            </a:r>
            <a:endParaRPr lang="en-US" sz="2600" dirty="0"/>
          </a:p>
        </p:txBody>
      </p:sp>
      <p:sp>
        <p:nvSpPr>
          <p:cNvPr id="14" name="Text 11"/>
          <p:cNvSpPr/>
          <p:nvPr/>
        </p:nvSpPr>
        <p:spPr>
          <a:xfrm>
            <a:off x="4508906" y="5797296"/>
            <a:ext cx="3173882"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8268005" y="5093208"/>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CUMULATIVE EBITDA</a:t>
            </a:r>
            <a:endParaRPr lang="en-US" sz="900" dirty="0"/>
          </a:p>
        </p:txBody>
      </p:sp>
      <p:sp>
        <p:nvSpPr>
          <p:cNvPr id="17" name="Text 14"/>
          <p:cNvSpPr/>
          <p:nvPr/>
        </p:nvSpPr>
        <p:spPr>
          <a:xfrm>
            <a:off x="8268005" y="5321808"/>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₹4.58 Cr</a:t>
            </a:r>
            <a:endParaRPr lang="en-US" sz="2600" dirty="0"/>
          </a:p>
        </p:txBody>
      </p:sp>
      <p:sp>
        <p:nvSpPr>
          <p:cNvPr id="18" name="Text 15"/>
          <p:cNvSpPr/>
          <p:nvPr/>
        </p:nvSpPr>
        <p:spPr>
          <a:xfrm>
            <a:off x="8268005" y="5797296"/>
            <a:ext cx="3173882"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350" dirty="0"/>
          </a:p>
        </p:txBody>
      </p:sp>
      <p:graphicFrame>
        <p:nvGraphicFramePr>
          <p:cNvPr id="6" name="Chart 0" descr=""/>
          <p:cNvGraphicFramePr/>
          <p:nvPr/>
        </p:nvGraphicFramePr>
        <p:xfrm>
          <a:off x="566928" y="1627632"/>
          <a:ext cx="11057839" cy="2514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70832"/>
            <a:ext cx="2599868" cy="1280160"/>
          </a:xfrm>
          <a:prstGeom prst="roundRect">
            <a:avLst>
              <a:gd name="adj" fmla="val 4286"/>
            </a:avLst>
          </a:prstGeom>
          <a:solidFill>
            <a:srgbClr val="F5F6F8"/>
          </a:solidFill>
          <a:ln w="12700">
            <a:solidFill>
              <a:srgbClr val="E2E4EA"/>
            </a:solidFill>
            <a:prstDash val="solid"/>
          </a:ln>
        </p:spPr>
      </p:sp>
      <p:sp>
        <p:nvSpPr>
          <p:cNvPr id="8" name="Text 5"/>
          <p:cNvSpPr/>
          <p:nvPr/>
        </p:nvSpPr>
        <p:spPr>
          <a:xfrm>
            <a:off x="749808" y="45079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PROJECT IRR</a:t>
            </a:r>
            <a:endParaRPr lang="en-US" sz="900" dirty="0"/>
          </a:p>
        </p:txBody>
      </p:sp>
      <p:sp>
        <p:nvSpPr>
          <p:cNvPr id="9" name="Text 6"/>
          <p:cNvSpPr/>
          <p:nvPr/>
        </p:nvSpPr>
        <p:spPr>
          <a:xfrm>
            <a:off x="749808" y="4736592"/>
            <a:ext cx="2234108" cy="457200"/>
          </a:xfrm>
          <a:prstGeom prst="rect">
            <a:avLst/>
          </a:prstGeom>
          <a:noFill/>
          <a:ln/>
        </p:spPr>
        <p:txBody>
          <a:bodyPr wrap="square" lIns="0" tIns="0" rIns="0" bIns="0" rtlCol="0" anchor="t"/>
          <a:lstStyle/>
          <a:p>
            <a:pPr indent="0" marL="0">
              <a:buNone/>
            </a:pPr>
            <a:r>
              <a:rPr lang="en-US" sz="2600" b="1" dirty="0">
                <a:solidFill>
                  <a:srgbClr val="10B981"/>
                </a:solidFill>
                <a:latin typeface="Calibri" pitchFamily="34" charset="0"/>
                <a:ea typeface="Calibri" pitchFamily="34" charset="-122"/>
                <a:cs typeface="Calibri" pitchFamily="34" charset="-120"/>
              </a:rPr>
              <a:t>18.7%</a:t>
            </a:r>
            <a:endParaRPr lang="en-US" sz="2600" dirty="0"/>
          </a:p>
        </p:txBody>
      </p:sp>
      <p:sp>
        <p:nvSpPr>
          <p:cNvPr id="10" name="Text 7"/>
          <p:cNvSpPr/>
          <p:nvPr/>
        </p:nvSpPr>
        <p:spPr>
          <a:xfrm>
            <a:off x="749808" y="5212080"/>
            <a:ext cx="2234108" cy="36576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4370832"/>
            <a:ext cx="2599868" cy="1280160"/>
          </a:xfrm>
          <a:prstGeom prst="roundRect">
            <a:avLst>
              <a:gd name="adj" fmla="val 4286"/>
            </a:avLst>
          </a:prstGeom>
          <a:solidFill>
            <a:srgbClr val="F5F6F8"/>
          </a:solidFill>
          <a:ln w="12700">
            <a:solidFill>
              <a:srgbClr val="E2E4EA"/>
            </a:solidFill>
            <a:prstDash val="solid"/>
          </a:ln>
        </p:spPr>
      </p:sp>
      <p:sp>
        <p:nvSpPr>
          <p:cNvPr id="12" name="Text 9"/>
          <p:cNvSpPr/>
          <p:nvPr/>
        </p:nvSpPr>
        <p:spPr>
          <a:xfrm>
            <a:off x="3569132" y="45079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PAYBACK</a:t>
            </a:r>
            <a:endParaRPr lang="en-US" sz="900" dirty="0"/>
          </a:p>
        </p:txBody>
      </p:sp>
      <p:sp>
        <p:nvSpPr>
          <p:cNvPr id="13" name="Text 10"/>
          <p:cNvSpPr/>
          <p:nvPr/>
        </p:nvSpPr>
        <p:spPr>
          <a:xfrm>
            <a:off x="3569132" y="4736592"/>
            <a:ext cx="2234108"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4.7 yrs</a:t>
            </a:r>
            <a:endParaRPr lang="en-US" sz="2600" dirty="0"/>
          </a:p>
        </p:txBody>
      </p:sp>
      <p:sp>
        <p:nvSpPr>
          <p:cNvPr id="14" name="Text 11"/>
          <p:cNvSpPr/>
          <p:nvPr/>
        </p:nvSpPr>
        <p:spPr>
          <a:xfrm>
            <a:off x="3569132" y="5212080"/>
            <a:ext cx="2234108" cy="36576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4370832"/>
            <a:ext cx="2599868" cy="1280160"/>
          </a:xfrm>
          <a:prstGeom prst="roundRect">
            <a:avLst>
              <a:gd name="adj" fmla="val 4286"/>
            </a:avLst>
          </a:prstGeom>
          <a:solidFill>
            <a:srgbClr val="F5F6F8"/>
          </a:solidFill>
          <a:ln w="12700">
            <a:solidFill>
              <a:srgbClr val="E2E4EA"/>
            </a:solidFill>
            <a:prstDash val="solid"/>
          </a:ln>
        </p:spPr>
      </p:sp>
      <p:sp>
        <p:nvSpPr>
          <p:cNvPr id="16" name="Text 13"/>
          <p:cNvSpPr/>
          <p:nvPr/>
        </p:nvSpPr>
        <p:spPr>
          <a:xfrm>
            <a:off x="6388456" y="45079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ALL-IN COST OF CGTMSE DEBT</a:t>
            </a:r>
            <a:endParaRPr lang="en-US" sz="900" dirty="0"/>
          </a:p>
        </p:txBody>
      </p:sp>
      <p:sp>
        <p:nvSpPr>
          <p:cNvPr id="17" name="Text 14"/>
          <p:cNvSpPr/>
          <p:nvPr/>
        </p:nvSpPr>
        <p:spPr>
          <a:xfrm>
            <a:off x="6388456" y="4736592"/>
            <a:ext cx="2234108"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5212080"/>
            <a:ext cx="2234108" cy="36576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4370832"/>
            <a:ext cx="2599868" cy="1280160"/>
          </a:xfrm>
          <a:prstGeom prst="roundRect">
            <a:avLst>
              <a:gd name="adj" fmla="val 4286"/>
            </a:avLst>
          </a:prstGeom>
          <a:solidFill>
            <a:srgbClr val="F5F6F8"/>
          </a:solidFill>
          <a:ln w="12700">
            <a:solidFill>
              <a:srgbClr val="E2E4EA"/>
            </a:solidFill>
            <a:prstDash val="solid"/>
          </a:ln>
        </p:spPr>
      </p:sp>
      <p:sp>
        <p:nvSpPr>
          <p:cNvPr id="20" name="Text 17"/>
          <p:cNvSpPr/>
          <p:nvPr/>
        </p:nvSpPr>
        <p:spPr>
          <a:xfrm>
            <a:off x="9207779" y="4507992"/>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SPREAD OVER DEBT</a:t>
            </a:r>
            <a:endParaRPr lang="en-US" sz="900" dirty="0"/>
          </a:p>
        </p:txBody>
      </p:sp>
      <p:sp>
        <p:nvSpPr>
          <p:cNvPr id="21" name="Text 18"/>
          <p:cNvSpPr/>
          <p:nvPr/>
        </p:nvSpPr>
        <p:spPr>
          <a:xfrm>
            <a:off x="9207779" y="4736592"/>
            <a:ext cx="2234108" cy="457200"/>
          </a:xfrm>
          <a:prstGeom prst="rect">
            <a:avLst/>
          </a:prstGeom>
          <a:noFill/>
          <a:ln/>
        </p:spPr>
        <p:txBody>
          <a:bodyPr wrap="square" lIns="0" tIns="0" rIns="0" bIns="0" rtlCol="0" anchor="t"/>
          <a:lstStyle/>
          <a:p>
            <a:pPr indent="0" marL="0">
              <a:buNone/>
            </a:pPr>
            <a:r>
              <a:rPr lang="en-US" sz="2600" b="1" dirty="0">
                <a:solidFill>
                  <a:srgbClr val="10B981"/>
                </a:solidFill>
                <a:latin typeface="Calibri" pitchFamily="34" charset="0"/>
                <a:ea typeface="Calibri" pitchFamily="34" charset="-122"/>
                <a:cs typeface="Calibri" pitchFamily="34" charset="-120"/>
              </a:rPr>
              <a:t>+6.2 pp</a:t>
            </a:r>
            <a:endParaRPr lang="en-US" sz="2600" dirty="0"/>
          </a:p>
        </p:txBody>
      </p:sp>
      <p:sp>
        <p:nvSpPr>
          <p:cNvPr id="22" name="Text 19"/>
          <p:cNvSpPr/>
          <p:nvPr/>
        </p:nvSpPr>
        <p:spPr>
          <a:xfrm>
            <a:off x="9207779" y="5212080"/>
            <a:ext cx="2234108" cy="36576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Percentage points of project IRR above the cost of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Three drivers move this project: footfall, show conversion, and the licence fee you bid. The downside moves all three against you at once.</a:t>
            </a:r>
            <a:endParaRPr lang="en-US" sz="1350" dirty="0"/>
          </a:p>
        </p:txBody>
      </p:sp>
      <p:graphicFrame>
        <p:nvGraphicFramePr>
          <p:cNvPr id="6" name="Chart 0" descr=""/>
          <p:cNvGraphicFramePr/>
          <p:nvPr/>
        </p:nvGraphicFramePr>
        <p:xfrm>
          <a:off x="566928" y="1627632"/>
          <a:ext cx="11057839"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414223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Upside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₹-0.64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₹-0.21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₹5.49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32.0%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4.7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2.9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5532120"/>
            <a:ext cx="11057839" cy="758952"/>
          </a:xfrm>
          <a:prstGeom prst="roundRect">
            <a:avLst>
              <a:gd name="adj" fmla="val 6024"/>
            </a:avLst>
          </a:prstGeom>
          <a:solidFill>
            <a:srgbClr val="FBEFEC"/>
          </a:solidFill>
          <a:ln w="15875">
            <a:solidFill>
              <a:srgbClr val="C8553D"/>
            </a:solidFill>
            <a:prstDash val="solid"/>
          </a:ln>
        </p:spPr>
      </p:sp>
      <p:sp>
        <p:nvSpPr>
          <p:cNvPr id="9" name="Text 5"/>
          <p:cNvSpPr/>
          <p:nvPr/>
        </p:nvSpPr>
        <p:spPr>
          <a:xfrm>
            <a:off x="804672" y="5678424"/>
            <a:ext cx="2743200" cy="201168"/>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5879592"/>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The downside is a bad bid, not a bad year</a:t>
            </a:r>
            <a:endParaRPr lang="en-US" sz="1500" dirty="0"/>
          </a:p>
        </p:txBody>
      </p:sp>
      <p:sp>
        <p:nvSpPr>
          <p:cNvPr id="11" name="Text 7"/>
          <p:cNvSpPr/>
          <p:nvPr/>
        </p:nvSpPr>
        <p:spPr>
          <a:xfrm>
            <a:off x="804672" y="6184964"/>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The model solves the break-even licence fee at ₹45.1 L a year — ₹3.76 L a month, about 50% above ADA's reserve. Hold that line in the auction room.</a:t>
            </a:r>
            <a:endParaRPr lang="en-US" sz="85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A third party funds the project for a share of it. No repayment obligation, no covenant — and on these numbers the most expensive money on the table.</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₹1.39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5, valued as the discounted remaining concession cash flow</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Investor proceeds — dividends plus 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₹1.72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869053"/>
            <a:ext cx="11057839" cy="1422019"/>
          </a:xfrm>
          <a:prstGeom prst="roundRect">
            <a:avLst>
              <a:gd name="adj" fmla="val 3215"/>
            </a:avLst>
          </a:prstGeom>
          <a:solidFill>
            <a:srgbClr val="FBEFEC"/>
          </a:solidFill>
          <a:ln w="15875">
            <a:solidFill>
              <a:srgbClr val="C8553D"/>
            </a:solidFill>
            <a:prstDash val="solid"/>
          </a:ln>
        </p:spPr>
      </p:sp>
      <p:sp>
        <p:nvSpPr>
          <p:cNvPr id="8" name="Text 5"/>
          <p:cNvSpPr/>
          <p:nvPr/>
        </p:nvSpPr>
        <p:spPr>
          <a:xfrm>
            <a:off x="804672" y="5015357"/>
            <a:ext cx="2743200" cy="201168"/>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216525"/>
            <a:ext cx="10582351" cy="278663"/>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Project-level equity is the wrong instrument here</a:t>
            </a:r>
            <a:endParaRPr lang="en-US" sz="1800" dirty="0"/>
          </a:p>
        </p:txBody>
      </p:sp>
      <p:sp>
        <p:nvSpPr>
          <p:cNvPr id="10" name="Text 7"/>
          <p:cNvSpPr/>
          <p:nvPr/>
        </p:nvSpPr>
        <p:spPr>
          <a:xfrm>
            <a:off x="804672" y="5568340"/>
            <a:ext cx="10582351" cy="649580"/>
          </a:xfrm>
          <a:prstGeom prst="rect">
            <a:avLst/>
          </a:prstGeom>
          <a:noFill/>
          <a:ln/>
        </p:spPr>
        <p:txBody>
          <a:bodyPr wrap="square" lIns="0" tIns="0" rIns="0" bIns="0" rtlCol="0" anchor="t"/>
          <a:lstStyle/>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At 60% the investor earns 4.7% — below a deposit rate. Clearing a conventional 22% hurdle would take 100% of the project. A seven-year concession generating ₹3.16 Cr of lifetime free cash flow cannot pay an equity return on ₹1.39 Cr and still leave E-O-D a reason to operate it. If equity is wanted, raise it at company level.</a:t>
            </a:r>
            <a:endParaRPr lang="en-US" sz="10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A CGTMSE-guaranteed composite facility: a small term loan against mobilisation, and a revolving working-capital limit against the operating cycle. No collateral, no charge on ADA's assets — which matters, because there are none to charge.</a:t>
            </a:r>
            <a:endParaRPr lang="en-US" sz="1350" dirty="0"/>
          </a:p>
        </p:txBody>
      </p:sp>
      <p:graphicFrame>
        <p:nvGraphicFramePr>
          <p:cNvPr id="6" name="Chart 0" descr=""/>
          <p:cNvGraphicFramePr/>
          <p:nvPr/>
        </p:nvGraphicFramePr>
        <p:xfrm>
          <a:off x="566928" y="1627632"/>
          <a:ext cx="11057839" cy="2377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206240"/>
            <a:ext cx="2599868" cy="1298448"/>
          </a:xfrm>
          <a:prstGeom prst="roundRect">
            <a:avLst>
              <a:gd name="adj" fmla="val 4225"/>
            </a:avLst>
          </a:prstGeom>
          <a:solidFill>
            <a:srgbClr val="F5F6F8"/>
          </a:solidFill>
          <a:ln w="12700">
            <a:solidFill>
              <a:srgbClr val="E2E4EA"/>
            </a:solidFill>
            <a:prstDash val="solid"/>
          </a:ln>
        </p:spPr>
      </p:sp>
      <p:sp>
        <p:nvSpPr>
          <p:cNvPr id="8" name="Text 5"/>
          <p:cNvSpPr/>
          <p:nvPr/>
        </p:nvSpPr>
        <p:spPr>
          <a:xfrm>
            <a:off x="749808" y="4343400"/>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TOTAL FACILITY</a:t>
            </a:r>
            <a:endParaRPr lang="en-US" sz="900" dirty="0"/>
          </a:p>
        </p:txBody>
      </p:sp>
      <p:sp>
        <p:nvSpPr>
          <p:cNvPr id="9" name="Text 6"/>
          <p:cNvSpPr/>
          <p:nvPr/>
        </p:nvSpPr>
        <p:spPr>
          <a:xfrm>
            <a:off x="749808" y="4572000"/>
            <a:ext cx="2234108"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₹3.37 Cr</a:t>
            </a:r>
            <a:endParaRPr lang="en-US" sz="2600" dirty="0"/>
          </a:p>
        </p:txBody>
      </p:sp>
      <p:sp>
        <p:nvSpPr>
          <p:cNvPr id="10" name="Text 7"/>
          <p:cNvSpPr/>
          <p:nvPr/>
        </p:nvSpPr>
        <p:spPr>
          <a:xfrm>
            <a:off x="749808" y="5047488"/>
            <a:ext cx="2234108"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₹1.20 Cr + working capital ₹2.17 Cr</a:t>
            </a:r>
            <a:endParaRPr lang="en-US" sz="950" dirty="0"/>
          </a:p>
        </p:txBody>
      </p:sp>
      <p:sp>
        <p:nvSpPr>
          <p:cNvPr id="11" name="Shape 8"/>
          <p:cNvSpPr/>
          <p:nvPr/>
        </p:nvSpPr>
        <p:spPr>
          <a:xfrm>
            <a:off x="3386252" y="4206240"/>
            <a:ext cx="2599868" cy="1298448"/>
          </a:xfrm>
          <a:prstGeom prst="roundRect">
            <a:avLst>
              <a:gd name="adj" fmla="val 4225"/>
            </a:avLst>
          </a:prstGeom>
          <a:solidFill>
            <a:srgbClr val="F5F6F8"/>
          </a:solidFill>
          <a:ln w="12700">
            <a:solidFill>
              <a:srgbClr val="E2E4EA"/>
            </a:solidFill>
            <a:prstDash val="solid"/>
          </a:ln>
        </p:spPr>
      </p:sp>
      <p:sp>
        <p:nvSpPr>
          <p:cNvPr id="12" name="Text 9"/>
          <p:cNvSpPr/>
          <p:nvPr/>
        </p:nvSpPr>
        <p:spPr>
          <a:xfrm>
            <a:off x="3569132" y="4343400"/>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ALL-IN RATE</a:t>
            </a:r>
            <a:endParaRPr lang="en-US" sz="900" dirty="0"/>
          </a:p>
        </p:txBody>
      </p:sp>
      <p:sp>
        <p:nvSpPr>
          <p:cNvPr id="13" name="Text 10"/>
          <p:cNvSpPr/>
          <p:nvPr/>
        </p:nvSpPr>
        <p:spPr>
          <a:xfrm>
            <a:off x="3569132" y="4572000"/>
            <a:ext cx="2234108" cy="457200"/>
          </a:xfrm>
          <a:prstGeom prst="rect">
            <a:avLst/>
          </a:prstGeom>
          <a:noFill/>
          <a:ln/>
        </p:spPr>
        <p:txBody>
          <a:bodyPr wrap="square" lIns="0" tIns="0" rIns="0" bIns="0" rtlCol="0" anchor="t"/>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5047488"/>
            <a:ext cx="2234108"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4206240"/>
            <a:ext cx="2599868" cy="1298448"/>
          </a:xfrm>
          <a:prstGeom prst="roundRect">
            <a:avLst>
              <a:gd name="adj" fmla="val 4225"/>
            </a:avLst>
          </a:prstGeom>
          <a:solidFill>
            <a:srgbClr val="F5F6F8"/>
          </a:solidFill>
          <a:ln w="12700">
            <a:solidFill>
              <a:srgbClr val="E2E4EA"/>
            </a:solidFill>
            <a:prstDash val="solid"/>
          </a:ln>
        </p:spPr>
      </p:sp>
      <p:sp>
        <p:nvSpPr>
          <p:cNvPr id="16" name="Text 13"/>
          <p:cNvSpPr/>
          <p:nvPr/>
        </p:nvSpPr>
        <p:spPr>
          <a:xfrm>
            <a:off x="6388456" y="4343400"/>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MINIMUM DSCR</a:t>
            </a:r>
            <a:endParaRPr lang="en-US" sz="900" dirty="0"/>
          </a:p>
        </p:txBody>
      </p:sp>
      <p:sp>
        <p:nvSpPr>
          <p:cNvPr id="17" name="Text 14"/>
          <p:cNvSpPr/>
          <p:nvPr/>
        </p:nvSpPr>
        <p:spPr>
          <a:xfrm>
            <a:off x="6388456" y="4572000"/>
            <a:ext cx="2234108" cy="457200"/>
          </a:xfrm>
          <a:prstGeom prst="rect">
            <a:avLst/>
          </a:prstGeom>
          <a:noFill/>
          <a:ln/>
        </p:spPr>
        <p:txBody>
          <a:bodyPr wrap="square" lIns="0" tIns="0" rIns="0" bIns="0" rtlCol="0" anchor="t"/>
          <a:lstStyle/>
          <a:p>
            <a:pPr indent="0" marL="0">
              <a:buNone/>
            </a:pPr>
            <a:r>
              <a:rPr lang="en-US" sz="2600" b="1" dirty="0">
                <a:solidFill>
                  <a:srgbClr val="10B981"/>
                </a:solidFill>
                <a:latin typeface="Calibri" pitchFamily="34" charset="0"/>
                <a:ea typeface="Calibri" pitchFamily="34" charset="-122"/>
                <a:cs typeface="Calibri" pitchFamily="34" charset="-120"/>
              </a:rPr>
              <a:t>1.49×</a:t>
            </a:r>
            <a:endParaRPr lang="en-US" sz="2600" dirty="0"/>
          </a:p>
        </p:txBody>
      </p:sp>
      <p:sp>
        <p:nvSpPr>
          <p:cNvPr id="18" name="Text 15"/>
          <p:cNvSpPr/>
          <p:nvPr/>
        </p:nvSpPr>
        <p:spPr>
          <a:xfrm>
            <a:off x="6388456" y="5047488"/>
            <a:ext cx="2234108"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3-year moratorium. Banks underwrite to 1.30×</a:t>
            </a:r>
            <a:endParaRPr lang="en-US" sz="950" dirty="0"/>
          </a:p>
        </p:txBody>
      </p:sp>
      <p:sp>
        <p:nvSpPr>
          <p:cNvPr id="19" name="Shape 16"/>
          <p:cNvSpPr/>
          <p:nvPr/>
        </p:nvSpPr>
        <p:spPr>
          <a:xfrm>
            <a:off x="9024899" y="4206240"/>
            <a:ext cx="2599868" cy="1298448"/>
          </a:xfrm>
          <a:prstGeom prst="roundRect">
            <a:avLst>
              <a:gd name="adj" fmla="val 4225"/>
            </a:avLst>
          </a:prstGeom>
          <a:solidFill>
            <a:srgbClr val="F5F6F8"/>
          </a:solidFill>
          <a:ln w="12700">
            <a:solidFill>
              <a:srgbClr val="E2E4EA"/>
            </a:solidFill>
            <a:prstDash val="solid"/>
          </a:ln>
        </p:spPr>
      </p:sp>
      <p:sp>
        <p:nvSpPr>
          <p:cNvPr id="20" name="Text 17"/>
          <p:cNvSpPr/>
          <p:nvPr/>
        </p:nvSpPr>
        <p:spPr>
          <a:xfrm>
            <a:off x="9207779" y="4343400"/>
            <a:ext cx="2234108"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DEBT CAPACITY</a:t>
            </a:r>
            <a:endParaRPr lang="en-US" sz="900" dirty="0"/>
          </a:p>
        </p:txBody>
      </p:sp>
      <p:sp>
        <p:nvSpPr>
          <p:cNvPr id="21" name="Text 18"/>
          <p:cNvSpPr/>
          <p:nvPr/>
        </p:nvSpPr>
        <p:spPr>
          <a:xfrm>
            <a:off x="9207779" y="4572000"/>
            <a:ext cx="2234108"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₹3.46 Cr</a:t>
            </a:r>
            <a:endParaRPr lang="en-US" sz="2600" dirty="0"/>
          </a:p>
        </p:txBody>
      </p:sp>
      <p:sp>
        <p:nvSpPr>
          <p:cNvPr id="22" name="Text 19"/>
          <p:cNvSpPr/>
          <p:nvPr/>
        </p:nvSpPr>
        <p:spPr>
          <a:xfrm>
            <a:off x="9207779" y="5047488"/>
            <a:ext cx="2234108"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760720"/>
            <a:ext cx="11057839" cy="731520"/>
          </a:xfrm>
          <a:prstGeom prst="roundRect">
            <a:avLst>
              <a:gd name="adj" fmla="val 6250"/>
            </a:avLst>
          </a:prstGeom>
          <a:solidFill>
            <a:srgbClr val="EDFAF4"/>
          </a:solidFill>
          <a:ln w="15875">
            <a:solidFill>
              <a:srgbClr val="10B981"/>
            </a:solidFill>
            <a:prstDash val="solid"/>
          </a:ln>
        </p:spPr>
      </p:sp>
      <p:sp>
        <p:nvSpPr>
          <p:cNvPr id="24" name="Text 21"/>
          <p:cNvSpPr/>
          <p:nvPr/>
        </p:nvSpPr>
        <p:spPr>
          <a:xfrm>
            <a:off x="804672" y="5907024"/>
            <a:ext cx="2743200" cy="201168"/>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6108192"/>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The facility fits — but the moratorium is doing the work</a:t>
            </a:r>
            <a:endParaRPr lang="en-US" sz="1500" dirty="0"/>
          </a:p>
        </p:txBody>
      </p:sp>
      <p:sp>
        <p:nvSpPr>
          <p:cNvPr id="26" name="Text 23"/>
          <p:cNvSpPr/>
          <p:nvPr/>
        </p:nvSpPr>
        <p:spPr>
          <a:xfrm>
            <a:off x="804672" y="6413563"/>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The three-year principal moratorium pushes the first repayment into year 4, when EBITDA is ₹0.71 Cr rather than ₹0.16 Cr. A bank offering this with a one-year moratorium is offering a facility that defaults in year 2.</a:t>
            </a:r>
            <a:endParaRPr lang="en-US" sz="85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Money in as debt, a coupon while the project ramps, then compulsory conversion into equity on a formula fixed the day it is issued.</a:t>
            </a:r>
            <a:endParaRPr lang="en-US" sz="13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₹1.39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annually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 — compulsory, not at the holder's option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 stake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352544"/>
            <a:ext cx="11057839" cy="1411298"/>
          </a:xfrm>
          <a:prstGeom prst="roundRect">
            <a:avLst>
              <a:gd name="adj" fmla="val 3240"/>
            </a:avLst>
          </a:prstGeom>
          <a:solidFill>
            <a:srgbClr val="FBEFEC"/>
          </a:solidFill>
          <a:ln w="15875">
            <a:solidFill>
              <a:srgbClr val="C8553D"/>
            </a:solidFill>
            <a:prstDash val="solid"/>
          </a:ln>
        </p:spPr>
      </p:sp>
      <p:sp>
        <p:nvSpPr>
          <p:cNvPr id="8" name="Text 5"/>
          <p:cNvSpPr/>
          <p:nvPr/>
        </p:nvSpPr>
        <p:spPr>
          <a:xfrm>
            <a:off x="804672" y="4498848"/>
            <a:ext cx="2743200" cy="201168"/>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00016"/>
            <a:ext cx="10582351" cy="29414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Worse than either pure option, at project level</a:t>
            </a:r>
            <a:endParaRPr lang="en-US" sz="1900" dirty="0"/>
          </a:p>
        </p:txBody>
      </p:sp>
      <p:sp>
        <p:nvSpPr>
          <p:cNvPr id="10" name="Text 7"/>
          <p:cNvSpPr/>
          <p:nvPr/>
        </p:nvSpPr>
        <p:spPr>
          <a:xfrm>
            <a:off x="804672" y="5067313"/>
            <a:ext cx="10582351" cy="623377"/>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CCD returns -4.0% — below the equity case, because the coupon years consume the cash the project needs while ramping. At project level a CCD combines the cash-flow burden of debt with the dilution of equity and the guarantee benefit of neither.</a:t>
            </a:r>
            <a:endParaRPr lang="en-US" sz="1200" dirty="0"/>
          </a:p>
        </p:txBody>
      </p:sp>
      <p:sp>
        <p:nvSpPr>
          <p:cNvPr id="11" name="Shape 8"/>
          <p:cNvSpPr/>
          <p:nvPr/>
        </p:nvSpPr>
        <p:spPr>
          <a:xfrm>
            <a:off x="566928" y="5965010"/>
            <a:ext cx="11057839" cy="731520"/>
          </a:xfrm>
          <a:prstGeom prst="roundRect">
            <a:avLst>
              <a:gd name="adj" fmla="val 6250"/>
            </a:avLst>
          </a:prstGeom>
          <a:solidFill>
            <a:srgbClr val="F1F5FE"/>
          </a:solidFill>
          <a:ln w="15875">
            <a:solidFill>
              <a:srgbClr val="2B66EA"/>
            </a:solidFill>
            <a:prstDash val="solid"/>
          </a:ln>
        </p:spPr>
      </p:sp>
      <p:sp>
        <p:nvSpPr>
          <p:cNvPr id="12" name="Text 9"/>
          <p:cNvSpPr/>
          <p:nvPr/>
        </p:nvSpPr>
        <p:spPr>
          <a:xfrm>
            <a:off x="804672" y="6111314"/>
            <a:ext cx="2743200" cy="201168"/>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13" name="Text 10"/>
          <p:cNvSpPr/>
          <p:nvPr/>
        </p:nvSpPr>
        <p:spPr>
          <a:xfrm>
            <a:off x="804672" y="6312482"/>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If a CCD is used anywhere in this structure</a:t>
            </a:r>
            <a:endParaRPr lang="en-US" sz="1500" dirty="0"/>
          </a:p>
        </p:txBody>
      </p:sp>
      <p:sp>
        <p:nvSpPr>
          <p:cNvPr id="14" name="Text 11"/>
          <p:cNvSpPr/>
          <p:nvPr/>
        </p:nvSpPr>
        <p:spPr>
          <a:xfrm>
            <a:off x="804672" y="6617853"/>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The conversion formula must be fixed on the date of issue — a price set later fails the FEMA pricing test if any money is foreign and turns the instrument into external commercial borrowing. A valuation report under section 62(1)(c) is needed before conversion, and the issue is a private placement under section 42. Until it converts, a CCD is borrowing on the balance sheet.</a:t>
            </a:r>
            <a:endParaRPr lang="en-US" sz="850" dirty="0"/>
          </a:p>
        </p:txBody>
      </p:sp>
      <p:sp>
        <p:nvSpPr>
          <p:cNvPr id="15" name="Text 1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4.7%</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₹1.39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1.24×</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10B981"/>
                </a:solidFill>
                <a:latin typeface="Calibri" pitchFamily="34" charset="0"/>
                <a:ea typeface="Calibri" pitchFamily="34" charset="-122"/>
                <a:cs typeface="Calibri" pitchFamily="34" charset="-120"/>
              </a:rPr>
              <a:t>1.49×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₹3.37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1.20 / 2.17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₹1.07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-4.0%</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₹1.39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3</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55%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0.84×</a:t>
            </a:r>
            <a:endParaRPr lang="en-US" sz="950" dirty="0"/>
          </a:p>
        </p:txBody>
      </p:sp>
      <p:sp>
        <p:nvSpPr>
          <p:cNvPr id="56" name="Shape 54"/>
          <p:cNvSpPr/>
          <p:nvPr/>
        </p:nvSpPr>
        <p:spPr>
          <a:xfrm>
            <a:off x="566928" y="4224528"/>
            <a:ext cx="11057839" cy="1640690"/>
          </a:xfrm>
          <a:prstGeom prst="roundRect">
            <a:avLst>
              <a:gd name="adj" fmla="val 2787"/>
            </a:avLst>
          </a:prstGeom>
          <a:solidFill>
            <a:srgbClr val="EDFAF4"/>
          </a:solidFill>
          <a:ln w="15875">
            <a:solidFill>
              <a:srgbClr val="10B981"/>
            </a:solidFill>
            <a:prstDash val="solid"/>
          </a:ln>
        </p:spPr>
      </p:sp>
      <p:sp>
        <p:nvSpPr>
          <p:cNvPr id="57" name="Text 55"/>
          <p:cNvSpPr/>
          <p:nvPr/>
        </p:nvSpPr>
        <p:spPr>
          <a:xfrm>
            <a:off x="804672" y="4370832"/>
            <a:ext cx="2743200" cy="201168"/>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72000"/>
            <a:ext cx="10582351" cy="29414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Option B — a right-sized CGTMSE composite facility</a:t>
            </a:r>
            <a:endParaRPr lang="en-US" sz="1900" dirty="0"/>
          </a:p>
        </p:txBody>
      </p:sp>
      <p:sp>
        <p:nvSpPr>
          <p:cNvPr id="59" name="Text 57"/>
          <p:cNvSpPr/>
          <p:nvPr/>
        </p:nvSpPr>
        <p:spPr>
          <a:xfrm>
            <a:off x="804672" y="4939297"/>
            <a:ext cx="10582351" cy="85276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project earns 18.7% against 12.50% guaranteed debt. That +6.2 pp spread belongs to E-O-D, and debt is the only instrument that lets E-O-D keep it. Term loan ₹1.20 Cr over 7 years with a 3-year principal moratorium, plus a working-capital limit sanctioned at ₹0.90 Cr rather than the full year of opex — saving ₹1.27 L of guarantee fee and leaving more of the group's ₹10 Cr CGTMSE ceiling for Karnal.</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Auction overshoot</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 cap on the forward e-auction. Every ₹1 lakh a year above the modelled ₹36 L costs about ₹8.1 lakh over the term. Mitigation: a board-approved walk-away of ₹45.1 L a year.</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ADA tariff control</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ADA fixes the gate at ₹20 and approves every other rate. The show ticket carries roughly a third of revenue and E-O-D cannot price it. Mitigation: agree the tariff and escalation path in writing before the work order.</a:t>
            </a:r>
            <a:endParaRPr lang="en-US" sz="1050" dirty="0"/>
          </a:p>
        </p:txBody>
      </p:sp>
      <p:sp>
        <p:nvSpPr>
          <p:cNvPr id="11" name="Shape 9"/>
          <p:cNvSpPr/>
          <p:nvPr/>
        </p:nvSpPr>
        <p:spPr>
          <a:xfrm>
            <a:off x="566928" y="3474720"/>
            <a:ext cx="182880" cy="182880"/>
          </a:xfrm>
          <a:prstGeom prst="ellipse">
            <a:avLst/>
          </a:prstGeom>
          <a:solidFill>
            <a:srgbClr val="D97706"/>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Laser and fountain asset condition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agency inherits equipment of unknown age and must replace end-of-life assets at its own cost. Mitigation: joint condition survey and AMC history before bidding.</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Year-1 cash</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project loses ₹0.21 Cr at EBITDA in year 1 while paying six months of licence fee in advance. Mitigation: this is what the working-capital limit is for.</a:t>
            </a:r>
            <a:endParaRPr lang="en-US" sz="1050" dirty="0"/>
          </a:p>
        </p:txBody>
      </p:sp>
      <p:sp>
        <p:nvSpPr>
          <p:cNvPr id="17" name="Shape 15"/>
          <p:cNvSpPr/>
          <p:nvPr/>
        </p:nvSpPr>
        <p:spPr>
          <a:xfrm>
            <a:off x="6278728" y="2322576"/>
            <a:ext cx="182880" cy="182880"/>
          </a:xfrm>
          <a:prstGeom prst="ellipse">
            <a:avLst/>
          </a:prstGeom>
          <a:solidFill>
            <a:srgbClr val="D97706"/>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No permanent structures</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3.3.2 bars permanent construction, so the activity layer must be demountable — higher unit cost, shorter asset life. The capex schedule assumes an eight-year life.</a:t>
            </a:r>
            <a:endParaRPr lang="en-US" sz="1050" dirty="0"/>
          </a:p>
        </p:txBody>
      </p:sp>
      <p:sp>
        <p:nvSpPr>
          <p:cNvPr id="20" name="Shape 18"/>
          <p:cNvSpPr/>
          <p:nvPr/>
        </p:nvSpPr>
        <p:spPr>
          <a:xfrm>
            <a:off x="6278728" y="3474720"/>
            <a:ext cx="182880" cy="182880"/>
          </a:xfrm>
          <a:prstGeom prst="ellipse">
            <a:avLst/>
          </a:prstGeom>
          <a:solidFill>
            <a:srgbClr val="2B66EA"/>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tariff is not set in the RFP</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Left to be agreed with ADA at least ten days before implementation. The largest revenue assumption in the model and the least documented. Raise it as a pre-bid query.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Geeta Govind Vatika — Project Finance</dc:title>
  <dc:subject>ADA licence-fee concession, 7+4 years</dc:subject>
  <dc:creator>Vision Amusement Park Pvt. Ltd.</dc:creator>
  <cp:lastModifiedBy>Vision Amusement Park Pvt. Ltd.</cp:lastModifiedBy>
  <cp:revision>1</cp:revision>
  <dcterms:created xsi:type="dcterms:W3CDTF">2026-08-23T14:26:30Z</dcterms:created>
  <dcterms:modified xsi:type="dcterms:W3CDTF">2026-08-23T14:26:30Z</dcterms:modified>
</cp:coreProperties>
</file>