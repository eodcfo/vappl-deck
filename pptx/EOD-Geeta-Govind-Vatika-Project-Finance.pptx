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5.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Gate entry</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0.48</c:v>
                </c:pt>
                <c:pt idx="1">
                  <c:v>0.57</c:v>
                </c:pt>
                <c:pt idx="2">
                  <c:v>0.63</c:v>
                </c:pt>
                <c:pt idx="3">
                  <c:v>0.67</c:v>
                </c:pt>
                <c:pt idx="4">
                  <c:v>0.71</c:v>
                </c:pt>
                <c:pt idx="5">
                  <c:v>0.74</c:v>
                </c:pt>
                <c:pt idx="6">
                  <c:v>0.79</c:v>
                </c:pt>
              </c:numCache>
            </c:numRef>
          </c:val>
        </c:ser>
        <c:ser>
          <c:idx val="1"/>
          <c:order val="1"/>
          <c:tx>
            <c:strRef>
              <c:f>Sheet1!$C$1</c:f>
              <c:strCache>
                <c:ptCount val="1"/>
                <c:pt idx="0">
                  <c:v>Fountain &amp; laser show</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0.76</c:v>
                </c:pt>
                <c:pt idx="1">
                  <c:v>0.96</c:v>
                </c:pt>
                <c:pt idx="2">
                  <c:v>1.24</c:v>
                </c:pt>
                <c:pt idx="3">
                  <c:v>1.37</c:v>
                </c:pt>
                <c:pt idx="4">
                  <c:v>1.62</c:v>
                </c:pt>
                <c:pt idx="5">
                  <c:v>1.69</c:v>
                </c:pt>
                <c:pt idx="6">
                  <c:v>1.98</c:v>
                </c:pt>
              </c:numCache>
            </c:numRef>
          </c:val>
        </c:ser>
        <c:ser>
          <c:idx val="2"/>
          <c:order val="2"/>
          <c:tx>
            <c:strRef>
              <c:f>Sheet1!$D$1</c:f>
              <c:strCache>
                <c:ptCount val="1"/>
                <c:pt idx="0">
                  <c:v>Food and beverage</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Sheet1!$D$2:$D$8</c:f>
              <c:numCache>
                <c:formatCode>General</c:formatCode>
                <c:ptCount val="7"/>
                <c:pt idx="0">
                  <c:v>0.37</c:v>
                </c:pt>
                <c:pt idx="1">
                  <c:v>0.48</c:v>
                </c:pt>
                <c:pt idx="2">
                  <c:v>0.56</c:v>
                </c:pt>
                <c:pt idx="3">
                  <c:v>0.65</c:v>
                </c:pt>
                <c:pt idx="4">
                  <c:v>0.74</c:v>
                </c:pt>
                <c:pt idx="5">
                  <c:v>0.83</c:v>
                </c:pt>
                <c:pt idx="6">
                  <c:v>0.91</c:v>
                </c:pt>
              </c:numCache>
            </c:numRef>
          </c:val>
        </c:ser>
        <c:ser>
          <c:idx val="3"/>
          <c:order val="3"/>
          <c:tx>
            <c:strRef>
              <c:f>Sheet1!$E$1</c:f>
              <c:strCache>
                <c:ptCount val="1"/>
                <c:pt idx="0">
                  <c:v>E-O-D activity layer</c:v>
                </c:pt>
              </c:strCache>
            </c:strRef>
          </c:tx>
          <c:spPr>
            <a:solidFill>
              <a:srgbClr val="D9770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Sheet1!$E$2:$E$8</c:f>
              <c:numCache>
                <c:formatCode>General</c:formatCode>
                <c:ptCount val="7"/>
                <c:pt idx="0">
                  <c:v>0.42</c:v>
                </c:pt>
                <c:pt idx="1">
                  <c:v>0.62</c:v>
                </c:pt>
                <c:pt idx="2">
                  <c:v>0.79</c:v>
                </c:pt>
                <c:pt idx="3">
                  <c:v>0.96</c:v>
                </c:pt>
                <c:pt idx="4">
                  <c:v>1.08</c:v>
                </c:pt>
                <c:pt idx="5">
                  <c:v>1.28</c:v>
                </c:pt>
                <c:pt idx="6">
                  <c:v>1.42</c:v>
                </c:pt>
              </c:numCache>
            </c:numRef>
          </c:val>
        </c:ser>
        <c:ser>
          <c:idx val="4"/>
          <c:order val="4"/>
          <c:tx>
            <c:strRef>
              <c:f>Sheet1!$F$1</c:f>
              <c:strCache>
                <c:ptCount val="1"/>
                <c:pt idx="0">
                  <c:v>Parking, events and shoots</c:v>
                </c:pt>
              </c:strCache>
            </c:strRef>
          </c:tx>
          <c:spPr>
            <a:solidFill>
              <a:srgbClr val="8A93A6"/>
            </a:solidFill>
            <a:effectLst/>
          </c:spPr>
          <c:invertIfNegative val="0"/>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Sheet1!$F$2:$F$8</c:f>
              <c:numCache>
                <c:formatCode>General</c:formatCode>
                <c:ptCount val="7"/>
                <c:pt idx="0">
                  <c:v>0.44</c:v>
                </c:pt>
                <c:pt idx="1">
                  <c:v>0.5</c:v>
                </c:pt>
                <c:pt idx="2">
                  <c:v>0.54</c:v>
                </c:pt>
                <c:pt idx="3">
                  <c:v>0.57</c:v>
                </c:pt>
                <c:pt idx="4">
                  <c:v>0.6</c:v>
                </c:pt>
                <c:pt idx="5">
                  <c:v>0.63</c:v>
                </c:pt>
                <c:pt idx="6">
                  <c:v>0.66</c:v>
                </c:pt>
              </c:numCache>
            </c:numRef>
          </c:val>
        </c:ser>
        <c:dLbls>
          <c:numFmt formatCode="0.00" sourceLinked="0"/>
          <c:txPr>
            <a:bodyPr/>
            <a:lstStyle/>
            <a:p>
              <a:pPr>
                <a:defRPr b="0" i="0" strike="noStrike" sz="900" u="none">
                  <a:solidFill>
                    <a:srgbClr val="3B4660"/>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Revenue</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2.48</c:v>
                </c:pt>
                <c:pt idx="1">
                  <c:v>3.13</c:v>
                </c:pt>
                <c:pt idx="2">
                  <c:v>3.76</c:v>
                </c:pt>
                <c:pt idx="3">
                  <c:v>4.22</c:v>
                </c:pt>
                <c:pt idx="4">
                  <c:v>4.74</c:v>
                </c:pt>
                <c:pt idx="5">
                  <c:v>5.17</c:v>
                </c:pt>
                <c:pt idx="6">
                  <c:v>5.75</c:v>
                </c:pt>
              </c:numCache>
            </c:numRef>
          </c:val>
        </c:ser>
        <c:ser>
          <c:idx val="1"/>
          <c:order val="1"/>
          <c:tx>
            <c:strRef>
              <c:f>Sheet1!$C$1</c:f>
              <c:strCache>
                <c:ptCount val="1"/>
                <c:pt idx="0">
                  <c:v>EBITDA</c:v>
                </c:pt>
              </c:strCache>
            </c:strRef>
          </c:tx>
          <c:spPr>
            <a:solidFill>
              <a:srgbClr val="10B981"/>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0.17</c:v>
                </c:pt>
                <c:pt idx="1">
                  <c:v>0.51</c:v>
                </c:pt>
                <c:pt idx="2">
                  <c:v>0.87</c:v>
                </c:pt>
                <c:pt idx="3">
                  <c:v>1.06</c:v>
                </c:pt>
                <c:pt idx="4">
                  <c:v>1.33</c:v>
                </c:pt>
                <c:pt idx="5">
                  <c:v>1.45</c:v>
                </c:pt>
                <c:pt idx="6">
                  <c:v>1.71</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Free cash flow</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Sheet1!$A$2:$A$9</c:f>
              <c:multiLvlStrCache>
                <c:ptCount val="8"/>
                <c:lvl>
                  <c:pt idx="0">
                    <c:v>Capital</c:v>
                  </c:pt>
                  <c:pt idx="1">
                    <c:v>Yr 1</c:v>
                  </c:pt>
                  <c:pt idx="2">
                    <c:v>Yr 2</c:v>
                  </c:pt>
                  <c:pt idx="3">
                    <c:v>Yr 3</c:v>
                  </c:pt>
                  <c:pt idx="4">
                    <c:v>Yr 4</c:v>
                  </c:pt>
                  <c:pt idx="5">
                    <c:v>Yr 5</c:v>
                  </c:pt>
                  <c:pt idx="6">
                    <c:v>Yr 6</c:v>
                  </c:pt>
                  <c:pt idx="7">
                    <c:v>Yr 7</c:v>
                  </c:pt>
                </c:lvl>
              </c:multiLvlStrCache>
            </c:multiLvlStrRef>
          </c:cat>
          <c:val>
            <c:numRef>
              <c:f>Sheet1!$B$2:$B$9</c:f>
              <c:numCache>
                <c:formatCode>General</c:formatCode>
                <c:ptCount val="8"/>
                <c:pt idx="0">
                  <c:v>-1</c:v>
                </c:pt>
                <c:pt idx="1">
                  <c:v>0.1</c:v>
                </c:pt>
                <c:pt idx="2">
                  <c:v>0.35</c:v>
                </c:pt>
                <c:pt idx="3">
                  <c:v>0.61</c:v>
                </c:pt>
                <c:pt idx="4">
                  <c:v>0.74</c:v>
                </c:pt>
                <c:pt idx="5">
                  <c:v>0.93</c:v>
                </c:pt>
                <c:pt idx="6">
                  <c:v>1.01</c:v>
                </c:pt>
                <c:pt idx="7">
                  <c:v>1.3</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Project IRR</c:v>
                </c:pt>
              </c:strCache>
            </c:strRef>
          </c:tx>
          <c:spPr>
            <a:solidFill>
              <a:srgbClr val="C8553D"/>
            </a:solidFill>
            <a:effectLst/>
          </c:spPr>
          <c:invertIfNegative val="0"/>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dPt>
            <c:idx val="0"/>
            <c:invertIfNegative val="0"/>
            <c:bubble3D val="0"/>
            <c:spPr>
              <a:solidFill>
                <a:srgbClr val="C8553D"/>
              </a:solidFill>
              <a:effectLst/>
            </c:spPr>
          </c:dPt>
          <c:dPt>
            <c:idx val="1"/>
            <c:invertIfNegative val="0"/>
            <c:bubble3D val="0"/>
            <c:spPr>
              <a:solidFill>
                <a:srgbClr val="2B66EA"/>
              </a:solidFill>
              <a:effectLst/>
            </c:spPr>
          </c:dPt>
          <c:dPt>
            <c:idx val="2"/>
            <c:invertIfNegative val="0"/>
            <c:bubble3D val="0"/>
            <c:spPr>
              <a:solidFill>
                <a:srgbClr val="10B981"/>
              </a:solidFill>
              <a:effectLst/>
            </c:spPr>
          </c:dPt>
          <c:cat>
            <c:multiLvlStrRef>
              <c:f>Sheet1!$A$2:$A$4</c:f>
              <c:multiLvlStrCache>
                <c:ptCount val="3"/>
                <c:lvl>
                  <c:pt idx="0">
                    <c:v>Downside</c:v>
                  </c:pt>
                  <c:pt idx="1">
                    <c:v>Base case</c:v>
                  </c:pt>
                  <c:pt idx="2">
                    <c:v>Upside</c:v>
                  </c:pt>
                </c:lvl>
              </c:multiLvlStrCache>
            </c:multiLvlStrRef>
          </c:cat>
          <c:val>
            <c:numRef>
              <c:f>Sheet1!$B$2:$B$4</c:f>
              <c:numCache>
                <c:formatCode>General</c:formatCode>
                <c:ptCount val="3"/>
                <c:pt idx="0">
                  <c:v>-1.4</c:v>
                </c:pt>
                <c:pt idx="1">
                  <c:v>43.3</c:v>
                </c:pt>
                <c:pt idx="2">
                  <c:v>74.4</c:v>
                </c:pt>
              </c:numCache>
            </c:numRef>
          </c:val>
        </c:ser>
        <c:dLbls>
          <c:numFmt formatCode="0.0&quot;%&quot;"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Project IRR, %</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Debt service</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Sheet1!$B$2:$B$8</c:f>
              <c:numCache>
                <c:formatCode>General</c:formatCode>
                <c:ptCount val="7"/>
                <c:pt idx="0">
                  <c:v>0.12</c:v>
                </c:pt>
                <c:pt idx="1">
                  <c:v>0.25</c:v>
                </c:pt>
                <c:pt idx="2">
                  <c:v>0.23</c:v>
                </c:pt>
                <c:pt idx="3">
                  <c:v>0.21</c:v>
                </c:pt>
                <c:pt idx="4">
                  <c:v>0.19</c:v>
                </c:pt>
                <c:pt idx="5">
                  <c:v>0.17</c:v>
                </c:pt>
                <c:pt idx="6">
                  <c:v>0.15</c:v>
                </c:pt>
              </c:numCache>
            </c:numRef>
          </c:val>
        </c:ser>
        <c:ser>
          <c:idx val="1"/>
          <c:order val="1"/>
          <c:tx>
            <c:strRef>
              <c:f>Sheet1!$C$1</c:f>
              <c:strCache>
                <c:ptCount val="1"/>
                <c:pt idx="0">
                  <c:v>Cash available (EBITDA)</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Sheet1!$A$2:$A$8</c:f>
              <c:multiLvlStrCache>
                <c:ptCount val="7"/>
                <c:lvl>
                  <c:pt idx="0">
                    <c:v>Yr 1</c:v>
                  </c:pt>
                  <c:pt idx="1">
                    <c:v>Yr 2</c:v>
                  </c:pt>
                  <c:pt idx="2">
                    <c:v>Yr 3</c:v>
                  </c:pt>
                  <c:pt idx="3">
                    <c:v>Yr 4</c:v>
                  </c:pt>
                  <c:pt idx="4">
                    <c:v>Yr 5</c:v>
                  </c:pt>
                  <c:pt idx="5">
                    <c:v>Yr 6</c:v>
                  </c:pt>
                  <c:pt idx="6">
                    <c:v>Yr 7</c:v>
                  </c:pt>
                </c:lvl>
              </c:multiLvlStrCache>
            </c:multiLvlStrRef>
          </c:cat>
          <c:val>
            <c:numRef>
              <c:f>Sheet1!$C$2:$C$8</c:f>
              <c:numCache>
                <c:formatCode>General</c:formatCode>
                <c:ptCount val="7"/>
                <c:pt idx="0">
                  <c:v>0.17</c:v>
                </c:pt>
                <c:pt idx="1">
                  <c:v>0.51</c:v>
                </c:pt>
                <c:pt idx="2">
                  <c:v>0.87</c:v>
                </c:pt>
                <c:pt idx="3">
                  <c:v>1.06</c:v>
                </c:pt>
                <c:pt idx="4">
                  <c:v>1.33</c:v>
                </c:pt>
                <c:pt idx="5">
                  <c:v>1.45</c:v>
                </c:pt>
                <c:pt idx="6">
                  <c:v>1.71</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01 OF 04</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Geeta Govind</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Vatika</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Nineteen acres in Taj Nagri Phase-II, next door to the park E-O-D already runs. Seven years of operating rights, no land to buy, no structures to build. One crore to open the doors — and from there it pays for itself at the gate.</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Agra Development Authority · Licence-fee model · 7 + 4 years · 19 acres</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Reserve licence fee ₹2.5 lakh per month · forward e-auction · 5% annual escalation</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FUNDING ASK</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₹1.00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Mobilisation only — operating cost met from collections</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1 EBITDA</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₹0.17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Positive from the opening season</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PROJECT IRR</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43.3%</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Payback 2.9 years</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YEAR 7 EBITDA</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₹1.71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29.8% margin</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project</a:t>
            </a:r>
            <a:endParaRPr lang="en-US" sz="3000" dirty="0"/>
          </a:p>
        </p:txBody>
      </p:sp>
      <p:sp>
        <p:nvSpPr>
          <p:cNvPr id="5" name="Text 3"/>
          <p:cNvSpPr/>
          <p:nvPr/>
        </p:nvSpPr>
        <p:spPr>
          <a:xfrm>
            <a:off x="566928" y="950976"/>
            <a:ext cx="11057839" cy="69342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Nineteen acres in Taj Nagri Phase-II, built and fitted out by ADA, now looking for an operator. The asset is already there — musical fountains, a 40-minute Krishna Leela laser show, an open-air amphitheatre, a waterbody, eight kiosks and a Tulsi forest. The operator pays a monthly licence fee and keeps what it collects at the gate.</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772412"/>
          <a:ext cx="11057839" cy="914400"/>
        </p:xfrm>
        <a:graphic>
          <a:graphicData uri="http://schemas.openxmlformats.org/drawingml/2006/table">
            <a:tbl>
              <a:tblPr/>
              <a:tblGrid>
                <a:gridCol w="2743200"/>
                <a:gridCol w="831463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What the RFP says</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Authority</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Agra Development Authority (ADA)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Contract period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 years + 4 years extendable (performance + mutual consent)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Selection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Technical evaluation, then forward e-auction on the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Reserve licence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₹2.5 L per month + GST · ₹30 L a year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Escalation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 a year on the preceding year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Payment terms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First 6 months in advance within 7 days of the work order; then half-yearly in advance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 months of the licence fee at the winning e-auction bid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Gate tariff</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₹20 entry. Fountain and laser show at rates approved by ADA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Asset position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ADA owns all assets. No permanent structures permitted. Electricity paid direct to discom.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5228844"/>
            <a:ext cx="11057839" cy="1098885"/>
          </a:xfrm>
          <a:prstGeom prst="roundRect">
            <a:avLst>
              <a:gd name="adj" fmla="val 4161"/>
            </a:avLst>
          </a:prstGeom>
          <a:solidFill>
            <a:srgbClr val="F1F5FE"/>
          </a:solidFill>
          <a:ln w="15875">
            <a:solidFill>
              <a:srgbClr val="2B66EA"/>
            </a:solidFill>
            <a:prstDash val="solid"/>
          </a:ln>
        </p:spPr>
      </p:sp>
      <p:sp>
        <p:nvSpPr>
          <p:cNvPr id="8" name="Text 5"/>
          <p:cNvSpPr/>
          <p:nvPr/>
        </p:nvSpPr>
        <p:spPr>
          <a:xfrm>
            <a:off x="804672" y="5338572"/>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9" name="Text 6"/>
          <p:cNvSpPr/>
          <p:nvPr/>
        </p:nvSpPr>
        <p:spPr>
          <a:xfrm>
            <a:off x="804672" y="5521452"/>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What the Agra cluster does to the commercials</a:t>
            </a:r>
            <a:endParaRPr lang="en-US" sz="1400" dirty="0"/>
          </a:p>
        </p:txBody>
      </p:sp>
      <p:sp>
        <p:nvSpPr>
          <p:cNvPr id="10" name="Text 7"/>
          <p:cNvSpPr/>
          <p:nvPr/>
        </p:nvSpPr>
        <p:spPr>
          <a:xfrm>
            <a:off x="804672" y="5788965"/>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The site adjoins Agra Chaupati and is a short drive from Subhash Park, both already operating. Overhead is charged at 5% of revenue rather than a standalone rate; food and beverage is supplied from the Chaupati kitchens, so the site needs counters rather than a built kitchen and runs at 44% cost of goods instead of 52%; and marketing reaches an audience already visiting the cluster.</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the money is for</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brief was one year of opex as loan or investment. That is the right facility size — but being precise about what the money does changes which instrument fits.</a:t>
            </a:r>
            <a:endParaRPr lang="en-US" sz="1250" dirty="0"/>
          </a:p>
        </p:txBody>
      </p:sp>
      <p:sp>
        <p:nvSpPr>
          <p:cNvPr id="6" name="Shape 4"/>
          <p:cNvSpPr/>
          <p:nvPr/>
        </p:nvSpPr>
        <p:spPr>
          <a:xfrm>
            <a:off x="566928" y="1541272"/>
            <a:ext cx="3539642" cy="1152144"/>
          </a:xfrm>
          <a:prstGeom prst="roundRect">
            <a:avLst>
              <a:gd name="adj" fmla="val 4762"/>
            </a:avLst>
          </a:prstGeom>
          <a:solidFill>
            <a:srgbClr val="F5F6F8"/>
          </a:solidFill>
          <a:ln w="12700">
            <a:solidFill>
              <a:srgbClr val="E2E4EA"/>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FACILITY AS BRIEFED</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₹1.00 Cr</a:t>
            </a:r>
            <a:endParaRPr lang="en-US" sz="2600" dirty="0"/>
          </a:p>
        </p:txBody>
      </p:sp>
      <p:sp>
        <p:nvSpPr>
          <p:cNvPr id="9" name="Text 7"/>
          <p:cNvSpPr/>
          <p:nvPr/>
        </p:nvSpPr>
        <p:spPr>
          <a:xfrm>
            <a:off x="749808"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plus 12 months of operating cost</a:t>
            </a:r>
            <a:endParaRPr lang="en-US" sz="950" dirty="0"/>
          </a:p>
        </p:txBody>
      </p:sp>
      <p:sp>
        <p:nvSpPr>
          <p:cNvPr id="10" name="Shape 8"/>
          <p:cNvSpPr/>
          <p:nvPr/>
        </p:nvSpPr>
        <p:spPr>
          <a:xfrm>
            <a:off x="4326026" y="1541272"/>
            <a:ext cx="3539642" cy="1152144"/>
          </a:xfrm>
          <a:prstGeom prst="roundRect">
            <a:avLst>
              <a:gd name="adj" fmla="val 4762"/>
            </a:avLst>
          </a:prstGeom>
          <a:solidFill>
            <a:srgbClr val="FBF1EE"/>
          </a:solidFill>
          <a:ln w="12700">
            <a:solidFill>
              <a:srgbClr val="C8553D"/>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TRUE CAPITAL AT RISK</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₹1.00 Cr</a:t>
            </a:r>
            <a:endParaRPr lang="en-US" sz="2600" dirty="0"/>
          </a:p>
        </p:txBody>
      </p:sp>
      <p:sp>
        <p:nvSpPr>
          <p:cNvPr id="13" name="Text 11"/>
          <p:cNvSpPr/>
          <p:nvPr/>
        </p:nvSpPr>
        <p:spPr>
          <a:xfrm>
            <a:off x="4508906"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Mobilisation plus the year-1 operating deficit</a:t>
            </a:r>
            <a:endParaRPr lang="en-US" sz="950" dirty="0"/>
          </a:p>
        </p:txBody>
      </p:sp>
      <p:sp>
        <p:nvSpPr>
          <p:cNvPr id="14" name="Shape 12"/>
          <p:cNvSpPr/>
          <p:nvPr/>
        </p:nvSpPr>
        <p:spPr>
          <a:xfrm>
            <a:off x="8085125" y="1541272"/>
            <a:ext cx="3539642" cy="1152144"/>
          </a:xfrm>
          <a:prstGeom prst="roundRect">
            <a:avLst>
              <a:gd name="adj" fmla="val 4762"/>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REVOLVING LIQUIDITY</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₹0.00 Cr</a:t>
            </a:r>
            <a:endParaRPr lang="en-US" sz="2600" dirty="0"/>
          </a:p>
        </p:txBody>
      </p:sp>
      <p:sp>
        <p:nvSpPr>
          <p:cNvPr id="17" name="Text 15"/>
          <p:cNvSpPr/>
          <p:nvPr/>
        </p:nvSpPr>
        <p:spPr>
          <a:xfrm>
            <a:off x="8268005" y="2382520"/>
            <a:ext cx="3173882"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Drawn, spent, and recovered from collections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2931160"/>
          <a:ext cx="11057839" cy="914400"/>
        </p:xfrm>
        <a:graphic>
          <a:graphicData uri="http://schemas.openxmlformats.org/drawingml/2006/table">
            <a:tbl>
              <a:tblPr/>
              <a:tblGrid>
                <a:gridCol w="9144000"/>
                <a:gridCol w="1913839"/>
              </a:tblGrid>
              <a:tr h="31089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Total requirement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Amount</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Mobilisation capex — activity equipment, kiosk fit-out, ticketing, signage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₹72.0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Security deposit (3 months, refundable), advance licence fee (6 months), EMD and tender fee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₹28.1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3B4660"/>
                          </a:solidFill>
                          <a:latin typeface="Calibri" pitchFamily="34" charset="0"/>
                          <a:ea typeface="Calibri" pitchFamily="34" charset="-122"/>
                          <a:cs typeface="Calibri" pitchFamily="34" charset="-120"/>
                        </a:rPr>
                        <a:t>Sub-total — mobilisation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₹100.1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310896">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operating expenditure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₹231.7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10896">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Facility requested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₹100.1 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19" name="Shape 16"/>
          <p:cNvSpPr/>
          <p:nvPr/>
        </p:nvSpPr>
        <p:spPr>
          <a:xfrm>
            <a:off x="566928" y="4961128"/>
            <a:ext cx="11057839" cy="1287363"/>
          </a:xfrm>
          <a:prstGeom prst="roundRect">
            <a:avLst>
              <a:gd name="adj" fmla="val 3551"/>
            </a:avLst>
          </a:prstGeom>
          <a:solidFill>
            <a:srgbClr val="FBEFEC"/>
          </a:solidFill>
          <a:ln w="15875">
            <a:solidFill>
              <a:srgbClr val="C8553D"/>
            </a:solidFill>
            <a:prstDash val="solid"/>
          </a:ln>
        </p:spPr>
      </p:sp>
      <p:sp>
        <p:nvSpPr>
          <p:cNvPr id="20" name="Text 17"/>
          <p:cNvSpPr/>
          <p:nvPr/>
        </p:nvSpPr>
        <p:spPr>
          <a:xfrm>
            <a:off x="804672" y="507085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2537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A liquidity requirement, not a capital requirement</a:t>
            </a:r>
            <a:endParaRPr lang="en-US" sz="1900" dirty="0"/>
          </a:p>
        </p:txBody>
      </p:sp>
      <p:sp>
        <p:nvSpPr>
          <p:cNvPr id="22" name="Text 19"/>
          <p:cNvSpPr/>
          <p:nvPr/>
        </p:nvSpPr>
        <p:spPr>
          <a:xfrm>
            <a:off x="804672" y="5597195"/>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Of the ₹1.00 Cr asked for, only ₹1.00 Cr is capital the project consumes and does not return. The rest is working capital — spent on wages and electricity, recovered at the gate. Equity does not come back; a revolving limit does.</a:t>
            </a:r>
            <a:endParaRPr lang="en-US" sz="12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Revenue model</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Six streams, built bottom-up from footfall and capture rates. All figures net of GST.</a:t>
            </a:r>
            <a:endParaRPr lang="en-US" sz="1250" dirty="0"/>
          </a:p>
        </p:txBody>
      </p:sp>
      <p:graphicFrame>
        <p:nvGraphicFramePr>
          <p:cNvPr id="6" name="Chart 0" descr=""/>
          <p:cNvGraphicFramePr/>
          <p:nvPr/>
        </p:nvGraphicFramePr>
        <p:xfrm>
          <a:off x="566928" y="1310132"/>
          <a:ext cx="11057839" cy="27889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327652"/>
            <a:ext cx="2599868" cy="1097280"/>
          </a:xfrm>
          <a:prstGeom prst="roundRect">
            <a:avLst>
              <a:gd name="adj" fmla="val 5000"/>
            </a:avLst>
          </a:prstGeom>
          <a:solidFill>
            <a:srgbClr val="F5F6F8"/>
          </a:solidFill>
          <a:ln w="12700">
            <a:solidFill>
              <a:srgbClr val="E2E4EA"/>
            </a:solidFill>
            <a:prstDash val="solid"/>
          </a:ln>
        </p:spPr>
      </p:sp>
      <p:sp>
        <p:nvSpPr>
          <p:cNvPr id="8" name="Text 5"/>
          <p:cNvSpPr/>
          <p:nvPr/>
        </p:nvSpPr>
        <p:spPr>
          <a:xfrm>
            <a:off x="749808"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1 FOOTFALL</a:t>
            </a:r>
            <a:endParaRPr lang="en-US" sz="850" dirty="0"/>
          </a:p>
        </p:txBody>
      </p:sp>
      <p:sp>
        <p:nvSpPr>
          <p:cNvPr id="9" name="Text 6"/>
          <p:cNvSpPr/>
          <p:nvPr/>
        </p:nvSpPr>
        <p:spPr>
          <a:xfrm>
            <a:off x="749808" y="469341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3.75 L</a:t>
            </a:r>
            <a:endParaRPr lang="en-US" sz="2600" dirty="0"/>
          </a:p>
        </p:txBody>
      </p:sp>
      <p:sp>
        <p:nvSpPr>
          <p:cNvPr id="10" name="Text 7"/>
          <p:cNvSpPr/>
          <p:nvPr/>
        </p:nvSpPr>
        <p:spPr>
          <a:xfrm>
            <a:off x="749808"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850 visits a day</a:t>
            </a:r>
            <a:endParaRPr lang="en-US" sz="950" dirty="0"/>
          </a:p>
        </p:txBody>
      </p:sp>
      <p:sp>
        <p:nvSpPr>
          <p:cNvPr id="11" name="Shape 8"/>
          <p:cNvSpPr/>
          <p:nvPr/>
        </p:nvSpPr>
        <p:spPr>
          <a:xfrm>
            <a:off x="3386252" y="4327652"/>
            <a:ext cx="2599868" cy="1097280"/>
          </a:xfrm>
          <a:prstGeom prst="roundRect">
            <a:avLst>
              <a:gd name="adj" fmla="val 5000"/>
            </a:avLst>
          </a:prstGeom>
          <a:solidFill>
            <a:srgbClr val="F5F6F8"/>
          </a:solidFill>
          <a:ln w="12700">
            <a:solidFill>
              <a:srgbClr val="E2E4EA"/>
            </a:solidFill>
            <a:prstDash val="solid"/>
          </a:ln>
        </p:spPr>
      </p:sp>
      <p:sp>
        <p:nvSpPr>
          <p:cNvPr id="12" name="Text 9"/>
          <p:cNvSpPr/>
          <p:nvPr/>
        </p:nvSpPr>
        <p:spPr>
          <a:xfrm>
            <a:off x="3569132"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YEAR 7 FOOTFALL</a:t>
            </a:r>
            <a:endParaRPr lang="en-US" sz="850" dirty="0"/>
          </a:p>
        </p:txBody>
      </p:sp>
      <p:sp>
        <p:nvSpPr>
          <p:cNvPr id="13" name="Text 10"/>
          <p:cNvSpPr/>
          <p:nvPr/>
        </p:nvSpPr>
        <p:spPr>
          <a:xfrm>
            <a:off x="3569132" y="469341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5.80 L</a:t>
            </a:r>
            <a:endParaRPr lang="en-US" sz="2600" dirty="0"/>
          </a:p>
        </p:txBody>
      </p:sp>
      <p:sp>
        <p:nvSpPr>
          <p:cNvPr id="14" name="Text 11"/>
          <p:cNvSpPr/>
          <p:nvPr/>
        </p:nvSpPr>
        <p:spPr>
          <a:xfrm>
            <a:off x="3569132"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About 1,575 visits a day</a:t>
            </a:r>
            <a:endParaRPr lang="en-US" sz="950" dirty="0"/>
          </a:p>
        </p:txBody>
      </p:sp>
      <p:sp>
        <p:nvSpPr>
          <p:cNvPr id="15" name="Shape 12"/>
          <p:cNvSpPr/>
          <p:nvPr/>
        </p:nvSpPr>
        <p:spPr>
          <a:xfrm>
            <a:off x="6205576" y="4327652"/>
            <a:ext cx="2599868" cy="1097280"/>
          </a:xfrm>
          <a:prstGeom prst="roundRect">
            <a:avLst>
              <a:gd name="adj" fmla="val 5000"/>
            </a:avLst>
          </a:prstGeom>
          <a:solidFill>
            <a:srgbClr val="F5F6F8"/>
          </a:solidFill>
          <a:ln w="12700">
            <a:solidFill>
              <a:srgbClr val="E2E4EA"/>
            </a:solidFill>
            <a:prstDash val="solid"/>
          </a:ln>
        </p:spPr>
      </p:sp>
      <p:sp>
        <p:nvSpPr>
          <p:cNvPr id="16" name="Text 13"/>
          <p:cNvSpPr/>
          <p:nvPr/>
        </p:nvSpPr>
        <p:spPr>
          <a:xfrm>
            <a:off x="6388456"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SHOW CONVERSION</a:t>
            </a:r>
            <a:endParaRPr lang="en-US" sz="850" dirty="0"/>
          </a:p>
        </p:txBody>
      </p:sp>
      <p:sp>
        <p:nvSpPr>
          <p:cNvPr id="17" name="Text 14"/>
          <p:cNvSpPr/>
          <p:nvPr/>
        </p:nvSpPr>
        <p:spPr>
          <a:xfrm>
            <a:off x="6388456" y="4693412"/>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24% → 31%</a:t>
            </a:r>
            <a:endParaRPr lang="en-US" sz="2000" dirty="0"/>
          </a:p>
        </p:txBody>
      </p:sp>
      <p:sp>
        <p:nvSpPr>
          <p:cNvPr id="18" name="Text 15"/>
          <p:cNvSpPr/>
          <p:nvPr/>
        </p:nvSpPr>
        <p:spPr>
          <a:xfrm>
            <a:off x="6388456"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Share buying the fountain and laser ticket</a:t>
            </a:r>
            <a:endParaRPr lang="en-US" sz="950" dirty="0"/>
          </a:p>
        </p:txBody>
      </p:sp>
      <p:sp>
        <p:nvSpPr>
          <p:cNvPr id="19" name="Shape 16"/>
          <p:cNvSpPr/>
          <p:nvPr/>
        </p:nvSpPr>
        <p:spPr>
          <a:xfrm>
            <a:off x="9024899" y="4327652"/>
            <a:ext cx="2599868" cy="1097280"/>
          </a:xfrm>
          <a:prstGeom prst="roundRect">
            <a:avLst>
              <a:gd name="adj" fmla="val 5000"/>
            </a:avLst>
          </a:prstGeom>
          <a:solidFill>
            <a:srgbClr val="F5F6F8"/>
          </a:solidFill>
          <a:ln w="12700">
            <a:solidFill>
              <a:srgbClr val="E2E4EA"/>
            </a:solidFill>
            <a:prstDash val="solid"/>
          </a:ln>
        </p:spPr>
      </p:sp>
      <p:sp>
        <p:nvSpPr>
          <p:cNvPr id="20" name="Text 17"/>
          <p:cNvSpPr/>
          <p:nvPr/>
        </p:nvSpPr>
        <p:spPr>
          <a:xfrm>
            <a:off x="9207779" y="444652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GATE TARIFF</a:t>
            </a:r>
            <a:endParaRPr lang="en-US" sz="850" dirty="0"/>
          </a:p>
        </p:txBody>
      </p:sp>
      <p:sp>
        <p:nvSpPr>
          <p:cNvPr id="21" name="Text 18"/>
          <p:cNvSpPr/>
          <p:nvPr/>
        </p:nvSpPr>
        <p:spPr>
          <a:xfrm>
            <a:off x="9207779" y="469341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₹20</a:t>
            </a:r>
            <a:endParaRPr lang="en-US" sz="2600" dirty="0"/>
          </a:p>
        </p:txBody>
      </p:sp>
      <p:sp>
        <p:nvSpPr>
          <p:cNvPr id="22" name="Text 19"/>
          <p:cNvSpPr/>
          <p:nvPr/>
        </p:nvSpPr>
        <p:spPr>
          <a:xfrm>
            <a:off x="9207779" y="5168900"/>
            <a:ext cx="2234108" cy="182880"/>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Fixed by ADA — no escalation modelled</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Cost model</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Payroll and the licence fee are the two structural lines. Everything else scales with footfall, revenue or inflation.</a:t>
            </a:r>
            <a:endParaRPr lang="en-US" sz="12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200400"/>
                <a:gridCol w="1122491"/>
                <a:gridCol w="1122491"/>
                <a:gridCol w="1122491"/>
                <a:gridCol w="1122491"/>
                <a:gridCol w="1122491"/>
                <a:gridCol w="1122491"/>
                <a:gridCol w="1122491"/>
              </a:tblGrid>
              <a:tr h="265176">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 crore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1</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2</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3</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4</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5</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6</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Yr 7</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Licence fee to ADA</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Payroll</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0.88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0.97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1.06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1.26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Electricity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Show AMC and spares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Water and horticulture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F&amp;B cost of goods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Marketing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Corporate overhead</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Other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0.35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65176">
                <a:tc>
                  <a:txBody>
                    <a:bodyPr/>
                    <a:lstStyle/>
                    <a:p>
                      <a:pPr algn="l" indent="0" marL="0">
                        <a:buNone/>
                      </a:pPr>
                      <a:r>
                        <a:rPr lang="en-US" sz="1050" b="1" dirty="0">
                          <a:solidFill>
                            <a:srgbClr val="0A1426"/>
                          </a:solidFill>
                          <a:latin typeface="Calibri" pitchFamily="34" charset="0"/>
                          <a:ea typeface="Calibri" pitchFamily="34" charset="-122"/>
                          <a:cs typeface="Calibri" pitchFamily="34" charset="-120"/>
                        </a:rPr>
                        <a:t>Total operating cost</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2.32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2.62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2.89</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3.15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3.72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50" b="1" dirty="0">
                          <a:solidFill>
                            <a:srgbClr val="0A1426"/>
                          </a:solidFill>
                          <a:latin typeface="Calibri" pitchFamily="34" charset="0"/>
                          <a:ea typeface="Calibri" pitchFamily="34" charset="-122"/>
                          <a:cs typeface="Calibri" pitchFamily="34" charset="-120"/>
                        </a:rPr>
                        <a:t>4.04</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265176">
                <a:tc>
                  <a:txBody>
                    <a:bodyPr/>
                    <a:lstStyle/>
                    <a:p>
                      <a:pPr algn="l" indent="0" marL="0">
                        <a:buNone/>
                      </a:pPr>
                      <a:r>
                        <a:rPr lang="en-US" sz="1050" b="1" dirty="0">
                          <a:solidFill>
                            <a:srgbClr val="3B4660"/>
                          </a:solidFill>
                          <a:latin typeface="Calibri" pitchFamily="34" charset="0"/>
                          <a:ea typeface="Calibri" pitchFamily="34" charset="-122"/>
                          <a:cs typeface="Calibri" pitchFamily="34" charset="-120"/>
                        </a:rPr>
                        <a:t>Revenue / EBITDA margin</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2.48 · 7%</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3.13 · 16%</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3.76 · 23%</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4.22 · 25%</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4.74 · 28%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5.17 · 28%</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5.75 · 30%</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bl>
          </a:graphicData>
        </a:graphic>
      </p:graphicFrame>
      <p:sp>
        <p:nvSpPr>
          <p:cNvPr id="7" name="Shape 4"/>
          <p:cNvSpPr/>
          <p:nvPr/>
        </p:nvSpPr>
        <p:spPr>
          <a:xfrm>
            <a:off x="566928" y="5054981"/>
            <a:ext cx="11057839" cy="1287363"/>
          </a:xfrm>
          <a:prstGeom prst="roundRect">
            <a:avLst>
              <a:gd name="adj" fmla="val 3551"/>
            </a:avLst>
          </a:prstGeom>
          <a:solidFill>
            <a:srgbClr val="FDF6EC"/>
          </a:solidFill>
          <a:ln w="15875">
            <a:solidFill>
              <a:srgbClr val="D97706"/>
            </a:solidFill>
            <a:prstDash val="solid"/>
          </a:ln>
        </p:spPr>
      </p:sp>
      <p:sp>
        <p:nvSpPr>
          <p:cNvPr id="8" name="Text 5"/>
          <p:cNvSpPr/>
          <p:nvPr/>
        </p:nvSpPr>
        <p:spPr>
          <a:xfrm>
            <a:off x="804672" y="5164709"/>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347589"/>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What is not in this model</a:t>
            </a:r>
            <a:endParaRPr lang="en-US" sz="1900" dirty="0"/>
          </a:p>
        </p:txBody>
      </p:sp>
      <p:sp>
        <p:nvSpPr>
          <p:cNvPr id="10" name="Text 7"/>
          <p:cNvSpPr/>
          <p:nvPr/>
        </p:nvSpPr>
        <p:spPr>
          <a:xfrm>
            <a:off x="804672" y="5691048"/>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CCTV integration, ex-servicemen at entry, police verification and six-monthly audits are costed above. What is not costed is replacing a laser or fountain asset that reaches end of life mid-term — that burden sits with the agency. Get the AMC history before bidding.</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Projection</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Year 1 loses money — a 15-day mobilisation window, a full-year licence fee from day one, and a park that has never opened to the public.</a:t>
            </a:r>
            <a:endParaRPr lang="en-US" sz="1250" dirty="0"/>
          </a:p>
        </p:txBody>
      </p:sp>
      <p:graphicFrame>
        <p:nvGraphicFramePr>
          <p:cNvPr id="6" name="Chart 0" descr=""/>
          <p:cNvGraphicFramePr/>
          <p:nvPr/>
        </p:nvGraphicFramePr>
        <p:xfrm>
          <a:off x="566928" y="1310132"/>
          <a:ext cx="11057839" cy="26974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4956048"/>
            <a:ext cx="3539642" cy="1133856"/>
          </a:xfrm>
          <a:prstGeom prst="roundRect">
            <a:avLst>
              <a:gd name="adj" fmla="val 4839"/>
            </a:avLst>
          </a:prstGeom>
          <a:solidFill>
            <a:srgbClr val="F5F6F8"/>
          </a:solidFill>
          <a:ln w="12700">
            <a:solidFill>
              <a:srgbClr val="E2E4EA"/>
            </a:solidFill>
            <a:prstDash val="solid"/>
          </a:ln>
        </p:spPr>
      </p:sp>
      <p:sp>
        <p:nvSpPr>
          <p:cNvPr id="8" name="Text 5"/>
          <p:cNvSpPr/>
          <p:nvPr/>
        </p:nvSpPr>
        <p:spPr>
          <a:xfrm>
            <a:off x="749808"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EBITDA BREAKEVEN</a:t>
            </a:r>
            <a:endParaRPr lang="en-US" sz="850" dirty="0"/>
          </a:p>
        </p:txBody>
      </p:sp>
      <p:sp>
        <p:nvSpPr>
          <p:cNvPr id="9" name="Text 6"/>
          <p:cNvSpPr/>
          <p:nvPr/>
        </p:nvSpPr>
        <p:spPr>
          <a:xfrm>
            <a:off x="749808" y="5321808"/>
            <a:ext cx="3173882"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Year 1</a:t>
            </a:r>
            <a:endParaRPr lang="en-US" sz="2000" dirty="0"/>
          </a:p>
        </p:txBody>
      </p:sp>
      <p:sp>
        <p:nvSpPr>
          <p:cNvPr id="10" name="Text 7"/>
          <p:cNvSpPr/>
          <p:nvPr/>
        </p:nvSpPr>
        <p:spPr>
          <a:xfrm>
            <a:off x="749808"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₹0.00 Cr of cumulative operating deficit</a:t>
            </a:r>
            <a:endParaRPr lang="en-US" sz="950" dirty="0"/>
          </a:p>
        </p:txBody>
      </p:sp>
      <p:sp>
        <p:nvSpPr>
          <p:cNvPr id="11" name="Shape 8"/>
          <p:cNvSpPr/>
          <p:nvPr/>
        </p:nvSpPr>
        <p:spPr>
          <a:xfrm>
            <a:off x="4326026" y="4956048"/>
            <a:ext cx="3539642" cy="1133856"/>
          </a:xfrm>
          <a:prstGeom prst="roundRect">
            <a:avLst>
              <a:gd name="adj" fmla="val 4839"/>
            </a:avLst>
          </a:prstGeom>
          <a:solidFill>
            <a:srgbClr val="F5F6F8"/>
          </a:solidFill>
          <a:ln w="12700">
            <a:solidFill>
              <a:srgbClr val="E2E4EA"/>
            </a:solidFill>
            <a:prstDash val="solid"/>
          </a:ln>
        </p:spPr>
      </p:sp>
      <p:sp>
        <p:nvSpPr>
          <p:cNvPr id="12" name="Text 9"/>
          <p:cNvSpPr/>
          <p:nvPr/>
        </p:nvSpPr>
        <p:spPr>
          <a:xfrm>
            <a:off x="4508906"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MARGIN AT MATURITY</a:t>
            </a:r>
            <a:endParaRPr lang="en-US" sz="850" dirty="0"/>
          </a:p>
        </p:txBody>
      </p:sp>
      <p:sp>
        <p:nvSpPr>
          <p:cNvPr id="13" name="Text 10"/>
          <p:cNvSpPr/>
          <p:nvPr/>
        </p:nvSpPr>
        <p:spPr>
          <a:xfrm>
            <a:off x="4508906"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29.8%</a:t>
            </a:r>
            <a:endParaRPr lang="en-US" sz="2600" dirty="0"/>
          </a:p>
        </p:txBody>
      </p:sp>
      <p:sp>
        <p:nvSpPr>
          <p:cNvPr id="14" name="Text 11"/>
          <p:cNvSpPr/>
          <p:nvPr/>
        </p:nvSpPr>
        <p:spPr>
          <a:xfrm>
            <a:off x="4508906"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Final year of the modelled term</a:t>
            </a:r>
            <a:endParaRPr lang="en-US" sz="950" dirty="0"/>
          </a:p>
        </p:txBody>
      </p:sp>
      <p:sp>
        <p:nvSpPr>
          <p:cNvPr id="15" name="Shape 12"/>
          <p:cNvSpPr/>
          <p:nvPr/>
        </p:nvSpPr>
        <p:spPr>
          <a:xfrm>
            <a:off x="8085125" y="4956048"/>
            <a:ext cx="3539642" cy="1133856"/>
          </a:xfrm>
          <a:prstGeom prst="roundRect">
            <a:avLst>
              <a:gd name="adj" fmla="val 4839"/>
            </a:avLst>
          </a:prstGeom>
          <a:solidFill>
            <a:srgbClr val="F5F6F8"/>
          </a:solidFill>
          <a:ln w="12700">
            <a:solidFill>
              <a:srgbClr val="E2E4EA"/>
            </a:solidFill>
            <a:prstDash val="solid"/>
          </a:ln>
        </p:spPr>
      </p:sp>
      <p:sp>
        <p:nvSpPr>
          <p:cNvPr id="16" name="Text 13"/>
          <p:cNvSpPr/>
          <p:nvPr/>
        </p:nvSpPr>
        <p:spPr>
          <a:xfrm>
            <a:off x="8268005" y="5074920"/>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CUMULATIVE EBITDA</a:t>
            </a:r>
            <a:endParaRPr lang="en-US" sz="850" dirty="0"/>
          </a:p>
        </p:txBody>
      </p:sp>
      <p:sp>
        <p:nvSpPr>
          <p:cNvPr id="17" name="Text 14"/>
          <p:cNvSpPr/>
          <p:nvPr/>
        </p:nvSpPr>
        <p:spPr>
          <a:xfrm>
            <a:off x="8268005" y="5321808"/>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₹7.10 Cr</a:t>
            </a:r>
            <a:endParaRPr lang="en-US" sz="2600" dirty="0"/>
          </a:p>
        </p:txBody>
      </p:sp>
      <p:sp>
        <p:nvSpPr>
          <p:cNvPr id="18" name="Text 15"/>
          <p:cNvSpPr/>
          <p:nvPr/>
        </p:nvSpPr>
        <p:spPr>
          <a:xfrm>
            <a:off x="8268005" y="5797296"/>
            <a:ext cx="3173882" cy="21945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Across the modelled term</a:t>
            </a:r>
            <a:endParaRPr lang="en-US" sz="950" dirty="0"/>
          </a:p>
        </p:txBody>
      </p:sp>
      <p:sp>
        <p:nvSpPr>
          <p:cNvPr id="19" name="Text 16"/>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Project returns</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Unlevered free cash flow to the project. Capital deployed is the true project cost — the revolving opex facility is financing, not project cost, so it is excluded here.</a:t>
            </a:r>
            <a:endParaRPr lang="en-US" sz="1250" dirty="0"/>
          </a:p>
        </p:txBody>
      </p:sp>
      <p:graphicFrame>
        <p:nvGraphicFramePr>
          <p:cNvPr id="6" name="Chart 0" descr=""/>
          <p:cNvGraphicFramePr/>
          <p:nvPr/>
        </p:nvGraphicFramePr>
        <p:xfrm>
          <a:off x="566928" y="1541272"/>
          <a:ext cx="11057839" cy="21945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964432"/>
            <a:ext cx="2599868" cy="1207008"/>
          </a:xfrm>
          <a:prstGeom prst="roundRect">
            <a:avLst>
              <a:gd name="adj" fmla="val 4545"/>
            </a:avLst>
          </a:prstGeom>
          <a:solidFill>
            <a:srgbClr val="F5F6F8"/>
          </a:solidFill>
          <a:ln w="12700">
            <a:solidFill>
              <a:srgbClr val="E2E4EA"/>
            </a:solidFill>
            <a:prstDash val="solid"/>
          </a:ln>
        </p:spPr>
      </p:sp>
      <p:sp>
        <p:nvSpPr>
          <p:cNvPr id="8" name="Text 5"/>
          <p:cNvSpPr/>
          <p:nvPr/>
        </p:nvSpPr>
        <p:spPr>
          <a:xfrm>
            <a:off x="749808"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PROJECT IRR</a:t>
            </a:r>
            <a:endParaRPr lang="en-US" sz="850" dirty="0"/>
          </a:p>
        </p:txBody>
      </p:sp>
      <p:sp>
        <p:nvSpPr>
          <p:cNvPr id="9" name="Text 6"/>
          <p:cNvSpPr/>
          <p:nvPr/>
        </p:nvSpPr>
        <p:spPr>
          <a:xfrm>
            <a:off x="749808"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43.3%</a:t>
            </a:r>
            <a:endParaRPr lang="en-US" sz="2600" dirty="0"/>
          </a:p>
        </p:txBody>
      </p:sp>
      <p:sp>
        <p:nvSpPr>
          <p:cNvPr id="10" name="Text 7"/>
          <p:cNvSpPr/>
          <p:nvPr/>
        </p:nvSpPr>
        <p:spPr>
          <a:xfrm>
            <a:off x="749808"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Unlevered, no extension value</a:t>
            </a:r>
            <a:endParaRPr lang="en-US" sz="950" dirty="0"/>
          </a:p>
        </p:txBody>
      </p:sp>
      <p:sp>
        <p:nvSpPr>
          <p:cNvPr id="11" name="Shape 8"/>
          <p:cNvSpPr/>
          <p:nvPr/>
        </p:nvSpPr>
        <p:spPr>
          <a:xfrm>
            <a:off x="3386252" y="3964432"/>
            <a:ext cx="2599868" cy="1207008"/>
          </a:xfrm>
          <a:prstGeom prst="roundRect">
            <a:avLst>
              <a:gd name="adj" fmla="val 4545"/>
            </a:avLst>
          </a:prstGeom>
          <a:solidFill>
            <a:srgbClr val="F5F6F8"/>
          </a:solidFill>
          <a:ln w="12700">
            <a:solidFill>
              <a:srgbClr val="E2E4EA"/>
            </a:solidFill>
            <a:prstDash val="solid"/>
          </a:ln>
        </p:spPr>
      </p:sp>
      <p:sp>
        <p:nvSpPr>
          <p:cNvPr id="12" name="Text 9"/>
          <p:cNvSpPr/>
          <p:nvPr/>
        </p:nvSpPr>
        <p:spPr>
          <a:xfrm>
            <a:off x="3569132"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PAYBACK</a:t>
            </a:r>
            <a:endParaRPr lang="en-US" sz="850" dirty="0"/>
          </a:p>
        </p:txBody>
      </p:sp>
      <p:sp>
        <p:nvSpPr>
          <p:cNvPr id="13" name="Text 10"/>
          <p:cNvSpPr/>
          <p:nvPr/>
        </p:nvSpPr>
        <p:spPr>
          <a:xfrm>
            <a:off x="3569132"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2.9 yrs</a:t>
            </a:r>
            <a:endParaRPr lang="en-US" sz="2600" dirty="0"/>
          </a:p>
        </p:txBody>
      </p:sp>
      <p:sp>
        <p:nvSpPr>
          <p:cNvPr id="14" name="Text 11"/>
          <p:cNvSpPr/>
          <p:nvPr/>
        </p:nvSpPr>
        <p:spPr>
          <a:xfrm>
            <a:off x="3569132"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From first deployment</a:t>
            </a:r>
            <a:endParaRPr lang="en-US" sz="950" dirty="0"/>
          </a:p>
        </p:txBody>
      </p:sp>
      <p:sp>
        <p:nvSpPr>
          <p:cNvPr id="15" name="Shape 12"/>
          <p:cNvSpPr/>
          <p:nvPr/>
        </p:nvSpPr>
        <p:spPr>
          <a:xfrm>
            <a:off x="6205576" y="3964432"/>
            <a:ext cx="2599868" cy="1207008"/>
          </a:xfrm>
          <a:prstGeom prst="roundRect">
            <a:avLst>
              <a:gd name="adj" fmla="val 4545"/>
            </a:avLst>
          </a:prstGeom>
          <a:solidFill>
            <a:srgbClr val="F5F6F8"/>
          </a:solidFill>
          <a:ln w="12700">
            <a:solidFill>
              <a:srgbClr val="E2E4EA"/>
            </a:solidFill>
            <a:prstDash val="solid"/>
          </a:ln>
        </p:spPr>
      </p:sp>
      <p:sp>
        <p:nvSpPr>
          <p:cNvPr id="16" name="Text 13"/>
          <p:cNvSpPr/>
          <p:nvPr/>
        </p:nvSpPr>
        <p:spPr>
          <a:xfrm>
            <a:off x="6388456"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COST OF CGTMSE DEBT</a:t>
            </a:r>
            <a:endParaRPr lang="en-US" sz="850" dirty="0"/>
          </a:p>
        </p:txBody>
      </p:sp>
      <p:sp>
        <p:nvSpPr>
          <p:cNvPr id="17" name="Text 14"/>
          <p:cNvSpPr/>
          <p:nvPr/>
        </p:nvSpPr>
        <p:spPr>
          <a:xfrm>
            <a:off x="6388456"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12.10%</a:t>
            </a:r>
            <a:endParaRPr lang="en-US" sz="2600" dirty="0"/>
          </a:p>
        </p:txBody>
      </p:sp>
      <p:sp>
        <p:nvSpPr>
          <p:cNvPr id="18" name="Text 15"/>
          <p:cNvSpPr/>
          <p:nvPr/>
        </p:nvSpPr>
        <p:spPr>
          <a:xfrm>
            <a:off x="6388456"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guarantee fee</a:t>
            </a:r>
            <a:endParaRPr lang="en-US" sz="950" dirty="0"/>
          </a:p>
        </p:txBody>
      </p:sp>
      <p:sp>
        <p:nvSpPr>
          <p:cNvPr id="19" name="Shape 16"/>
          <p:cNvSpPr/>
          <p:nvPr/>
        </p:nvSpPr>
        <p:spPr>
          <a:xfrm>
            <a:off x="9024899" y="3964432"/>
            <a:ext cx="2599868" cy="1207008"/>
          </a:xfrm>
          <a:prstGeom prst="roundRect">
            <a:avLst>
              <a:gd name="adj" fmla="val 4545"/>
            </a:avLst>
          </a:prstGeom>
          <a:solidFill>
            <a:srgbClr val="F5F6F8"/>
          </a:solidFill>
          <a:ln w="12700">
            <a:solidFill>
              <a:srgbClr val="E2E4EA"/>
            </a:solidFill>
            <a:prstDash val="solid"/>
          </a:ln>
        </p:spPr>
      </p:sp>
      <p:sp>
        <p:nvSpPr>
          <p:cNvPr id="20" name="Text 17"/>
          <p:cNvSpPr/>
          <p:nvPr/>
        </p:nvSpPr>
        <p:spPr>
          <a:xfrm>
            <a:off x="9207779" y="4083304"/>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SPREAD OVER DEBT</a:t>
            </a:r>
            <a:endParaRPr lang="en-US" sz="850" dirty="0"/>
          </a:p>
        </p:txBody>
      </p:sp>
      <p:sp>
        <p:nvSpPr>
          <p:cNvPr id="21" name="Text 18"/>
          <p:cNvSpPr/>
          <p:nvPr/>
        </p:nvSpPr>
        <p:spPr>
          <a:xfrm>
            <a:off x="9207779" y="4330192"/>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+31.2 pp</a:t>
            </a:r>
            <a:endParaRPr lang="en-US" sz="2600" dirty="0"/>
          </a:p>
        </p:txBody>
      </p:sp>
      <p:sp>
        <p:nvSpPr>
          <p:cNvPr id="22" name="Text 19"/>
          <p:cNvSpPr/>
          <p:nvPr/>
        </p:nvSpPr>
        <p:spPr>
          <a:xfrm>
            <a:off x="9207779" y="4805680"/>
            <a:ext cx="2234108" cy="292608"/>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Percentage points of project IRR above the cost of guaranteed debt</a:t>
            </a:r>
            <a:endParaRPr lang="en-US" sz="95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Scenarios</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Three drivers move this project: footfall, show conversion, and the licence fee you bid. The downside moves all three against you at once.</a:t>
            </a:r>
            <a:endParaRPr lang="en-US" sz="1250" dirty="0"/>
          </a:p>
        </p:txBody>
      </p:sp>
      <p:graphicFrame>
        <p:nvGraphicFramePr>
          <p:cNvPr id="6" name="Chart 0" descr=""/>
          <p:cNvGraphicFramePr/>
          <p:nvPr/>
        </p:nvGraphicFramePr>
        <p:xfrm>
          <a:off x="566928" y="1310132"/>
          <a:ext cx="11057839" cy="1965960"/>
        </p:xfrm>
        <a:graphic xmlns:a="http://schemas.openxmlformats.org/drawingml/2006/main">
          <a:graphicData uri="http://schemas.openxmlformats.org/drawingml/2006/chart">
            <c:chart xmlns:c="http://schemas.openxmlformats.org/drawingml/2006/chart" r:id="rId1"/>
          </a:graphicData>
        </a:graphic>
      </p:graphicFrame>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3504692"/>
          <a:ext cx="11057839" cy="914400"/>
        </p:xfrm>
        <a:graphic>
          <a:graphicData uri="http://schemas.openxmlformats.org/drawingml/2006/table">
            <a:tbl>
              <a:tblPr/>
              <a:tblGrid>
                <a:gridCol w="3291840"/>
                <a:gridCol w="2588666"/>
                <a:gridCol w="2588666"/>
                <a:gridCol w="2588666"/>
              </a:tblGrid>
              <a:tr h="292608">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Downside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Base case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Upside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Year 1 EBITDA</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₹-0.33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₹0.17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₹0.57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revenue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₹3.88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₹4.74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₹5.76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Stabilised EBITDA margin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11.4%</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37.5%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Payback</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Not within term</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2.9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1.8 yrs</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8" name="Shape 4"/>
          <p:cNvSpPr/>
          <p:nvPr/>
        </p:nvSpPr>
        <p:spPr>
          <a:xfrm>
            <a:off x="566928" y="3605276"/>
            <a:ext cx="11057839" cy="1287363"/>
          </a:xfrm>
          <a:prstGeom prst="roundRect">
            <a:avLst>
              <a:gd name="adj" fmla="val 3551"/>
            </a:avLst>
          </a:prstGeom>
          <a:solidFill>
            <a:srgbClr val="FBEFEC"/>
          </a:solidFill>
          <a:ln w="15875">
            <a:solidFill>
              <a:srgbClr val="C8553D"/>
            </a:solidFill>
            <a:prstDash val="solid"/>
          </a:ln>
        </p:spPr>
      </p:sp>
      <p:sp>
        <p:nvSpPr>
          <p:cNvPr id="9" name="Text 5"/>
          <p:cNvSpPr/>
          <p:nvPr/>
        </p:nvSpPr>
        <p:spPr>
          <a:xfrm>
            <a:off x="804672" y="3715004"/>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10" name="Text 6"/>
          <p:cNvSpPr/>
          <p:nvPr/>
        </p:nvSpPr>
        <p:spPr>
          <a:xfrm>
            <a:off x="804672" y="3897884"/>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downside is a bad bid, not a bad year</a:t>
            </a:r>
            <a:endParaRPr lang="en-US" sz="1900" dirty="0"/>
          </a:p>
        </p:txBody>
      </p:sp>
      <p:sp>
        <p:nvSpPr>
          <p:cNvPr id="11" name="Text 7"/>
          <p:cNvSpPr/>
          <p:nvPr/>
        </p:nvSpPr>
        <p:spPr>
          <a:xfrm>
            <a:off x="804672" y="4241343"/>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model solves the break-even licence fee at ₹80.9 L a year — ₹6.74 L a month, about 170% above ADA's reserve. Hold that line in the auction room.</a:t>
            </a:r>
            <a:endParaRPr lang="en-US" sz="1200" dirty="0"/>
          </a:p>
        </p:txBody>
      </p:sp>
      <p:sp>
        <p:nvSpPr>
          <p:cNvPr id="12"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A · Equity</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third party funds the project for a share of it. No repayment obligation, no covenant — and on these numbers the most expensive money on the table.</a:t>
            </a:r>
            <a:endParaRPr lang="en-US" sz="12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541272"/>
          <a:ext cx="11057839" cy="914400"/>
        </p:xfrm>
        <a:graphic>
          <a:graphicData uri="http://schemas.openxmlformats.org/drawingml/2006/table">
            <a:tbl>
              <a:tblPr/>
              <a:tblGrid>
                <a:gridCol w="6766560"/>
                <a:gridCol w="42912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Capital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Stake offered</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45%</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5, valued as the discounted remaining concession cash flow</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Exit equity value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₹1.94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Investor proceeds — dividends plus exit</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₹2.10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19.6%</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Stake needed to clear a 22% hurdle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775708"/>
            <a:ext cx="11057839" cy="1512428"/>
          </a:xfrm>
          <a:prstGeom prst="roundRect">
            <a:avLst>
              <a:gd name="adj" fmla="val 3023"/>
            </a:avLst>
          </a:prstGeom>
          <a:solidFill>
            <a:srgbClr val="FBEFEC"/>
          </a:solidFill>
          <a:ln w="15875">
            <a:solidFill>
              <a:srgbClr val="C8553D"/>
            </a:solidFill>
            <a:prstDash val="solid"/>
          </a:ln>
        </p:spPr>
      </p:sp>
      <p:sp>
        <p:nvSpPr>
          <p:cNvPr id="8" name="Text 5"/>
          <p:cNvSpPr/>
          <p:nvPr/>
        </p:nvSpPr>
        <p:spPr>
          <a:xfrm>
            <a:off x="804672" y="4885436"/>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06831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Project-level equity is the wrong instrument here</a:t>
            </a:r>
            <a:endParaRPr lang="en-US" sz="1900" dirty="0"/>
          </a:p>
        </p:txBody>
      </p:sp>
      <p:sp>
        <p:nvSpPr>
          <p:cNvPr id="10" name="Text 7"/>
          <p:cNvSpPr/>
          <p:nvPr/>
        </p:nvSpPr>
        <p:spPr>
          <a:xfrm>
            <a:off x="804672" y="5411775"/>
            <a:ext cx="10582351" cy="80320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At 45% the investor earns 19.6% — below a deposit rate. Clearing a conventional 22% hurdle would take 49% of the project. A seven-year concession generating ₹5.04 Cr of lifetime free cash flow cannot pay an equity return on ₹1.00 Cr and still leave E-O-D a reason to operate it. If equity is wanted, raise it at company level.</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B · Debt under CGTMSE</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A CGTMSE-guaranteed composite facility: a small term loan against mobilisation, and a revolving working-capital limit against the operating cycle. No collateral, no charge on ADA's assets — which matters, because there are none to charge.</a:t>
            </a:r>
            <a:endParaRPr lang="en-US" sz="1250" dirty="0"/>
          </a:p>
        </p:txBody>
      </p:sp>
      <p:graphicFrame>
        <p:nvGraphicFramePr>
          <p:cNvPr id="6" name="Chart 0" descr=""/>
          <p:cNvGraphicFramePr/>
          <p:nvPr/>
        </p:nvGraphicFramePr>
        <p:xfrm>
          <a:off x="566928" y="1541272"/>
          <a:ext cx="11057839" cy="18745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616960"/>
            <a:ext cx="2599868" cy="1152144"/>
          </a:xfrm>
          <a:prstGeom prst="roundRect">
            <a:avLst>
              <a:gd name="adj" fmla="val 4762"/>
            </a:avLst>
          </a:prstGeom>
          <a:solidFill>
            <a:srgbClr val="F5F6F8"/>
          </a:solidFill>
          <a:ln w="12700">
            <a:solidFill>
              <a:srgbClr val="E2E4EA"/>
            </a:solidFill>
            <a:prstDash val="solid"/>
          </a:ln>
        </p:spPr>
      </p:sp>
      <p:sp>
        <p:nvSpPr>
          <p:cNvPr id="8" name="Text 5"/>
          <p:cNvSpPr/>
          <p:nvPr/>
        </p:nvSpPr>
        <p:spPr>
          <a:xfrm>
            <a:off x="749808"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TOTAL FACILITY</a:t>
            </a:r>
            <a:endParaRPr lang="en-US" sz="850" dirty="0"/>
          </a:p>
        </p:txBody>
      </p:sp>
      <p:sp>
        <p:nvSpPr>
          <p:cNvPr id="9" name="Text 6"/>
          <p:cNvSpPr/>
          <p:nvPr/>
        </p:nvSpPr>
        <p:spPr>
          <a:xfrm>
            <a:off x="749808"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₹1.00 Cr</a:t>
            </a:r>
            <a:endParaRPr lang="en-US" sz="2600" dirty="0"/>
          </a:p>
        </p:txBody>
      </p:sp>
      <p:sp>
        <p:nvSpPr>
          <p:cNvPr id="10" name="Text 7"/>
          <p:cNvSpPr/>
          <p:nvPr/>
        </p:nvSpPr>
        <p:spPr>
          <a:xfrm>
            <a:off x="749808"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Term loan ₹0.80 Cr + working capital ₹0.20 Cr</a:t>
            </a:r>
            <a:endParaRPr lang="en-US" sz="950" dirty="0"/>
          </a:p>
        </p:txBody>
      </p:sp>
      <p:sp>
        <p:nvSpPr>
          <p:cNvPr id="11" name="Shape 8"/>
          <p:cNvSpPr/>
          <p:nvPr/>
        </p:nvSpPr>
        <p:spPr>
          <a:xfrm>
            <a:off x="3386252" y="3616960"/>
            <a:ext cx="2599868" cy="1152144"/>
          </a:xfrm>
          <a:prstGeom prst="roundRect">
            <a:avLst>
              <a:gd name="adj" fmla="val 4762"/>
            </a:avLst>
          </a:prstGeom>
          <a:solidFill>
            <a:srgbClr val="F5F6F8"/>
          </a:solidFill>
          <a:ln w="12700">
            <a:solidFill>
              <a:srgbClr val="E2E4EA"/>
            </a:solidFill>
            <a:prstDash val="solid"/>
          </a:ln>
        </p:spPr>
      </p:sp>
      <p:sp>
        <p:nvSpPr>
          <p:cNvPr id="12" name="Text 9"/>
          <p:cNvSpPr/>
          <p:nvPr/>
        </p:nvSpPr>
        <p:spPr>
          <a:xfrm>
            <a:off x="3569132"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ALL-IN RATE</a:t>
            </a:r>
            <a:endParaRPr lang="en-US" sz="850" dirty="0"/>
          </a:p>
        </p:txBody>
      </p:sp>
      <p:sp>
        <p:nvSpPr>
          <p:cNvPr id="13" name="Text 10"/>
          <p:cNvSpPr/>
          <p:nvPr/>
        </p:nvSpPr>
        <p:spPr>
          <a:xfrm>
            <a:off x="3569132" y="3982720"/>
            <a:ext cx="2234108" cy="457200"/>
          </a:xfrm>
          <a:prstGeom prst="rect">
            <a:avLst/>
          </a:prstGeom>
          <a:noFill/>
          <a:ln/>
        </p:spPr>
        <p:txBody>
          <a:bodyPr wrap="square" lIns="0" tIns="0" rIns="0" bIns="0" rtlCol="0" anchor="t">
            <a:normAutofit/>
          </a:bodyPr>
          <a:lstStyle/>
          <a:p>
            <a:pPr indent="0" marL="0">
              <a:buNone/>
            </a:pPr>
            <a:r>
              <a:rPr lang="en-US" sz="2000" b="1" dirty="0">
                <a:solidFill>
                  <a:srgbClr val="0A1426"/>
                </a:solidFill>
                <a:latin typeface="Calibri" pitchFamily="34" charset="0"/>
                <a:ea typeface="Calibri" pitchFamily="34" charset="-122"/>
                <a:cs typeface="Calibri" pitchFamily="34" charset="-120"/>
              </a:rPr>
              <a:t>11.50% + 0.60%</a:t>
            </a:r>
            <a:endParaRPr lang="en-US" sz="2000" dirty="0"/>
          </a:p>
        </p:txBody>
      </p:sp>
      <p:sp>
        <p:nvSpPr>
          <p:cNvPr id="14" name="Text 11"/>
          <p:cNvSpPr/>
          <p:nvPr/>
        </p:nvSpPr>
        <p:spPr>
          <a:xfrm>
            <a:off x="3569132"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Interest plus annual guarantee fee</a:t>
            </a:r>
            <a:endParaRPr lang="en-US" sz="950" dirty="0"/>
          </a:p>
        </p:txBody>
      </p:sp>
      <p:sp>
        <p:nvSpPr>
          <p:cNvPr id="15" name="Shape 12"/>
          <p:cNvSpPr/>
          <p:nvPr/>
        </p:nvSpPr>
        <p:spPr>
          <a:xfrm>
            <a:off x="6205576" y="3616960"/>
            <a:ext cx="2599868" cy="1152144"/>
          </a:xfrm>
          <a:prstGeom prst="roundRect">
            <a:avLst>
              <a:gd name="adj" fmla="val 4762"/>
            </a:avLst>
          </a:prstGeom>
          <a:solidFill>
            <a:srgbClr val="F5F6F8"/>
          </a:solidFill>
          <a:ln w="12700">
            <a:solidFill>
              <a:srgbClr val="E2E4EA"/>
            </a:solidFill>
            <a:prstDash val="solid"/>
          </a:ln>
        </p:spPr>
      </p:sp>
      <p:sp>
        <p:nvSpPr>
          <p:cNvPr id="16" name="Text 13"/>
          <p:cNvSpPr/>
          <p:nvPr/>
        </p:nvSpPr>
        <p:spPr>
          <a:xfrm>
            <a:off x="6388456"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MINIMUM DSCR</a:t>
            </a:r>
            <a:endParaRPr lang="en-US" sz="850" dirty="0"/>
          </a:p>
        </p:txBody>
      </p:sp>
      <p:sp>
        <p:nvSpPr>
          <p:cNvPr id="17" name="Text 14"/>
          <p:cNvSpPr/>
          <p:nvPr/>
        </p:nvSpPr>
        <p:spPr>
          <a:xfrm>
            <a:off x="6388456"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10B981"/>
                </a:solidFill>
                <a:latin typeface="Calibri" pitchFamily="34" charset="0"/>
                <a:ea typeface="Calibri" pitchFamily="34" charset="-122"/>
                <a:cs typeface="Calibri" pitchFamily="34" charset="-120"/>
              </a:rPr>
              <a:t>2.07×</a:t>
            </a:r>
            <a:endParaRPr lang="en-US" sz="2600" dirty="0"/>
          </a:p>
        </p:txBody>
      </p:sp>
      <p:sp>
        <p:nvSpPr>
          <p:cNvPr id="18" name="Text 15"/>
          <p:cNvSpPr/>
          <p:nvPr/>
        </p:nvSpPr>
        <p:spPr>
          <a:xfrm>
            <a:off x="6388456"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After the 1-year moratorium. Banks underwrite to 1.30×</a:t>
            </a:r>
            <a:endParaRPr lang="en-US" sz="950" dirty="0"/>
          </a:p>
        </p:txBody>
      </p:sp>
      <p:sp>
        <p:nvSpPr>
          <p:cNvPr id="19" name="Shape 16"/>
          <p:cNvSpPr/>
          <p:nvPr/>
        </p:nvSpPr>
        <p:spPr>
          <a:xfrm>
            <a:off x="9024899" y="3616960"/>
            <a:ext cx="2599868" cy="1152144"/>
          </a:xfrm>
          <a:prstGeom prst="roundRect">
            <a:avLst>
              <a:gd name="adj" fmla="val 4762"/>
            </a:avLst>
          </a:prstGeom>
          <a:solidFill>
            <a:srgbClr val="F5F6F8"/>
          </a:solidFill>
          <a:ln w="12700">
            <a:solidFill>
              <a:srgbClr val="E2E4EA"/>
            </a:solidFill>
            <a:prstDash val="solid"/>
          </a:ln>
        </p:spPr>
      </p:sp>
      <p:sp>
        <p:nvSpPr>
          <p:cNvPr id="20" name="Text 17"/>
          <p:cNvSpPr/>
          <p:nvPr/>
        </p:nvSpPr>
        <p:spPr>
          <a:xfrm>
            <a:off x="9207779" y="3735832"/>
            <a:ext cx="2234108"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DEBT CAPACITY</a:t>
            </a:r>
            <a:endParaRPr lang="en-US" sz="850" dirty="0"/>
          </a:p>
        </p:txBody>
      </p:sp>
      <p:sp>
        <p:nvSpPr>
          <p:cNvPr id="21" name="Text 18"/>
          <p:cNvSpPr/>
          <p:nvPr/>
        </p:nvSpPr>
        <p:spPr>
          <a:xfrm>
            <a:off x="9207779" y="3982720"/>
            <a:ext cx="2234108"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₹1.62 Cr</a:t>
            </a:r>
            <a:endParaRPr lang="en-US" sz="2600" dirty="0"/>
          </a:p>
        </p:txBody>
      </p:sp>
      <p:sp>
        <p:nvSpPr>
          <p:cNvPr id="22" name="Text 19"/>
          <p:cNvSpPr/>
          <p:nvPr/>
        </p:nvSpPr>
        <p:spPr>
          <a:xfrm>
            <a:off x="9207779" y="4458208"/>
            <a:ext cx="2234108" cy="237744"/>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Most the project services at a 1.3× floor</a:t>
            </a:r>
            <a:endParaRPr lang="en-US" sz="950" dirty="0"/>
          </a:p>
        </p:txBody>
      </p:sp>
      <p:sp>
        <p:nvSpPr>
          <p:cNvPr id="23" name="Shape 20"/>
          <p:cNvSpPr/>
          <p:nvPr/>
        </p:nvSpPr>
        <p:spPr>
          <a:xfrm>
            <a:off x="566928" y="5061712"/>
            <a:ext cx="11057839" cy="1287363"/>
          </a:xfrm>
          <a:prstGeom prst="roundRect">
            <a:avLst>
              <a:gd name="adj" fmla="val 3551"/>
            </a:avLst>
          </a:prstGeom>
          <a:solidFill>
            <a:srgbClr val="EDFAF4"/>
          </a:solidFill>
          <a:ln w="15875">
            <a:solidFill>
              <a:srgbClr val="10B981"/>
            </a:solidFill>
            <a:prstDash val="solid"/>
          </a:ln>
        </p:spPr>
      </p:sp>
      <p:sp>
        <p:nvSpPr>
          <p:cNvPr id="24" name="Text 21"/>
          <p:cNvSpPr/>
          <p:nvPr/>
        </p:nvSpPr>
        <p:spPr>
          <a:xfrm>
            <a:off x="804672" y="5171440"/>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25" name="Text 22"/>
          <p:cNvSpPr/>
          <p:nvPr/>
        </p:nvSpPr>
        <p:spPr>
          <a:xfrm>
            <a:off x="804672" y="535432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The facility fits — but the moratorium is doing the work</a:t>
            </a:r>
            <a:endParaRPr lang="en-US" sz="1900" dirty="0"/>
          </a:p>
        </p:txBody>
      </p:sp>
      <p:sp>
        <p:nvSpPr>
          <p:cNvPr id="26" name="Text 23"/>
          <p:cNvSpPr/>
          <p:nvPr/>
        </p:nvSpPr>
        <p:spPr>
          <a:xfrm>
            <a:off x="804672" y="5697779"/>
            <a:ext cx="10582351" cy="578145"/>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three-year principal moratorium pushes the first repayment into year 4, when EBITDA is ₹1.06 Cr rather than ₹0.51 Cr. A bank offering this with a one-year moratorium is offering a facility that defaults in year 2.</a:t>
            </a:r>
            <a:endParaRPr lang="en-US" sz="1200" dirty="0"/>
          </a:p>
        </p:txBody>
      </p:sp>
      <p:sp>
        <p:nvSpPr>
          <p:cNvPr id="27" name="Text 24"/>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Option C · Debt converted to equity</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Money in as debt, a coupon while the project ramps, then compulsory conversion into equity on a formula fixed the day it is issued.</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7680960"/>
                <a:gridCol w="3376879"/>
              </a:tblGrid>
              <a:tr h="329184">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Term</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Structure</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Principal</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₹1.00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annually until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 — compulsory, not at the holder's option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End of year 3</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Conversion stake</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38%</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rgbClr val="3B4660"/>
                          </a:solidFill>
                          <a:latin typeface="Calibri" pitchFamily="34" charset="0"/>
                          <a:ea typeface="Calibri" pitchFamily="34" charset="-122"/>
                          <a:cs typeface="Calibri" pitchFamily="34" charset="-120"/>
                        </a:rPr>
                        <a:t>Coupon paid to conversion</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100" dirty="0">
                          <a:solidFill>
                            <a:srgbClr val="3B4660"/>
                          </a:solidFill>
                          <a:latin typeface="Calibri" pitchFamily="34" charset="0"/>
                          <a:ea typeface="Calibri" pitchFamily="34" charset="-122"/>
                          <a:cs typeface="Calibri" pitchFamily="34" charset="-120"/>
                        </a:rPr>
                        <a:t>₹0.24 Cr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rgbClr val="0A1426"/>
                          </a:solidFill>
                          <a:latin typeface="Calibri" pitchFamily="34" charset="0"/>
                          <a:ea typeface="Calibri" pitchFamily="34" charset="-122"/>
                          <a:cs typeface="Calibri" pitchFamily="34" charset="-120"/>
                        </a:rPr>
                        <a:t>Investor IRR</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100" b="1" dirty="0">
                          <a:solidFill>
                            <a:srgbClr val="0A1426"/>
                          </a:solidFill>
                          <a:latin typeface="Calibri" pitchFamily="34" charset="0"/>
                          <a:ea typeface="Calibri" pitchFamily="34" charset="-122"/>
                          <a:cs typeface="Calibri" pitchFamily="34" charset="-120"/>
                        </a:rPr>
                        <a:t>11.7%</a:t>
                      </a:r>
                      <a:endParaRPr lang="en-US" sz="11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3961892"/>
            <a:ext cx="11057839" cy="1962556"/>
          </a:xfrm>
          <a:prstGeom prst="roundRect">
            <a:avLst>
              <a:gd name="adj" fmla="val 2330"/>
            </a:avLst>
          </a:prstGeom>
          <a:solidFill>
            <a:srgbClr val="FBEFEC"/>
          </a:solidFill>
          <a:ln w="15875">
            <a:solidFill>
              <a:srgbClr val="C8553D"/>
            </a:solidFill>
            <a:prstDash val="solid"/>
          </a:ln>
        </p:spPr>
      </p:sp>
      <p:sp>
        <p:nvSpPr>
          <p:cNvPr id="8" name="Text 5"/>
          <p:cNvSpPr/>
          <p:nvPr/>
        </p:nvSpPr>
        <p:spPr>
          <a:xfrm>
            <a:off x="804672" y="407162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4254500"/>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Worse than either pure option, at project level</a:t>
            </a:r>
            <a:endParaRPr lang="en-US" sz="1900" dirty="0"/>
          </a:p>
        </p:txBody>
      </p:sp>
      <p:sp>
        <p:nvSpPr>
          <p:cNvPr id="10" name="Text 7"/>
          <p:cNvSpPr/>
          <p:nvPr/>
        </p:nvSpPr>
        <p:spPr>
          <a:xfrm>
            <a:off x="804672" y="4597959"/>
            <a:ext cx="10582351" cy="1253338"/>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CCD returns 11.7% — below the equity case, because the coupon years consume the cash the project needs while ramping. It combines the cash-flow burden of debt with the dilution of equity and the guarantee benefit of neither.</a:t>
            </a:r>
            <a:endParaRPr lang="en-US" sz="1200" dirty="0"/>
          </a:p>
          <a:p>
            <a:pPr indent="0" marL="0">
              <a:lnSpc>
                <a:spcPts val="1704"/>
              </a:lnSpc>
              <a:buNone/>
            </a:pPr>
            <a:endParaRPr lang="en-US" sz="1200" dirty="0"/>
          </a:p>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If a CCD is used anywhere: the conversion formula must be fixed on the date of issue, or it fails the FEMA pricing test and becomes external commercial borrowing. Until it converts it is borrowing on the balance sheet.</a:t>
            </a:r>
            <a:endParaRPr lang="en-US" sz="12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Which option, and why</a:t>
            </a:r>
            <a:endParaRPr lang="en-US" sz="3000" dirty="0"/>
          </a:p>
        </p:txBody>
      </p:sp>
      <p:sp>
        <p:nvSpPr>
          <p:cNvPr id="5" name="Shape 3"/>
          <p:cNvSpPr/>
          <p:nvPr/>
        </p:nvSpPr>
        <p:spPr>
          <a:xfrm>
            <a:off x="566928" y="1133856"/>
            <a:ext cx="3527450" cy="2889504"/>
          </a:xfrm>
          <a:prstGeom prst="roundRect">
            <a:avLst>
              <a:gd name="adj" fmla="val 1899"/>
            </a:avLst>
          </a:prstGeom>
          <a:solidFill>
            <a:srgbClr val="FFFFFF"/>
          </a:solidFill>
          <a:ln w="12700">
            <a:solidFill>
              <a:srgbClr val="E2E4EA"/>
            </a:solidFill>
            <a:prstDash val="solid"/>
          </a:ln>
        </p:spPr>
      </p:sp>
      <p:sp>
        <p:nvSpPr>
          <p:cNvPr id="6" name="Text 4"/>
          <p:cNvSpPr/>
          <p:nvPr/>
        </p:nvSpPr>
        <p:spPr>
          <a:xfrm>
            <a:off x="768096"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A</a:t>
            </a:r>
            <a:endParaRPr lang="en-US" sz="850" dirty="0"/>
          </a:p>
        </p:txBody>
      </p:sp>
      <p:sp>
        <p:nvSpPr>
          <p:cNvPr id="7" name="Text 5"/>
          <p:cNvSpPr/>
          <p:nvPr/>
        </p:nvSpPr>
        <p:spPr>
          <a:xfrm>
            <a:off x="768096"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Equity</a:t>
            </a:r>
            <a:endParaRPr lang="en-US" sz="1500" dirty="0"/>
          </a:p>
        </p:txBody>
      </p:sp>
      <p:sp>
        <p:nvSpPr>
          <p:cNvPr id="8" name="Text 6"/>
          <p:cNvSpPr/>
          <p:nvPr/>
        </p:nvSpPr>
        <p:spPr>
          <a:xfrm>
            <a:off x="768096" y="1847088"/>
            <a:ext cx="3125114" cy="475488"/>
          </a:xfrm>
          <a:prstGeom prst="rect">
            <a:avLst/>
          </a:prstGeom>
          <a:noFill/>
          <a:ln/>
        </p:spPr>
        <p:txBody>
          <a:bodyPr wrap="square" lIns="0" tIns="0" rIns="0" bIns="0" rtlCol="0" anchor="t"/>
          <a:lstStyle/>
          <a:p>
            <a:pPr indent="0" marL="0">
              <a:buNone/>
            </a:pPr>
            <a:r>
              <a:rPr lang="en-US" sz="3000" b="1" dirty="0">
                <a:solidFill>
                  <a:srgbClr val="10B981"/>
                </a:solidFill>
                <a:latin typeface="Calibri" pitchFamily="34" charset="0"/>
                <a:ea typeface="Calibri" pitchFamily="34" charset="-122"/>
                <a:cs typeface="Calibri" pitchFamily="34" charset="-120"/>
              </a:rPr>
              <a:t>19.6%</a:t>
            </a:r>
            <a:endParaRPr lang="en-US" sz="3000" dirty="0"/>
          </a:p>
        </p:txBody>
      </p:sp>
      <p:sp>
        <p:nvSpPr>
          <p:cNvPr id="9" name="Text 7"/>
          <p:cNvSpPr/>
          <p:nvPr/>
        </p:nvSpPr>
        <p:spPr>
          <a:xfrm>
            <a:off x="768096"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10" name="Shape 8"/>
          <p:cNvSpPr/>
          <p:nvPr/>
        </p:nvSpPr>
        <p:spPr>
          <a:xfrm>
            <a:off x="768096" y="2651760"/>
            <a:ext cx="3125114" cy="7315"/>
          </a:xfrm>
          <a:prstGeom prst="rect">
            <a:avLst/>
          </a:prstGeom>
          <a:solidFill>
            <a:srgbClr val="E2E4EA"/>
          </a:solidFill>
          <a:ln/>
        </p:spPr>
      </p:sp>
      <p:sp>
        <p:nvSpPr>
          <p:cNvPr id="11" name="Text 9"/>
          <p:cNvSpPr/>
          <p:nvPr/>
        </p:nvSpPr>
        <p:spPr>
          <a:xfrm>
            <a:off x="768096"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Capital in</a:t>
            </a:r>
            <a:endParaRPr lang="en-US" sz="950" dirty="0"/>
          </a:p>
        </p:txBody>
      </p:sp>
      <p:sp>
        <p:nvSpPr>
          <p:cNvPr id="12" name="Text 10"/>
          <p:cNvSpPr/>
          <p:nvPr/>
        </p:nvSpPr>
        <p:spPr>
          <a:xfrm>
            <a:off x="2518160"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 Cr</a:t>
            </a:r>
            <a:endParaRPr lang="en-US" sz="950" dirty="0"/>
          </a:p>
        </p:txBody>
      </p:sp>
      <p:sp>
        <p:nvSpPr>
          <p:cNvPr id="13" name="Shape 11"/>
          <p:cNvSpPr/>
          <p:nvPr/>
        </p:nvSpPr>
        <p:spPr>
          <a:xfrm>
            <a:off x="768096" y="2980944"/>
            <a:ext cx="3125114" cy="7315"/>
          </a:xfrm>
          <a:prstGeom prst="rect">
            <a:avLst/>
          </a:prstGeom>
          <a:solidFill>
            <a:srgbClr val="E2E4EA"/>
          </a:solidFill>
          <a:ln/>
        </p:spPr>
      </p:sp>
      <p:sp>
        <p:nvSpPr>
          <p:cNvPr id="14" name="Text 12"/>
          <p:cNvSpPr/>
          <p:nvPr/>
        </p:nvSpPr>
        <p:spPr>
          <a:xfrm>
            <a:off x="768096"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offered</a:t>
            </a:r>
            <a:endParaRPr lang="en-US" sz="950" dirty="0"/>
          </a:p>
        </p:txBody>
      </p:sp>
      <p:sp>
        <p:nvSpPr>
          <p:cNvPr id="15" name="Text 13"/>
          <p:cNvSpPr/>
          <p:nvPr/>
        </p:nvSpPr>
        <p:spPr>
          <a:xfrm>
            <a:off x="2518160"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45%</a:t>
            </a:r>
            <a:endParaRPr lang="en-US" sz="950" dirty="0"/>
          </a:p>
        </p:txBody>
      </p:sp>
      <p:sp>
        <p:nvSpPr>
          <p:cNvPr id="16" name="Shape 14"/>
          <p:cNvSpPr/>
          <p:nvPr/>
        </p:nvSpPr>
        <p:spPr>
          <a:xfrm>
            <a:off x="768096" y="3310128"/>
            <a:ext cx="3125114" cy="7315"/>
          </a:xfrm>
          <a:prstGeom prst="rect">
            <a:avLst/>
          </a:prstGeom>
          <a:solidFill>
            <a:srgbClr val="E2E4EA"/>
          </a:solidFill>
          <a:ln/>
        </p:spPr>
      </p:sp>
      <p:sp>
        <p:nvSpPr>
          <p:cNvPr id="17" name="Text 15"/>
          <p:cNvSpPr/>
          <p:nvPr/>
        </p:nvSpPr>
        <p:spPr>
          <a:xfrm>
            <a:off x="768096"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18" name="Text 16"/>
          <p:cNvSpPr/>
          <p:nvPr/>
        </p:nvSpPr>
        <p:spPr>
          <a:xfrm>
            <a:off x="2518160"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2.10×</a:t>
            </a:r>
            <a:endParaRPr lang="en-US" sz="950" dirty="0"/>
          </a:p>
        </p:txBody>
      </p:sp>
      <p:sp>
        <p:nvSpPr>
          <p:cNvPr id="19" name="Shape 17"/>
          <p:cNvSpPr/>
          <p:nvPr/>
        </p:nvSpPr>
        <p:spPr>
          <a:xfrm>
            <a:off x="768096" y="3639312"/>
            <a:ext cx="3125114" cy="7315"/>
          </a:xfrm>
          <a:prstGeom prst="rect">
            <a:avLst/>
          </a:prstGeom>
          <a:solidFill>
            <a:srgbClr val="E2E4EA"/>
          </a:solidFill>
          <a:ln/>
        </p:spPr>
      </p:sp>
      <p:sp>
        <p:nvSpPr>
          <p:cNvPr id="20" name="Text 18"/>
          <p:cNvSpPr/>
          <p:nvPr/>
        </p:nvSpPr>
        <p:spPr>
          <a:xfrm>
            <a:off x="768096"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for a 22% IRR</a:t>
            </a:r>
            <a:endParaRPr lang="en-US" sz="950" dirty="0"/>
          </a:p>
        </p:txBody>
      </p:sp>
      <p:sp>
        <p:nvSpPr>
          <p:cNvPr id="21" name="Text 19"/>
          <p:cNvSpPr/>
          <p:nvPr/>
        </p:nvSpPr>
        <p:spPr>
          <a:xfrm>
            <a:off x="2518160"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49%</a:t>
            </a:r>
            <a:endParaRPr lang="en-US" sz="950" dirty="0"/>
          </a:p>
        </p:txBody>
      </p:sp>
      <p:sp>
        <p:nvSpPr>
          <p:cNvPr id="22" name="Shape 20"/>
          <p:cNvSpPr/>
          <p:nvPr/>
        </p:nvSpPr>
        <p:spPr>
          <a:xfrm>
            <a:off x="4332122" y="1133856"/>
            <a:ext cx="3527450" cy="2889504"/>
          </a:xfrm>
          <a:prstGeom prst="roundRect">
            <a:avLst>
              <a:gd name="adj" fmla="val 1899"/>
            </a:avLst>
          </a:prstGeom>
          <a:solidFill>
            <a:srgbClr val="EDFAF4"/>
          </a:solidFill>
          <a:ln w="19050">
            <a:solidFill>
              <a:srgbClr val="10B981"/>
            </a:solidFill>
            <a:prstDash val="solid"/>
          </a:ln>
        </p:spPr>
      </p:sp>
      <p:sp>
        <p:nvSpPr>
          <p:cNvPr id="23" name="Text 21"/>
          <p:cNvSpPr/>
          <p:nvPr/>
        </p:nvSpPr>
        <p:spPr>
          <a:xfrm>
            <a:off x="4533290" y="1298448"/>
            <a:ext cx="3125114" cy="201168"/>
          </a:xfrm>
          <a:prstGeom prst="rect">
            <a:avLst/>
          </a:prstGeom>
          <a:noFill/>
          <a:ln/>
        </p:spPr>
        <p:txBody>
          <a:bodyPr wrap="square" lIns="0" tIns="0" rIns="0" bIns="0" rtlCol="0" anchor="ctr"/>
          <a:lstStyle/>
          <a:p>
            <a:pPr indent="0" marL="0">
              <a:buNone/>
            </a:pPr>
            <a:r>
              <a:rPr lang="en-US" sz="850" b="1" spc="140" kern="0" dirty="0">
                <a:solidFill>
                  <a:srgbClr val="10B981"/>
                </a:solidFill>
                <a:latin typeface="Calibri" pitchFamily="34" charset="0"/>
                <a:ea typeface="Calibri" pitchFamily="34" charset="-122"/>
                <a:cs typeface="Calibri" pitchFamily="34" charset="-120"/>
              </a:rPr>
              <a:t>OPTION B</a:t>
            </a:r>
            <a:endParaRPr lang="en-US" sz="850" dirty="0"/>
          </a:p>
        </p:txBody>
      </p:sp>
      <p:sp>
        <p:nvSpPr>
          <p:cNvPr id="24" name="Text 22"/>
          <p:cNvSpPr/>
          <p:nvPr/>
        </p:nvSpPr>
        <p:spPr>
          <a:xfrm>
            <a:off x="4533290"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CGTMSE</a:t>
            </a:r>
            <a:endParaRPr lang="en-US" sz="1500" dirty="0"/>
          </a:p>
        </p:txBody>
      </p:sp>
      <p:sp>
        <p:nvSpPr>
          <p:cNvPr id="25" name="Text 23"/>
          <p:cNvSpPr/>
          <p:nvPr/>
        </p:nvSpPr>
        <p:spPr>
          <a:xfrm>
            <a:off x="4533290" y="1847088"/>
            <a:ext cx="3125114" cy="475488"/>
          </a:xfrm>
          <a:prstGeom prst="rect">
            <a:avLst/>
          </a:prstGeom>
          <a:noFill/>
          <a:ln/>
        </p:spPr>
        <p:txBody>
          <a:bodyPr wrap="square" lIns="0" tIns="0" rIns="0" bIns="0" rtlCol="0" anchor="t"/>
          <a:lstStyle/>
          <a:p>
            <a:pPr indent="0" marL="0">
              <a:buNone/>
            </a:pPr>
            <a:r>
              <a:rPr lang="en-US" sz="3000" b="1" dirty="0">
                <a:solidFill>
                  <a:srgbClr val="10B981"/>
                </a:solidFill>
                <a:latin typeface="Calibri" pitchFamily="34" charset="0"/>
                <a:ea typeface="Calibri" pitchFamily="34" charset="-122"/>
                <a:cs typeface="Calibri" pitchFamily="34" charset="-120"/>
              </a:rPr>
              <a:t>2.07×</a:t>
            </a:r>
            <a:endParaRPr lang="en-US" sz="3000" dirty="0"/>
          </a:p>
        </p:txBody>
      </p:sp>
      <p:sp>
        <p:nvSpPr>
          <p:cNvPr id="26" name="Text 24"/>
          <p:cNvSpPr/>
          <p:nvPr/>
        </p:nvSpPr>
        <p:spPr>
          <a:xfrm>
            <a:off x="4533290"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MINIMUM DSCR · THIS FACILITY</a:t>
            </a:r>
            <a:endParaRPr lang="en-US" sz="850" dirty="0"/>
          </a:p>
        </p:txBody>
      </p:sp>
      <p:sp>
        <p:nvSpPr>
          <p:cNvPr id="27" name="Shape 25"/>
          <p:cNvSpPr/>
          <p:nvPr/>
        </p:nvSpPr>
        <p:spPr>
          <a:xfrm>
            <a:off x="4533290" y="2651760"/>
            <a:ext cx="3125114" cy="7315"/>
          </a:xfrm>
          <a:prstGeom prst="rect">
            <a:avLst/>
          </a:prstGeom>
          <a:solidFill>
            <a:srgbClr val="E2E4EA"/>
          </a:solidFill>
          <a:ln/>
        </p:spPr>
      </p:sp>
      <p:sp>
        <p:nvSpPr>
          <p:cNvPr id="28" name="Text 26"/>
          <p:cNvSpPr/>
          <p:nvPr/>
        </p:nvSpPr>
        <p:spPr>
          <a:xfrm>
            <a:off x="4533290"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Facility</a:t>
            </a:r>
            <a:endParaRPr lang="en-US" sz="950" dirty="0"/>
          </a:p>
        </p:txBody>
      </p:sp>
      <p:sp>
        <p:nvSpPr>
          <p:cNvPr id="29" name="Text 27"/>
          <p:cNvSpPr/>
          <p:nvPr/>
        </p:nvSpPr>
        <p:spPr>
          <a:xfrm>
            <a:off x="6283354"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 Cr</a:t>
            </a:r>
            <a:endParaRPr lang="en-US" sz="950" dirty="0"/>
          </a:p>
        </p:txBody>
      </p:sp>
      <p:sp>
        <p:nvSpPr>
          <p:cNvPr id="30" name="Shape 28"/>
          <p:cNvSpPr/>
          <p:nvPr/>
        </p:nvSpPr>
        <p:spPr>
          <a:xfrm>
            <a:off x="4533290" y="2980944"/>
            <a:ext cx="3125114" cy="7315"/>
          </a:xfrm>
          <a:prstGeom prst="rect">
            <a:avLst/>
          </a:prstGeom>
          <a:solidFill>
            <a:srgbClr val="E2E4EA"/>
          </a:solidFill>
          <a:ln/>
        </p:spPr>
      </p:sp>
      <p:sp>
        <p:nvSpPr>
          <p:cNvPr id="31" name="Text 29"/>
          <p:cNvSpPr/>
          <p:nvPr/>
        </p:nvSpPr>
        <p:spPr>
          <a:xfrm>
            <a:off x="4533290"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Term loan / WC</a:t>
            </a:r>
            <a:endParaRPr lang="en-US" sz="950" dirty="0"/>
          </a:p>
        </p:txBody>
      </p:sp>
      <p:sp>
        <p:nvSpPr>
          <p:cNvPr id="32" name="Text 30"/>
          <p:cNvSpPr/>
          <p:nvPr/>
        </p:nvSpPr>
        <p:spPr>
          <a:xfrm>
            <a:off x="6283354"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0.80 / 0.20</a:t>
            </a:r>
            <a:endParaRPr lang="en-US" sz="950" dirty="0"/>
          </a:p>
        </p:txBody>
      </p:sp>
      <p:sp>
        <p:nvSpPr>
          <p:cNvPr id="33" name="Shape 31"/>
          <p:cNvSpPr/>
          <p:nvPr/>
        </p:nvSpPr>
        <p:spPr>
          <a:xfrm>
            <a:off x="4533290" y="3310128"/>
            <a:ext cx="3125114" cy="7315"/>
          </a:xfrm>
          <a:prstGeom prst="rect">
            <a:avLst/>
          </a:prstGeom>
          <a:solidFill>
            <a:srgbClr val="E2E4EA"/>
          </a:solidFill>
          <a:ln/>
        </p:spPr>
      </p:sp>
      <p:sp>
        <p:nvSpPr>
          <p:cNvPr id="34" name="Text 32"/>
          <p:cNvSpPr/>
          <p:nvPr/>
        </p:nvSpPr>
        <p:spPr>
          <a:xfrm>
            <a:off x="4533290"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All-in rate</a:t>
            </a:r>
            <a:endParaRPr lang="en-US" sz="950" dirty="0"/>
          </a:p>
        </p:txBody>
      </p:sp>
      <p:sp>
        <p:nvSpPr>
          <p:cNvPr id="35" name="Text 33"/>
          <p:cNvSpPr/>
          <p:nvPr/>
        </p:nvSpPr>
        <p:spPr>
          <a:xfrm>
            <a:off x="6283354"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11.50% + fee</a:t>
            </a:r>
            <a:endParaRPr lang="en-US" sz="950" dirty="0"/>
          </a:p>
        </p:txBody>
      </p:sp>
      <p:sp>
        <p:nvSpPr>
          <p:cNvPr id="36" name="Shape 34"/>
          <p:cNvSpPr/>
          <p:nvPr/>
        </p:nvSpPr>
        <p:spPr>
          <a:xfrm>
            <a:off x="4533290" y="3639312"/>
            <a:ext cx="3125114" cy="7315"/>
          </a:xfrm>
          <a:prstGeom prst="rect">
            <a:avLst/>
          </a:prstGeom>
          <a:solidFill>
            <a:srgbClr val="E2E4EA"/>
          </a:solidFill>
          <a:ln/>
        </p:spPr>
      </p:sp>
      <p:sp>
        <p:nvSpPr>
          <p:cNvPr id="37" name="Text 35"/>
          <p:cNvSpPr/>
          <p:nvPr/>
        </p:nvSpPr>
        <p:spPr>
          <a:xfrm>
            <a:off x="4533290"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Total finance cost</a:t>
            </a:r>
            <a:endParaRPr lang="en-US" sz="950" dirty="0"/>
          </a:p>
        </p:txBody>
      </p:sp>
      <p:sp>
        <p:nvSpPr>
          <p:cNvPr id="38" name="Text 36"/>
          <p:cNvSpPr/>
          <p:nvPr/>
        </p:nvSpPr>
        <p:spPr>
          <a:xfrm>
            <a:off x="6283354"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₹0.51 Cr</a:t>
            </a:r>
            <a:endParaRPr lang="en-US" sz="950" dirty="0"/>
          </a:p>
        </p:txBody>
      </p:sp>
      <p:sp>
        <p:nvSpPr>
          <p:cNvPr id="39" name="Shape 37"/>
          <p:cNvSpPr/>
          <p:nvPr/>
        </p:nvSpPr>
        <p:spPr>
          <a:xfrm>
            <a:off x="8097317" y="1133856"/>
            <a:ext cx="3527450" cy="2889504"/>
          </a:xfrm>
          <a:prstGeom prst="roundRect">
            <a:avLst>
              <a:gd name="adj" fmla="val 1899"/>
            </a:avLst>
          </a:prstGeom>
          <a:solidFill>
            <a:srgbClr val="FFFFFF"/>
          </a:solidFill>
          <a:ln w="12700">
            <a:solidFill>
              <a:srgbClr val="E2E4EA"/>
            </a:solidFill>
            <a:prstDash val="solid"/>
          </a:ln>
        </p:spPr>
      </p:sp>
      <p:sp>
        <p:nvSpPr>
          <p:cNvPr id="40" name="Text 38"/>
          <p:cNvSpPr/>
          <p:nvPr/>
        </p:nvSpPr>
        <p:spPr>
          <a:xfrm>
            <a:off x="8298485" y="1298448"/>
            <a:ext cx="3125114" cy="201168"/>
          </a:xfrm>
          <a:prstGeom prst="rect">
            <a:avLst/>
          </a:prstGeom>
          <a:noFill/>
          <a:ln/>
        </p:spPr>
        <p:txBody>
          <a:bodyPr wrap="square" lIns="0" tIns="0" rIns="0" bIns="0" rtlCol="0" anchor="ctr"/>
          <a:lstStyle/>
          <a:p>
            <a:pPr indent="0" marL="0">
              <a:buNone/>
            </a:pPr>
            <a:r>
              <a:rPr lang="en-US" sz="850" b="1" spc="140" kern="0" dirty="0">
                <a:solidFill>
                  <a:srgbClr val="6E7689"/>
                </a:solidFill>
                <a:latin typeface="Calibri" pitchFamily="34" charset="0"/>
                <a:ea typeface="Calibri" pitchFamily="34" charset="-122"/>
                <a:cs typeface="Calibri" pitchFamily="34" charset="-120"/>
              </a:rPr>
              <a:t>OPTION C</a:t>
            </a:r>
            <a:endParaRPr lang="en-US" sz="850" dirty="0"/>
          </a:p>
        </p:txBody>
      </p:sp>
      <p:sp>
        <p:nvSpPr>
          <p:cNvPr id="41" name="Text 39"/>
          <p:cNvSpPr/>
          <p:nvPr/>
        </p:nvSpPr>
        <p:spPr>
          <a:xfrm>
            <a:off x="8298485" y="1517904"/>
            <a:ext cx="3125114" cy="274320"/>
          </a:xfrm>
          <a:prstGeom prst="rect">
            <a:avLst/>
          </a:prstGeom>
          <a:noFill/>
          <a:ln/>
        </p:spPr>
        <p:txBody>
          <a:bodyPr wrap="square" lIns="0" tIns="0" rIns="0" bIns="0" rtlCol="0" anchor="t"/>
          <a:lstStyle/>
          <a:p>
            <a:pPr indent="0" marL="0">
              <a:buNone/>
            </a:pPr>
            <a:r>
              <a:rPr lang="en-US" sz="1500" b="1" dirty="0">
                <a:solidFill>
                  <a:srgbClr val="0A1426"/>
                </a:solidFill>
                <a:latin typeface="Calibri" pitchFamily="34" charset="0"/>
                <a:ea typeface="Calibri" pitchFamily="34" charset="-122"/>
                <a:cs typeface="Calibri" pitchFamily="34" charset="-120"/>
              </a:rPr>
              <a:t>Debt → equity (CCD)</a:t>
            </a:r>
            <a:endParaRPr lang="en-US" sz="1500" dirty="0"/>
          </a:p>
        </p:txBody>
      </p:sp>
      <p:sp>
        <p:nvSpPr>
          <p:cNvPr id="42" name="Text 40"/>
          <p:cNvSpPr/>
          <p:nvPr/>
        </p:nvSpPr>
        <p:spPr>
          <a:xfrm>
            <a:off x="8298485" y="1847088"/>
            <a:ext cx="3125114" cy="475488"/>
          </a:xfrm>
          <a:prstGeom prst="rect">
            <a:avLst/>
          </a:prstGeom>
          <a:noFill/>
          <a:ln/>
        </p:spPr>
        <p:txBody>
          <a:bodyPr wrap="square" lIns="0" tIns="0" rIns="0" bIns="0" rtlCol="0" anchor="t"/>
          <a:lstStyle/>
          <a:p>
            <a:pPr indent="0" marL="0">
              <a:buNone/>
            </a:pPr>
            <a:r>
              <a:rPr lang="en-US" sz="3000" b="1" dirty="0">
                <a:solidFill>
                  <a:srgbClr val="C8553D"/>
                </a:solidFill>
                <a:latin typeface="Calibri" pitchFamily="34" charset="0"/>
                <a:ea typeface="Calibri" pitchFamily="34" charset="-122"/>
                <a:cs typeface="Calibri" pitchFamily="34" charset="-120"/>
              </a:rPr>
              <a:t>11.7%</a:t>
            </a:r>
            <a:endParaRPr lang="en-US" sz="3000" dirty="0"/>
          </a:p>
        </p:txBody>
      </p:sp>
      <p:sp>
        <p:nvSpPr>
          <p:cNvPr id="43" name="Text 41"/>
          <p:cNvSpPr/>
          <p:nvPr/>
        </p:nvSpPr>
        <p:spPr>
          <a:xfrm>
            <a:off x="8298485" y="2340864"/>
            <a:ext cx="3125114" cy="219456"/>
          </a:xfrm>
          <a:prstGeom prst="rect">
            <a:avLst/>
          </a:prstGeom>
          <a:noFill/>
          <a:ln/>
        </p:spPr>
        <p:txBody>
          <a:bodyPr wrap="square" lIns="0" tIns="0" rIns="0" bIns="0" rtlCol="0" anchor="ctr"/>
          <a:lstStyle/>
          <a:p>
            <a:pPr indent="0" marL="0">
              <a:buNone/>
            </a:pPr>
            <a:r>
              <a:rPr lang="en-US" sz="850" b="1" spc="110" kern="0" dirty="0">
                <a:solidFill>
                  <a:srgbClr val="6E7689"/>
                </a:solidFill>
                <a:latin typeface="Calibri" pitchFamily="34" charset="0"/>
                <a:ea typeface="Calibri" pitchFamily="34" charset="-122"/>
                <a:cs typeface="Calibri" pitchFamily="34" charset="-120"/>
              </a:rPr>
              <a:t>INVESTOR IRR</a:t>
            </a:r>
            <a:endParaRPr lang="en-US" sz="850" dirty="0"/>
          </a:p>
        </p:txBody>
      </p:sp>
      <p:sp>
        <p:nvSpPr>
          <p:cNvPr id="44" name="Shape 42"/>
          <p:cNvSpPr/>
          <p:nvPr/>
        </p:nvSpPr>
        <p:spPr>
          <a:xfrm>
            <a:off x="8298485" y="2651760"/>
            <a:ext cx="3125114" cy="7315"/>
          </a:xfrm>
          <a:prstGeom prst="rect">
            <a:avLst/>
          </a:prstGeom>
          <a:solidFill>
            <a:srgbClr val="E2E4EA"/>
          </a:solidFill>
          <a:ln/>
        </p:spPr>
      </p:sp>
      <p:sp>
        <p:nvSpPr>
          <p:cNvPr id="45" name="Text 43"/>
          <p:cNvSpPr/>
          <p:nvPr/>
        </p:nvSpPr>
        <p:spPr>
          <a:xfrm>
            <a:off x="8298485" y="2697480"/>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Principal</a:t>
            </a:r>
            <a:endParaRPr lang="en-US" sz="950" dirty="0"/>
          </a:p>
        </p:txBody>
      </p:sp>
      <p:sp>
        <p:nvSpPr>
          <p:cNvPr id="46" name="Text 44"/>
          <p:cNvSpPr/>
          <p:nvPr/>
        </p:nvSpPr>
        <p:spPr>
          <a:xfrm>
            <a:off x="10048549" y="2697480"/>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₹1.00 Cr</a:t>
            </a:r>
            <a:endParaRPr lang="en-US" sz="950" dirty="0"/>
          </a:p>
        </p:txBody>
      </p:sp>
      <p:sp>
        <p:nvSpPr>
          <p:cNvPr id="47" name="Shape 45"/>
          <p:cNvSpPr/>
          <p:nvPr/>
        </p:nvSpPr>
        <p:spPr>
          <a:xfrm>
            <a:off x="8298485" y="2980944"/>
            <a:ext cx="3125114" cy="7315"/>
          </a:xfrm>
          <a:prstGeom prst="rect">
            <a:avLst/>
          </a:prstGeom>
          <a:solidFill>
            <a:srgbClr val="E2E4EA"/>
          </a:solidFill>
          <a:ln/>
        </p:spPr>
      </p:sp>
      <p:sp>
        <p:nvSpPr>
          <p:cNvPr id="48" name="Text 46"/>
          <p:cNvSpPr/>
          <p:nvPr/>
        </p:nvSpPr>
        <p:spPr>
          <a:xfrm>
            <a:off x="8298485" y="3026664"/>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Coupon to conversion</a:t>
            </a:r>
            <a:endParaRPr lang="en-US" sz="950" dirty="0"/>
          </a:p>
        </p:txBody>
      </p:sp>
      <p:sp>
        <p:nvSpPr>
          <p:cNvPr id="49" name="Text 47"/>
          <p:cNvSpPr/>
          <p:nvPr/>
        </p:nvSpPr>
        <p:spPr>
          <a:xfrm>
            <a:off x="10048549" y="3026664"/>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8.0% · yr 3</a:t>
            </a:r>
            <a:endParaRPr lang="en-US" sz="950" dirty="0"/>
          </a:p>
        </p:txBody>
      </p:sp>
      <p:sp>
        <p:nvSpPr>
          <p:cNvPr id="50" name="Shape 48"/>
          <p:cNvSpPr/>
          <p:nvPr/>
        </p:nvSpPr>
        <p:spPr>
          <a:xfrm>
            <a:off x="8298485" y="3310128"/>
            <a:ext cx="3125114" cy="7315"/>
          </a:xfrm>
          <a:prstGeom prst="rect">
            <a:avLst/>
          </a:prstGeom>
          <a:solidFill>
            <a:srgbClr val="E2E4EA"/>
          </a:solidFill>
          <a:ln/>
        </p:spPr>
      </p:sp>
      <p:sp>
        <p:nvSpPr>
          <p:cNvPr id="51" name="Text 49"/>
          <p:cNvSpPr/>
          <p:nvPr/>
        </p:nvSpPr>
        <p:spPr>
          <a:xfrm>
            <a:off x="8298485" y="3355848"/>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Stake on conversion</a:t>
            </a:r>
            <a:endParaRPr lang="en-US" sz="950" dirty="0"/>
          </a:p>
        </p:txBody>
      </p:sp>
      <p:sp>
        <p:nvSpPr>
          <p:cNvPr id="52" name="Text 50"/>
          <p:cNvSpPr/>
          <p:nvPr/>
        </p:nvSpPr>
        <p:spPr>
          <a:xfrm>
            <a:off x="10048549" y="3355848"/>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38%</a:t>
            </a:r>
            <a:endParaRPr lang="en-US" sz="950" dirty="0"/>
          </a:p>
        </p:txBody>
      </p:sp>
      <p:sp>
        <p:nvSpPr>
          <p:cNvPr id="53" name="Shape 51"/>
          <p:cNvSpPr/>
          <p:nvPr/>
        </p:nvSpPr>
        <p:spPr>
          <a:xfrm>
            <a:off x="8298485" y="3639312"/>
            <a:ext cx="3125114" cy="7315"/>
          </a:xfrm>
          <a:prstGeom prst="rect">
            <a:avLst/>
          </a:prstGeom>
          <a:solidFill>
            <a:srgbClr val="E2E4EA"/>
          </a:solidFill>
          <a:ln/>
        </p:spPr>
      </p:sp>
      <p:sp>
        <p:nvSpPr>
          <p:cNvPr id="54" name="Text 52"/>
          <p:cNvSpPr/>
          <p:nvPr/>
        </p:nvSpPr>
        <p:spPr>
          <a:xfrm>
            <a:off x="8298485" y="3685032"/>
            <a:ext cx="1750064" cy="256032"/>
          </a:xfrm>
          <a:prstGeom prst="rect">
            <a:avLst/>
          </a:prstGeom>
          <a:noFill/>
          <a:ln/>
        </p:spPr>
        <p:txBody>
          <a:bodyPr wrap="square" lIns="0" tIns="0" rIns="0" bIns="0" rtlCol="0" anchor="ctr"/>
          <a:lstStyle/>
          <a:p>
            <a:pPr indent="0" marL="0">
              <a:buNone/>
            </a:pPr>
            <a:r>
              <a:rPr lang="en-US" sz="950" dirty="0">
                <a:solidFill>
                  <a:srgbClr val="6E7689"/>
                </a:solidFill>
                <a:latin typeface="Calibri" pitchFamily="34" charset="0"/>
                <a:ea typeface="Calibri" pitchFamily="34" charset="-122"/>
                <a:cs typeface="Calibri" pitchFamily="34" charset="-120"/>
              </a:rPr>
              <a:t>Money multiple</a:t>
            </a:r>
            <a:endParaRPr lang="en-US" sz="950" dirty="0"/>
          </a:p>
        </p:txBody>
      </p:sp>
      <p:sp>
        <p:nvSpPr>
          <p:cNvPr id="55" name="Text 53"/>
          <p:cNvSpPr/>
          <p:nvPr/>
        </p:nvSpPr>
        <p:spPr>
          <a:xfrm>
            <a:off x="10048549" y="3685032"/>
            <a:ext cx="1375050" cy="256032"/>
          </a:xfrm>
          <a:prstGeom prst="rect">
            <a:avLst/>
          </a:prstGeom>
          <a:noFill/>
          <a:ln/>
        </p:spPr>
        <p:txBody>
          <a:bodyPr wrap="square" lIns="0" tIns="0" rIns="0" bIns="0" rtlCol="0" anchor="ctr"/>
          <a:lstStyle/>
          <a:p>
            <a:pPr algn="r" indent="0" marL="0">
              <a:buNone/>
            </a:pPr>
            <a:r>
              <a:rPr lang="en-US" sz="950" b="1" dirty="0">
                <a:solidFill>
                  <a:srgbClr val="0A1426"/>
                </a:solidFill>
                <a:latin typeface="Calibri" pitchFamily="34" charset="0"/>
                <a:ea typeface="Calibri" pitchFamily="34" charset="-122"/>
                <a:cs typeface="Calibri" pitchFamily="34" charset="-120"/>
              </a:rPr>
              <a:t>1.61×</a:t>
            </a:r>
            <a:endParaRPr lang="en-US" sz="950" dirty="0"/>
          </a:p>
        </p:txBody>
      </p:sp>
      <p:sp>
        <p:nvSpPr>
          <p:cNvPr id="56" name="Shape 54"/>
          <p:cNvSpPr/>
          <p:nvPr/>
        </p:nvSpPr>
        <p:spPr>
          <a:xfrm>
            <a:off x="566928" y="4224528"/>
            <a:ext cx="11057839" cy="1572768"/>
          </a:xfrm>
          <a:prstGeom prst="roundRect">
            <a:avLst>
              <a:gd name="adj" fmla="val 2907"/>
            </a:avLst>
          </a:prstGeom>
          <a:solidFill>
            <a:srgbClr val="EDFAF4"/>
          </a:solidFill>
          <a:ln w="15875">
            <a:solidFill>
              <a:srgbClr val="10B981"/>
            </a:solidFill>
            <a:prstDash val="solid"/>
          </a:ln>
        </p:spPr>
      </p:sp>
      <p:sp>
        <p:nvSpPr>
          <p:cNvPr id="57" name="Text 55"/>
          <p:cNvSpPr/>
          <p:nvPr/>
        </p:nvSpPr>
        <p:spPr>
          <a:xfrm>
            <a:off x="804672" y="4334256"/>
            <a:ext cx="2743200" cy="182880"/>
          </a:xfrm>
          <a:prstGeom prst="rect">
            <a:avLst/>
          </a:prstGeom>
          <a:noFill/>
          <a:ln/>
        </p:spPr>
        <p:txBody>
          <a:bodyPr wrap="square" lIns="0" tIns="0" rIns="0" bIns="0" rtlCol="0" anchor="ctr"/>
          <a:lstStyle/>
          <a:p>
            <a:pPr indent="0" marL="0">
              <a:buNone/>
            </a:pPr>
            <a:r>
              <a:rPr lang="en-US" sz="850" b="1" spc="160" kern="0" dirty="0">
                <a:solidFill>
                  <a:srgbClr val="10B981"/>
                </a:solidFill>
                <a:latin typeface="Calibri" pitchFamily="34" charset="0"/>
                <a:ea typeface="Calibri" pitchFamily="34" charset="-122"/>
                <a:cs typeface="Calibri" pitchFamily="34" charset="-120"/>
              </a:rPr>
              <a:t>VERDICT</a:t>
            </a:r>
            <a:endParaRPr lang="en-US" sz="850" dirty="0"/>
          </a:p>
        </p:txBody>
      </p:sp>
      <p:sp>
        <p:nvSpPr>
          <p:cNvPr id="58" name="Text 56"/>
          <p:cNvSpPr/>
          <p:nvPr/>
        </p:nvSpPr>
        <p:spPr>
          <a:xfrm>
            <a:off x="804672" y="4517136"/>
            <a:ext cx="10582351" cy="288595"/>
          </a:xfrm>
          <a:prstGeom prst="rect">
            <a:avLst/>
          </a:prstGeom>
          <a:noFill/>
          <a:ln/>
        </p:spPr>
        <p:txBody>
          <a:bodyPr wrap="square" lIns="0" tIns="0" rIns="0" bIns="0" rtlCol="0" anchor="t"/>
          <a:lstStyle/>
          <a:p>
            <a:pPr indent="0" marL="0">
              <a:lnSpc>
                <a:spcPts val="2185"/>
              </a:lnSpc>
              <a:buNone/>
            </a:pPr>
            <a:r>
              <a:rPr lang="en-US" sz="1900" b="1" dirty="0">
                <a:solidFill>
                  <a:srgbClr val="0A1426"/>
                </a:solidFill>
                <a:latin typeface="Calibri" pitchFamily="34" charset="0"/>
                <a:ea typeface="Calibri" pitchFamily="34" charset="-122"/>
                <a:cs typeface="Calibri" pitchFamily="34" charset="-120"/>
              </a:rPr>
              <a:t>Option B — a right-sized CGTMSE composite facility</a:t>
            </a:r>
            <a:endParaRPr lang="en-US" sz="1900" dirty="0"/>
          </a:p>
        </p:txBody>
      </p:sp>
      <p:sp>
        <p:nvSpPr>
          <p:cNvPr id="59" name="Text 57"/>
          <p:cNvSpPr/>
          <p:nvPr/>
        </p:nvSpPr>
        <p:spPr>
          <a:xfrm>
            <a:off x="804672" y="4860595"/>
            <a:ext cx="10582351" cy="863549"/>
          </a:xfrm>
          <a:prstGeom prst="rect">
            <a:avLst/>
          </a:prstGeom>
          <a:noFill/>
          <a:ln/>
        </p:spPr>
        <p:txBody>
          <a:bodyPr wrap="square" lIns="0" tIns="0" rIns="0" bIns="0" rtlCol="0" anchor="t"/>
          <a:lstStyle/>
          <a:p>
            <a:pPr indent="0" marL="0">
              <a:lnSpc>
                <a:spcPts val="1704"/>
              </a:lnSpc>
              <a:buNone/>
            </a:pPr>
            <a:r>
              <a:rPr lang="en-US" sz="1200" dirty="0">
                <a:solidFill>
                  <a:srgbClr val="3B4660"/>
                </a:solidFill>
                <a:latin typeface="Calibri" pitchFamily="34" charset="0"/>
                <a:ea typeface="Calibri" pitchFamily="34" charset="-122"/>
                <a:cs typeface="Calibri" pitchFamily="34" charset="-120"/>
              </a:rPr>
              <a:t>The project earns 43.3% against 12.10% guaranteed debt. That +31.2 pp spread belongs to E-O-D, and debt is the only instrument that lets E-O-D keep it. Term loan ₹0.80 Cr over 7 years with a 1-year principal moratorium, plus a working-capital limit sanctioned at ₹0.20 Cr rather than the full year of opex — saving ₹0.00 L of guarantee fee and leaving more of the group's ₹10 Cr CGTMSE ceiling for Karnal.</a:t>
            </a:r>
            <a:endParaRPr lang="en-US" sz="1200" dirty="0"/>
          </a:p>
        </p:txBody>
      </p:sp>
      <p:sp>
        <p:nvSpPr>
          <p:cNvPr id="60" name="Text 5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Risks and open items</a:t>
            </a:r>
            <a:endParaRPr lang="en-US" sz="3000" dirty="0"/>
          </a:p>
        </p:txBody>
      </p:sp>
      <p:sp>
        <p:nvSpPr>
          <p:cNvPr id="5" name="Shape 3"/>
          <p:cNvSpPr/>
          <p:nvPr/>
        </p:nvSpPr>
        <p:spPr>
          <a:xfrm>
            <a:off x="566928" y="1170432"/>
            <a:ext cx="182880" cy="182880"/>
          </a:xfrm>
          <a:prstGeom prst="ellipse">
            <a:avLst/>
          </a:prstGeom>
          <a:solidFill>
            <a:srgbClr val="C8553D"/>
          </a:solidFill>
          <a:ln/>
        </p:spPr>
      </p:sp>
      <p:sp>
        <p:nvSpPr>
          <p:cNvPr id="6" name="Text 4"/>
          <p:cNvSpPr/>
          <p:nvPr/>
        </p:nvSpPr>
        <p:spPr>
          <a:xfrm>
            <a:off x="8595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Auction overshoot</a:t>
            </a:r>
            <a:endParaRPr lang="en-US" sz="1250" dirty="0"/>
          </a:p>
        </p:txBody>
      </p:sp>
      <p:sp>
        <p:nvSpPr>
          <p:cNvPr id="7" name="Text 5"/>
          <p:cNvSpPr/>
          <p:nvPr/>
        </p:nvSpPr>
        <p:spPr>
          <a:xfrm>
            <a:off x="8595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 cap on the forward e-auction. Every ₹1 lakh a year above the modelled ₹36 L costs about ₹8.1 lakh over the term. Mitigation: a board-approved walk-away of ₹80.9 L a year.</a:t>
            </a:r>
            <a:endParaRPr lang="en-US" sz="1050" dirty="0"/>
          </a:p>
        </p:txBody>
      </p:sp>
      <p:sp>
        <p:nvSpPr>
          <p:cNvPr id="8" name="Shape 6"/>
          <p:cNvSpPr/>
          <p:nvPr/>
        </p:nvSpPr>
        <p:spPr>
          <a:xfrm>
            <a:off x="566928" y="2322576"/>
            <a:ext cx="182880" cy="182880"/>
          </a:xfrm>
          <a:prstGeom prst="ellipse">
            <a:avLst/>
          </a:prstGeom>
          <a:solidFill>
            <a:srgbClr val="C8553D"/>
          </a:solidFill>
          <a:ln/>
        </p:spPr>
      </p:sp>
      <p:sp>
        <p:nvSpPr>
          <p:cNvPr id="9" name="Text 7"/>
          <p:cNvSpPr/>
          <p:nvPr/>
        </p:nvSpPr>
        <p:spPr>
          <a:xfrm>
            <a:off x="8595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ADA tariff control</a:t>
            </a:r>
            <a:endParaRPr lang="en-US" sz="1250" dirty="0"/>
          </a:p>
        </p:txBody>
      </p:sp>
      <p:sp>
        <p:nvSpPr>
          <p:cNvPr id="10" name="Text 8"/>
          <p:cNvSpPr/>
          <p:nvPr/>
        </p:nvSpPr>
        <p:spPr>
          <a:xfrm>
            <a:off x="8595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ADA fixes the gate at ₹20 and approves every other rate. The show ticket carries roughly a third of revenue and E-O-D cannot price it. Mitigation: agree the tariff and escalation path in writing before the work order.</a:t>
            </a:r>
            <a:endParaRPr lang="en-US" sz="1050" dirty="0"/>
          </a:p>
        </p:txBody>
      </p:sp>
      <p:sp>
        <p:nvSpPr>
          <p:cNvPr id="11" name="Shape 9"/>
          <p:cNvSpPr/>
          <p:nvPr/>
        </p:nvSpPr>
        <p:spPr>
          <a:xfrm>
            <a:off x="566928" y="3474720"/>
            <a:ext cx="182880" cy="182880"/>
          </a:xfrm>
          <a:prstGeom prst="ellipse">
            <a:avLst/>
          </a:prstGeom>
          <a:solidFill>
            <a:srgbClr val="D97706"/>
          </a:solidFill>
          <a:ln/>
        </p:spPr>
      </p:sp>
      <p:sp>
        <p:nvSpPr>
          <p:cNvPr id="12" name="Text 10"/>
          <p:cNvSpPr/>
          <p:nvPr/>
        </p:nvSpPr>
        <p:spPr>
          <a:xfrm>
            <a:off x="8595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Laser and fountain asset condition</a:t>
            </a:r>
            <a:endParaRPr lang="en-US" sz="1250" dirty="0"/>
          </a:p>
        </p:txBody>
      </p:sp>
      <p:sp>
        <p:nvSpPr>
          <p:cNvPr id="13" name="Text 11"/>
          <p:cNvSpPr/>
          <p:nvPr/>
        </p:nvSpPr>
        <p:spPr>
          <a:xfrm>
            <a:off x="8595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agency inherits equipment of unknown age and must replace end-of-life assets at its own cost. Mitigation: joint condition survey and AMC history before bidding.</a:t>
            </a:r>
            <a:endParaRPr lang="en-US" sz="1050" dirty="0"/>
          </a:p>
        </p:txBody>
      </p:sp>
      <p:sp>
        <p:nvSpPr>
          <p:cNvPr id="14" name="Shape 12"/>
          <p:cNvSpPr/>
          <p:nvPr/>
        </p:nvSpPr>
        <p:spPr>
          <a:xfrm>
            <a:off x="6278728" y="1170432"/>
            <a:ext cx="182880" cy="182880"/>
          </a:xfrm>
          <a:prstGeom prst="ellipse">
            <a:avLst/>
          </a:prstGeom>
          <a:solidFill>
            <a:srgbClr val="D97706"/>
          </a:solidFill>
          <a:ln/>
        </p:spPr>
      </p:sp>
      <p:sp>
        <p:nvSpPr>
          <p:cNvPr id="15" name="Text 13"/>
          <p:cNvSpPr/>
          <p:nvPr/>
        </p:nvSpPr>
        <p:spPr>
          <a:xfrm>
            <a:off x="6571336" y="113385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Year-1 cash</a:t>
            </a:r>
            <a:endParaRPr lang="en-US" sz="1250" dirty="0"/>
          </a:p>
        </p:txBody>
      </p:sp>
      <p:sp>
        <p:nvSpPr>
          <p:cNvPr id="16" name="Text 14"/>
          <p:cNvSpPr/>
          <p:nvPr/>
        </p:nvSpPr>
        <p:spPr>
          <a:xfrm>
            <a:off x="6571336" y="138074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The project loses ₹-0.17 Cr at EBITDA in year 1 while paying six months of licence fee in advance. Mitigation: this is what the working-capital limit is for.</a:t>
            </a:r>
            <a:endParaRPr lang="en-US" sz="1050" dirty="0"/>
          </a:p>
        </p:txBody>
      </p:sp>
      <p:sp>
        <p:nvSpPr>
          <p:cNvPr id="17" name="Shape 15"/>
          <p:cNvSpPr/>
          <p:nvPr/>
        </p:nvSpPr>
        <p:spPr>
          <a:xfrm>
            <a:off x="6278728" y="2322576"/>
            <a:ext cx="182880" cy="182880"/>
          </a:xfrm>
          <a:prstGeom prst="ellipse">
            <a:avLst/>
          </a:prstGeom>
          <a:solidFill>
            <a:srgbClr val="D97706"/>
          </a:solidFill>
          <a:ln/>
        </p:spPr>
      </p:sp>
      <p:sp>
        <p:nvSpPr>
          <p:cNvPr id="18" name="Text 16"/>
          <p:cNvSpPr/>
          <p:nvPr/>
        </p:nvSpPr>
        <p:spPr>
          <a:xfrm>
            <a:off x="6571336" y="228600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No permanent structures</a:t>
            </a:r>
            <a:endParaRPr lang="en-US" sz="1250" dirty="0"/>
          </a:p>
        </p:txBody>
      </p:sp>
      <p:sp>
        <p:nvSpPr>
          <p:cNvPr id="19" name="Text 17"/>
          <p:cNvSpPr/>
          <p:nvPr/>
        </p:nvSpPr>
        <p:spPr>
          <a:xfrm>
            <a:off x="6571336" y="253288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Clause 3.3.2 bars permanent construction, so the activity layer must be demountable — higher unit cost, shorter asset life. The capex schedule assumes an eight-year life.</a:t>
            </a:r>
            <a:endParaRPr lang="en-US" sz="1050" dirty="0"/>
          </a:p>
        </p:txBody>
      </p:sp>
      <p:sp>
        <p:nvSpPr>
          <p:cNvPr id="20" name="Shape 18"/>
          <p:cNvSpPr/>
          <p:nvPr/>
        </p:nvSpPr>
        <p:spPr>
          <a:xfrm>
            <a:off x="6278728" y="3474720"/>
            <a:ext cx="182880" cy="182880"/>
          </a:xfrm>
          <a:prstGeom prst="ellipse">
            <a:avLst/>
          </a:prstGeom>
          <a:solidFill>
            <a:srgbClr val="2B66EA"/>
          </a:solidFill>
          <a:ln/>
        </p:spPr>
      </p:sp>
      <p:sp>
        <p:nvSpPr>
          <p:cNvPr id="21" name="Text 19"/>
          <p:cNvSpPr/>
          <p:nvPr/>
        </p:nvSpPr>
        <p:spPr>
          <a:xfrm>
            <a:off x="6571336" y="3438144"/>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Show tariff is not set in the RFP</a:t>
            </a:r>
            <a:endParaRPr lang="en-US" sz="1250" dirty="0"/>
          </a:p>
        </p:txBody>
      </p:sp>
      <p:sp>
        <p:nvSpPr>
          <p:cNvPr id="22" name="Text 20"/>
          <p:cNvSpPr/>
          <p:nvPr/>
        </p:nvSpPr>
        <p:spPr>
          <a:xfrm>
            <a:off x="6571336" y="3685032"/>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Left to be agreed with ADA at least ten days before implementation. The largest revenue assumption in the model and the least documented. Raise it as a pre-bid query.</a:t>
            </a:r>
            <a:endParaRPr lang="en-US" sz="1050" dirty="0"/>
          </a:p>
        </p:txBody>
      </p:sp>
      <p:sp>
        <p:nvSpPr>
          <p:cNvPr id="23" name="Text 21"/>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Geeta Govind Vatika · Agra Development Authority · Project finance</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Geeta Govind Vatika — Project Finance</dc:title>
  <dc:subject>ADA licence-fee concession, 7+4 years</dc:subject>
  <dc:creator>Vision Amusement Park Pvt. Ltd.</dc:creator>
  <cp:lastModifiedBy>Vision Amusement Park Pvt. Ltd.</cp:lastModifiedBy>
  <cp:revision>1</cp:revision>
  <dcterms:created xsi:type="dcterms:W3CDTF">2026-08-24T16:33:54Z</dcterms:created>
  <dcterms:modified xsi:type="dcterms:W3CDTF">2026-08-24T16:33:54Z</dcterms:modified>
</cp:coreProperties>
</file>