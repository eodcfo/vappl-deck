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Gate entry</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Sheet1!$B$2:$B$8</c:f>
              <c:numCache>
                <c:formatCode>General</c:formatCode>
                <c:ptCount val="7"/>
                <c:pt idx="0">
                  <c:v>0.48</c:v>
                </c:pt>
                <c:pt idx="1">
                  <c:v>0.57</c:v>
                </c:pt>
                <c:pt idx="2">
                  <c:v>0.63</c:v>
                </c:pt>
                <c:pt idx="3">
                  <c:v>0.67</c:v>
                </c:pt>
                <c:pt idx="4">
                  <c:v>0.71</c:v>
                </c:pt>
                <c:pt idx="5">
                  <c:v>0.74</c:v>
                </c:pt>
                <c:pt idx="6">
                  <c:v>0.79</c:v>
                </c:pt>
              </c:numCache>
            </c:numRef>
          </c:val>
        </c:ser>
        <c:ser>
          <c:idx val="1"/>
          <c:order val="1"/>
          <c:tx>
            <c:strRef>
              <c:f>Sheet1!$C$1</c:f>
              <c:strCache>
                <c:ptCount val="1"/>
                <c:pt idx="0">
                  <c:v>Fountain &amp; laser show</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Sheet1!$C$2:$C$8</c:f>
              <c:numCache>
                <c:formatCode>General</c:formatCode>
                <c:ptCount val="7"/>
                <c:pt idx="0">
                  <c:v>0.76</c:v>
                </c:pt>
                <c:pt idx="1">
                  <c:v>0.96</c:v>
                </c:pt>
                <c:pt idx="2">
                  <c:v>1.24</c:v>
                </c:pt>
                <c:pt idx="3">
                  <c:v>1.6</c:v>
                </c:pt>
                <c:pt idx="4">
                  <c:v>1.94</c:v>
                </c:pt>
                <c:pt idx="5">
                  <c:v>2.09</c:v>
                </c:pt>
                <c:pt idx="6">
                  <c:v>2.43</c:v>
                </c:pt>
              </c:numCache>
            </c:numRef>
          </c:val>
        </c:ser>
        <c:ser>
          <c:idx val="2"/>
          <c:order val="2"/>
          <c:tx>
            <c:strRef>
              <c:f>Sheet1!$D$1</c:f>
              <c:strCache>
                <c:ptCount val="1"/>
                <c:pt idx="0">
                  <c:v>Food and beverage</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Sheet1!$D$2:$D$8</c:f>
              <c:numCache>
                <c:formatCode>General</c:formatCode>
                <c:ptCount val="7"/>
                <c:pt idx="0">
                  <c:v>0.37</c:v>
                </c:pt>
                <c:pt idx="1">
                  <c:v>0.48</c:v>
                </c:pt>
                <c:pt idx="2">
                  <c:v>0.56</c:v>
                </c:pt>
                <c:pt idx="3">
                  <c:v>0.65</c:v>
                </c:pt>
                <c:pt idx="4">
                  <c:v>0.74</c:v>
                </c:pt>
                <c:pt idx="5">
                  <c:v>0.83</c:v>
                </c:pt>
                <c:pt idx="6">
                  <c:v>0.91</c:v>
                </c:pt>
              </c:numCache>
            </c:numRef>
          </c:val>
        </c:ser>
        <c:ser>
          <c:idx val="3"/>
          <c:order val="3"/>
          <c:tx>
            <c:strRef>
              <c:f>Sheet1!$E$1</c:f>
              <c:strCache>
                <c:ptCount val="1"/>
                <c:pt idx="0">
                  <c:v>Activity layer</c:v>
                </c:pt>
              </c:strCache>
            </c:strRef>
          </c:tx>
          <c:spPr>
            <a:solidFill>
              <a:srgbClr val="D9770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Sheet1!$E$2:$E$8</c:f>
              <c:numCache>
                <c:formatCode>General</c:formatCode>
                <c:ptCount val="7"/>
                <c:pt idx="0">
                  <c:v>0.08</c:v>
                </c:pt>
                <c:pt idx="1">
                  <c:v>0.14</c:v>
                </c:pt>
                <c:pt idx="2">
                  <c:v>0.19</c:v>
                </c:pt>
                <c:pt idx="3">
                  <c:v>0.56</c:v>
                </c:pt>
                <c:pt idx="4">
                  <c:v>0.69</c:v>
                </c:pt>
                <c:pt idx="5">
                  <c:v>0.83</c:v>
                </c:pt>
                <c:pt idx="6">
                  <c:v>0.95</c:v>
                </c:pt>
              </c:numCache>
            </c:numRef>
          </c:val>
        </c:ser>
        <c:ser>
          <c:idx val="4"/>
          <c:order val="4"/>
          <c:tx>
            <c:strRef>
              <c:f>Sheet1!$F$1</c:f>
              <c:strCache>
                <c:ptCount val="1"/>
                <c:pt idx="0">
                  <c:v>Parking</c:v>
                </c:pt>
              </c:strCache>
            </c:strRef>
          </c:tx>
          <c:spPr>
            <a:solidFill>
              <a:srgbClr val="8A93A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Sheet1!$F$2:$F$8</c:f>
              <c:numCache>
                <c:formatCode>General</c:formatCode>
                <c:ptCount val="7"/>
                <c:pt idx="0">
                  <c:v>0.14</c:v>
                </c:pt>
                <c:pt idx="1">
                  <c:v>0.16</c:v>
                </c:pt>
                <c:pt idx="2">
                  <c:v>0.18</c:v>
                </c:pt>
                <c:pt idx="3">
                  <c:v>0.19</c:v>
                </c:pt>
                <c:pt idx="4">
                  <c:v>0.2</c:v>
                </c:pt>
                <c:pt idx="5">
                  <c:v>0.21</c:v>
                </c:pt>
                <c:pt idx="6">
                  <c:v>0.22</c:v>
                </c:pt>
              </c:numCache>
            </c:numRef>
          </c:val>
        </c:ser>
        <c:ser>
          <c:idx val="5"/>
          <c:order val="5"/>
          <c:tx>
            <c:strRef>
              <c:f>Sheet1!$G$1</c:f>
              <c:strCache>
                <c:ptCount val="1"/>
                <c:pt idx="0">
                  <c:v>Events, IPs and shoots</c:v>
                </c:pt>
              </c:strCache>
            </c:strRef>
          </c:tx>
          <c:spPr>
            <a:solidFill>
              <a:srgbClr val="6B3FA0"/>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Sheet1!$G$2:$G$8</c:f>
              <c:numCache>
                <c:formatCode>General</c:formatCode>
                <c:ptCount val="7"/>
                <c:pt idx="0">
                  <c:v>0.5</c:v>
                </c:pt>
                <c:pt idx="1">
                  <c:v>0.62</c:v>
                </c:pt>
                <c:pt idx="2">
                  <c:v>0.72</c:v>
                </c:pt>
                <c:pt idx="3">
                  <c:v>0.86</c:v>
                </c:pt>
                <c:pt idx="4">
                  <c:v>0.96</c:v>
                </c:pt>
                <c:pt idx="5">
                  <c:v>1.04</c:v>
                </c:pt>
                <c:pt idx="6">
                  <c:v>1.12</c:v>
                </c:pt>
              </c:numCache>
            </c:numRef>
          </c:val>
        </c:ser>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Sheet1!$B$2:$B$8</c:f>
              <c:numCache>
                <c:formatCode>General</c:formatCode>
                <c:ptCount val="7"/>
                <c:pt idx="0">
                  <c:v>2.35</c:v>
                </c:pt>
                <c:pt idx="1">
                  <c:v>2.93</c:v>
                </c:pt>
                <c:pt idx="2">
                  <c:v>3.52</c:v>
                </c:pt>
                <c:pt idx="3">
                  <c:v>4.53</c:v>
                </c:pt>
                <c:pt idx="4">
                  <c:v>5.23</c:v>
                </c:pt>
                <c:pt idx="5">
                  <c:v>5.74</c:v>
                </c:pt>
                <c:pt idx="6">
                  <c:v>6.41</c:v>
                </c:pt>
              </c:numCache>
            </c:numRef>
          </c:val>
        </c:ser>
        <c:ser>
          <c:idx val="1"/>
          <c:order val="1"/>
          <c:tx>
            <c:strRef>
              <c:f>Sheet1!$C$1</c:f>
              <c:strCache>
                <c:ptCount val="1"/>
                <c:pt idx="0">
                  <c:v>EBITDA</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Sheet1!$C$2:$C$8</c:f>
              <c:numCache>
                <c:formatCode>General</c:formatCode>
                <c:ptCount val="7"/>
                <c:pt idx="0">
                  <c:v>0.03</c:v>
                </c:pt>
                <c:pt idx="1">
                  <c:v>0.34</c:v>
                </c:pt>
                <c:pt idx="2">
                  <c:v>0.68</c:v>
                </c:pt>
                <c:pt idx="3">
                  <c:v>1.25</c:v>
                </c:pt>
                <c:pt idx="4">
                  <c:v>1.64</c:v>
                </c:pt>
                <c:pt idx="5">
                  <c:v>1.82</c:v>
                </c:pt>
                <c:pt idx="6">
                  <c:v>2.14</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GEETA GOVIND VATIKA</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Geeta Govind</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Vatika</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Nineteen acres in Taj Nagri Phase-II, built and commissioned by the Agra Development Authority. Seven years of operating rights, extendable by four. A ₹1 crore facility to mobilise; operating cost met from collections.</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Agra Development Authority · Licence-fee model · 7 + 4 years · 19 acres</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Reserve licence fee ₹2.5 lakh per month · forward e-auction · 5% annual escalation</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FACILITY SOUGHT</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₹1.00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Mobilisation capex, deposit and advance licence fee</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YEAR 1 EBITDA</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₹0.03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On ₹2.35 Cr of revenue</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YEAR 7 EBITDA</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₹2.14 Cr</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33.4% margin</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MINIMUM DSCR</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1.70×</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Across the repayment years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project</a:t>
            </a:r>
            <a:endParaRPr lang="en-US" sz="3000" dirty="0"/>
          </a:p>
        </p:txBody>
      </p:sp>
      <p:sp>
        <p:nvSpPr>
          <p:cNvPr id="5" name="Text 3"/>
          <p:cNvSpPr/>
          <p:nvPr/>
        </p:nvSpPr>
        <p:spPr>
          <a:xfrm>
            <a:off x="566928" y="950976"/>
            <a:ext cx="11057839" cy="69342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Nineteen acres in Taj Nagri Phase-II, built and fitted out by ADA. The asset is already in place: musical fountains, a 40-minute Krishna Leela laser show, an open-air amphitheatre, a waterbody, eight kiosks and a Tulsi forest. The operator pays a monthly licence fee and retains gate collections.</a:t>
            </a:r>
            <a:endParaRPr lang="en-US" sz="1250" dirty="0"/>
          </a:p>
        </p:txBody>
      </p:sp>
      <p:sp>
        <p:nvSpPr>
          <p:cNvPr id="6" name="Shape 4"/>
          <p:cNvSpPr/>
          <p:nvPr/>
        </p:nvSpPr>
        <p:spPr>
          <a:xfrm>
            <a:off x="566928" y="1772412"/>
            <a:ext cx="3539642" cy="1133856"/>
          </a:xfrm>
          <a:prstGeom prst="roundRect">
            <a:avLst>
              <a:gd name="adj" fmla="val 4839"/>
            </a:avLst>
          </a:prstGeom>
          <a:solidFill>
            <a:srgbClr val="F5F6F8"/>
          </a:solidFill>
          <a:ln w="12700">
            <a:solidFill>
              <a:srgbClr val="E2E4EA"/>
            </a:solidFill>
            <a:prstDash val="solid"/>
          </a:ln>
        </p:spPr>
      </p:sp>
      <p:sp>
        <p:nvSpPr>
          <p:cNvPr id="7" name="Text 5"/>
          <p:cNvSpPr/>
          <p:nvPr/>
        </p:nvSpPr>
        <p:spPr>
          <a:xfrm>
            <a:off x="749808" y="18912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SITE</a:t>
            </a:r>
            <a:endParaRPr lang="en-US" sz="850" dirty="0"/>
          </a:p>
        </p:txBody>
      </p:sp>
      <p:sp>
        <p:nvSpPr>
          <p:cNvPr id="8" name="Text 6"/>
          <p:cNvSpPr/>
          <p:nvPr/>
        </p:nvSpPr>
        <p:spPr>
          <a:xfrm>
            <a:off x="749808" y="2138172"/>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19 acres</a:t>
            </a:r>
            <a:endParaRPr lang="en-US" sz="2000" dirty="0"/>
          </a:p>
        </p:txBody>
      </p:sp>
      <p:sp>
        <p:nvSpPr>
          <p:cNvPr id="9" name="Text 7"/>
          <p:cNvSpPr/>
          <p:nvPr/>
        </p:nvSpPr>
        <p:spPr>
          <a:xfrm>
            <a:off x="749808" y="2613660"/>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Taj Nagri Phase-II, adjoining Agra Chaupati</a:t>
            </a:r>
            <a:endParaRPr lang="en-US" sz="950" dirty="0"/>
          </a:p>
        </p:txBody>
      </p:sp>
      <p:sp>
        <p:nvSpPr>
          <p:cNvPr id="10" name="Shape 8"/>
          <p:cNvSpPr/>
          <p:nvPr/>
        </p:nvSpPr>
        <p:spPr>
          <a:xfrm>
            <a:off x="4326026" y="1772412"/>
            <a:ext cx="3539642" cy="1133856"/>
          </a:xfrm>
          <a:prstGeom prst="roundRect">
            <a:avLst>
              <a:gd name="adj" fmla="val 4839"/>
            </a:avLst>
          </a:prstGeom>
          <a:solidFill>
            <a:srgbClr val="F5F6F8"/>
          </a:solidFill>
          <a:ln w="12700">
            <a:solidFill>
              <a:srgbClr val="E2E4EA"/>
            </a:solidFill>
            <a:prstDash val="solid"/>
          </a:ln>
        </p:spPr>
      </p:sp>
      <p:sp>
        <p:nvSpPr>
          <p:cNvPr id="11" name="Text 9"/>
          <p:cNvSpPr/>
          <p:nvPr/>
        </p:nvSpPr>
        <p:spPr>
          <a:xfrm>
            <a:off x="4508906" y="18912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TERM</a:t>
            </a:r>
            <a:endParaRPr lang="en-US" sz="850" dirty="0"/>
          </a:p>
        </p:txBody>
      </p:sp>
      <p:sp>
        <p:nvSpPr>
          <p:cNvPr id="12" name="Text 10"/>
          <p:cNvSpPr/>
          <p:nvPr/>
        </p:nvSpPr>
        <p:spPr>
          <a:xfrm>
            <a:off x="4508906" y="2138172"/>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7 + 4 years</a:t>
            </a:r>
            <a:endParaRPr lang="en-US" sz="2000" dirty="0"/>
          </a:p>
        </p:txBody>
      </p:sp>
      <p:sp>
        <p:nvSpPr>
          <p:cNvPr id="13" name="Text 11"/>
          <p:cNvSpPr/>
          <p:nvPr/>
        </p:nvSpPr>
        <p:spPr>
          <a:xfrm>
            <a:off x="4508906" y="2613660"/>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Extendable on performance and mutual consent</a:t>
            </a:r>
            <a:endParaRPr lang="en-US" sz="950" dirty="0"/>
          </a:p>
        </p:txBody>
      </p:sp>
      <p:sp>
        <p:nvSpPr>
          <p:cNvPr id="14" name="Shape 12"/>
          <p:cNvSpPr/>
          <p:nvPr/>
        </p:nvSpPr>
        <p:spPr>
          <a:xfrm>
            <a:off x="8085125" y="1772412"/>
            <a:ext cx="3539642" cy="1133856"/>
          </a:xfrm>
          <a:prstGeom prst="roundRect">
            <a:avLst>
              <a:gd name="adj" fmla="val 4839"/>
            </a:avLst>
          </a:prstGeom>
          <a:solidFill>
            <a:srgbClr val="F5F6F8"/>
          </a:solidFill>
          <a:ln w="12700">
            <a:solidFill>
              <a:srgbClr val="E2E4EA"/>
            </a:solidFill>
            <a:prstDash val="solid"/>
          </a:ln>
        </p:spPr>
      </p:sp>
      <p:sp>
        <p:nvSpPr>
          <p:cNvPr id="15" name="Text 13"/>
          <p:cNvSpPr/>
          <p:nvPr/>
        </p:nvSpPr>
        <p:spPr>
          <a:xfrm>
            <a:off x="8268005" y="18912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FACILITY SOUGHT</a:t>
            </a:r>
            <a:endParaRPr lang="en-US" sz="850" dirty="0"/>
          </a:p>
        </p:txBody>
      </p:sp>
      <p:sp>
        <p:nvSpPr>
          <p:cNvPr id="16" name="Text 14"/>
          <p:cNvSpPr/>
          <p:nvPr/>
        </p:nvSpPr>
        <p:spPr>
          <a:xfrm>
            <a:off x="8268005" y="213817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₹1.00 Cr</a:t>
            </a:r>
            <a:endParaRPr lang="en-US" sz="2600" dirty="0"/>
          </a:p>
        </p:txBody>
      </p:sp>
      <p:sp>
        <p:nvSpPr>
          <p:cNvPr id="17" name="Text 15"/>
          <p:cNvSpPr/>
          <p:nvPr/>
        </p:nvSpPr>
        <p:spPr>
          <a:xfrm>
            <a:off x="8268005" y="2613660"/>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Against a park already built and commissioned</a:t>
            </a:r>
            <a:endParaRPr lang="en-US" sz="9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3144012"/>
          <a:ext cx="11057839" cy="914400"/>
        </p:xfrm>
        <a:graphic>
          <a:graphicData uri="http://schemas.openxmlformats.org/drawingml/2006/table">
            <a:tbl>
              <a:tblPr/>
              <a:tblGrid>
                <a:gridCol w="2377440"/>
                <a:gridCol w="8680399"/>
              </a:tblGrid>
              <a:tr h="274320">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Position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Authority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Agra Development Authority (ADA)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Contract period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7 years + 4 years extendable (performance + mutual consent)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Selection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Technical evaluation, then forward e-auction on the licence fee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Reserve licence fee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₹2.5 L per month + GST · ₹30 L a year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Escalation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 a year on the preceding year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Payment terms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First 6 months in advance within 7 days of the work order; then half-yearly in advance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Security deposit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 months of the licence fee at the winning e-auction bid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Gate tariff</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₹20 entry. Fountain and laser show at rates approved by ADA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Asset position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ADA owns all assets. No permanent structures permitted. Electricity paid direct to discom.</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Shape 16"/>
          <p:cNvSpPr/>
          <p:nvPr/>
        </p:nvSpPr>
        <p:spPr>
          <a:xfrm>
            <a:off x="566928" y="3180588"/>
            <a:ext cx="11057839" cy="10973"/>
          </a:xfrm>
          <a:prstGeom prst="rect">
            <a:avLst/>
          </a:prstGeom>
          <a:solidFill>
            <a:srgbClr val="E2E4EA"/>
          </a:solidFill>
          <a:ln/>
        </p:spPr>
      </p:sp>
      <p:sp>
        <p:nvSpPr>
          <p:cNvPr id="20" name="Text 17"/>
          <p:cNvSpPr/>
          <p:nvPr/>
        </p:nvSpPr>
        <p:spPr>
          <a:xfrm>
            <a:off x="566928" y="3235452"/>
            <a:ext cx="11057839" cy="173736"/>
          </a:xfrm>
          <a:prstGeom prst="rect">
            <a:avLst/>
          </a:prstGeom>
          <a:noFill/>
          <a:ln/>
        </p:spPr>
        <p:txBody>
          <a:bodyPr wrap="square" lIns="0" tIns="0" rIns="0" bIns="0" rtlCol="0" anchor="t"/>
          <a:lstStyle/>
          <a:p>
            <a:pPr indent="0" marL="0">
              <a:buNone/>
            </a:pPr>
            <a:r>
              <a:rPr lang="en-US" sz="800" b="1" spc="140" kern="0" dirty="0">
                <a:solidFill>
                  <a:srgbClr val="6E7689"/>
                </a:solidFill>
                <a:latin typeface="Calibri" pitchFamily="34" charset="0"/>
                <a:ea typeface="Calibri" pitchFamily="34" charset="-122"/>
                <a:cs typeface="Calibri" pitchFamily="34" charset="-120"/>
              </a:rPr>
              <a:t>WHY THIS SITE AND NOT ANOTHER</a:t>
            </a:r>
            <a:endParaRPr lang="en-US" sz="800" dirty="0"/>
          </a:p>
        </p:txBody>
      </p:sp>
      <p:sp>
        <p:nvSpPr>
          <p:cNvPr id="21" name="Text 18"/>
          <p:cNvSpPr/>
          <p:nvPr/>
        </p:nvSpPr>
        <p:spPr>
          <a:xfrm>
            <a:off x="566928" y="3409188"/>
            <a:ext cx="11057839" cy="515112"/>
          </a:xfrm>
          <a:prstGeom prst="rect">
            <a:avLst/>
          </a:prstGeom>
          <a:noFill/>
          <a:ln/>
        </p:spPr>
        <p:txBody>
          <a:bodyPr wrap="square" lIns="0" tIns="0" rIns="0" bIns="0" rtlCol="0" anchor="t"/>
          <a:lstStyle/>
          <a:p>
            <a:pPr indent="0" marL="0">
              <a:lnSpc>
                <a:spcPts val="1300"/>
              </a:lnSpc>
              <a:buNone/>
            </a:pPr>
            <a:r>
              <a:rPr lang="en-US" sz="950" dirty="0">
                <a:solidFill>
                  <a:srgbClr val="6E7689"/>
                </a:solidFill>
                <a:latin typeface="Calibri" pitchFamily="34" charset="0"/>
                <a:ea typeface="Calibri" pitchFamily="34" charset="-122"/>
                <a:cs typeface="Calibri" pitchFamily="34" charset="-120"/>
              </a:rPr>
              <a:t>Geeta Govind Vatika shares a boundary with Agra Chaupati, which E-O-D already runs — one block of roughly 25 acres, with internal pathways and gates between them. F&amp;B is supplied from kitchens that already exist next door, so this site needs counters rather than a built kitchen; private events sell into a customer base E-O-D already serves. The two specialise instead of competing: Chaupati the food and adventure destination, Geeta Govind Vatika the event and show destination.</a:t>
            </a:r>
            <a:endParaRPr lang="en-US" sz="950" dirty="0"/>
          </a:p>
        </p:txBody>
      </p:sp>
      <p:sp>
        <p:nvSpPr>
          <p:cNvPr id="22" name="Text 19"/>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ask</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facility covers mobilisation only: capital equipment, the security deposit and the first six months of licence fee. Operating cost from month one is met from gate, event and F&amp;B collections.</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9326880"/>
                <a:gridCol w="1730959"/>
              </a:tblGrid>
              <a:tr h="28346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Application of funds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Amount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Kiosk counters, common seating, shade structures  ·  7-year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Ticketing, POS and CCTV  ·  5-year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₹6.0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Horticulture equipment, tools, uniforms, safety kit  ·  5-year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Signage, branding, wayfinding  ·  5-year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Pre-operative and contingency  ·  5-year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capital equipment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Security deposit — three months of licence fee, refundable at expiry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₹9.0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Advance licence fee — first six months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₹18.0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EMD and tender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₹1.1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mobilisation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₹58.1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Opening-season working capital — timing float on the advance licence fee, payroll and electricity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₹41.9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Total facility sought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741416"/>
            <a:ext cx="11057839" cy="10973"/>
          </a:xfrm>
          <a:prstGeom prst="rect">
            <a:avLst/>
          </a:prstGeom>
          <a:solidFill>
            <a:srgbClr val="E2E4EA"/>
          </a:solidFill>
          <a:ln/>
        </p:spPr>
      </p:sp>
      <p:sp>
        <p:nvSpPr>
          <p:cNvPr id="8" name="Text 5"/>
          <p:cNvSpPr/>
          <p:nvPr/>
        </p:nvSpPr>
        <p:spPr>
          <a:xfrm>
            <a:off x="566928" y="5796280"/>
            <a:ext cx="11057839" cy="173736"/>
          </a:xfrm>
          <a:prstGeom prst="rect">
            <a:avLst/>
          </a:prstGeom>
          <a:noFill/>
          <a:ln/>
        </p:spPr>
        <p:txBody>
          <a:bodyPr wrap="square" lIns="0" tIns="0" rIns="0" bIns="0" rtlCol="0" anchor="t"/>
          <a:lstStyle/>
          <a:p>
            <a:pPr indent="0" marL="0">
              <a:buNone/>
            </a:pPr>
            <a:r>
              <a:rPr lang="en-US" sz="800" b="1" spc="140" kern="0" dirty="0">
                <a:solidFill>
                  <a:srgbClr val="6E7689"/>
                </a:solidFill>
                <a:latin typeface="Calibri" pitchFamily="34" charset="0"/>
                <a:ea typeface="Calibri" pitchFamily="34" charset="-122"/>
                <a:cs typeface="Calibri" pitchFamily="34" charset="-120"/>
              </a:rPr>
              <a:t>NO ACTIVITY IS BOUGHT</a:t>
            </a:r>
            <a:endParaRPr lang="en-US" sz="800" dirty="0"/>
          </a:p>
        </p:txBody>
      </p:sp>
      <p:sp>
        <p:nvSpPr>
          <p:cNvPr id="9" name="Text 6"/>
          <p:cNvSpPr/>
          <p:nvPr/>
        </p:nvSpPr>
        <p:spPr>
          <a:xfrm>
            <a:off x="566928" y="5970016"/>
            <a:ext cx="11057839" cy="343408"/>
          </a:xfrm>
          <a:prstGeom prst="rect">
            <a:avLst/>
          </a:prstGeom>
          <a:noFill/>
          <a:ln/>
        </p:spPr>
        <p:txBody>
          <a:bodyPr wrap="square" lIns="0" tIns="0" rIns="0" bIns="0" rtlCol="0" anchor="t"/>
          <a:lstStyle/>
          <a:p>
            <a:pPr indent="0" marL="0">
              <a:lnSpc>
                <a:spcPts val="1300"/>
              </a:lnSpc>
              <a:buNone/>
            </a:pPr>
            <a:r>
              <a:rPr lang="en-US" sz="950" dirty="0">
                <a:solidFill>
                  <a:srgbClr val="6E7689"/>
                </a:solidFill>
                <a:latin typeface="Calibri" pitchFamily="34" charset="0"/>
                <a:ea typeface="Calibri" pitchFamily="34" charset="-122"/>
                <a:cs typeface="Calibri" pitchFamily="34" charset="-120"/>
              </a:rPr>
              <a:t>Every activity on site is brought in by a vendor on rent or revenue share — none of it is funded from this facility, none of it appears as capital expenditure, and the vendor carries its own operating cost. E-O-D books its 20% share of the vendor's takings, not the gross spend.</a:t>
            </a:r>
            <a:endParaRPr lang="en-US" sz="950" dirty="0"/>
          </a:p>
        </p:txBody>
      </p:sp>
      <p:sp>
        <p:nvSpPr>
          <p:cNvPr id="10" name="Text 7"/>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ask · year one</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No part of operating cost is financed. The opening season is met from gate, event and F&amp;B collections.</a:t>
            </a:r>
            <a:endParaRPr lang="en-US" sz="1250" dirty="0"/>
          </a:p>
        </p:txBody>
      </p:sp>
      <p:sp>
        <p:nvSpPr>
          <p:cNvPr id="6" name="Shape 4"/>
          <p:cNvSpPr/>
          <p:nvPr/>
        </p:nvSpPr>
        <p:spPr>
          <a:xfrm>
            <a:off x="566928" y="1310132"/>
            <a:ext cx="3539642" cy="1371600"/>
          </a:xfrm>
          <a:prstGeom prst="roundRect">
            <a:avLst>
              <a:gd name="adj" fmla="val 4000"/>
            </a:avLst>
          </a:prstGeom>
          <a:solidFill>
            <a:srgbClr val="F5F6F8"/>
          </a:solidFill>
          <a:ln w="12700">
            <a:solidFill>
              <a:srgbClr val="E2E4EA"/>
            </a:solidFill>
            <a:prstDash val="solid"/>
          </a:ln>
        </p:spPr>
      </p:sp>
      <p:sp>
        <p:nvSpPr>
          <p:cNvPr id="7" name="Text 5"/>
          <p:cNvSpPr/>
          <p:nvPr/>
        </p:nvSpPr>
        <p:spPr>
          <a:xfrm>
            <a:off x="749808" y="142900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1 REVENUE</a:t>
            </a:r>
            <a:endParaRPr lang="en-US" sz="850" dirty="0"/>
          </a:p>
        </p:txBody>
      </p:sp>
      <p:sp>
        <p:nvSpPr>
          <p:cNvPr id="8" name="Text 6"/>
          <p:cNvSpPr/>
          <p:nvPr/>
        </p:nvSpPr>
        <p:spPr>
          <a:xfrm>
            <a:off x="749808" y="167589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₹2.35 Cr</a:t>
            </a:r>
            <a:endParaRPr lang="en-US" sz="2600" dirty="0"/>
          </a:p>
        </p:txBody>
      </p:sp>
      <p:sp>
        <p:nvSpPr>
          <p:cNvPr id="9" name="Text 7"/>
          <p:cNvSpPr/>
          <p:nvPr/>
        </p:nvSpPr>
        <p:spPr>
          <a:xfrm>
            <a:off x="749808" y="2151380"/>
            <a:ext cx="3173882" cy="45720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Net of GST</a:t>
            </a:r>
            <a:endParaRPr lang="en-US" sz="950" dirty="0"/>
          </a:p>
        </p:txBody>
      </p:sp>
      <p:sp>
        <p:nvSpPr>
          <p:cNvPr id="10" name="Shape 8"/>
          <p:cNvSpPr/>
          <p:nvPr/>
        </p:nvSpPr>
        <p:spPr>
          <a:xfrm>
            <a:off x="4326026" y="1310132"/>
            <a:ext cx="3539642" cy="1371600"/>
          </a:xfrm>
          <a:prstGeom prst="roundRect">
            <a:avLst>
              <a:gd name="adj" fmla="val 4000"/>
            </a:avLst>
          </a:prstGeom>
          <a:solidFill>
            <a:srgbClr val="F5F6F8"/>
          </a:solidFill>
          <a:ln w="12700">
            <a:solidFill>
              <a:srgbClr val="E2E4EA"/>
            </a:solidFill>
            <a:prstDash val="solid"/>
          </a:ln>
        </p:spPr>
      </p:sp>
      <p:sp>
        <p:nvSpPr>
          <p:cNvPr id="11" name="Text 9"/>
          <p:cNvSpPr/>
          <p:nvPr/>
        </p:nvSpPr>
        <p:spPr>
          <a:xfrm>
            <a:off x="4508906" y="142900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1 OPERATING COST</a:t>
            </a:r>
            <a:endParaRPr lang="en-US" sz="850" dirty="0"/>
          </a:p>
        </p:txBody>
      </p:sp>
      <p:sp>
        <p:nvSpPr>
          <p:cNvPr id="12" name="Text 10"/>
          <p:cNvSpPr/>
          <p:nvPr/>
        </p:nvSpPr>
        <p:spPr>
          <a:xfrm>
            <a:off x="4508906" y="167589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₹2.32 Cr</a:t>
            </a:r>
            <a:endParaRPr lang="en-US" sz="2600" dirty="0"/>
          </a:p>
        </p:txBody>
      </p:sp>
      <p:sp>
        <p:nvSpPr>
          <p:cNvPr id="13" name="Text 11"/>
          <p:cNvSpPr/>
          <p:nvPr/>
        </p:nvSpPr>
        <p:spPr>
          <a:xfrm>
            <a:off x="4508906" y="2151380"/>
            <a:ext cx="3173882" cy="45720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Not financed — met from collections</a:t>
            </a:r>
            <a:endParaRPr lang="en-US" sz="950" dirty="0"/>
          </a:p>
        </p:txBody>
      </p:sp>
      <p:sp>
        <p:nvSpPr>
          <p:cNvPr id="14" name="Shape 12"/>
          <p:cNvSpPr/>
          <p:nvPr/>
        </p:nvSpPr>
        <p:spPr>
          <a:xfrm>
            <a:off x="8085125" y="1310132"/>
            <a:ext cx="3539642" cy="1371600"/>
          </a:xfrm>
          <a:prstGeom prst="roundRect">
            <a:avLst>
              <a:gd name="adj" fmla="val 4000"/>
            </a:avLst>
          </a:prstGeom>
          <a:solidFill>
            <a:srgbClr val="EDFAF4"/>
          </a:solidFill>
          <a:ln w="12700">
            <a:solidFill>
              <a:srgbClr val="10B981"/>
            </a:solidFill>
            <a:prstDash val="solid"/>
          </a:ln>
        </p:spPr>
      </p:sp>
      <p:sp>
        <p:nvSpPr>
          <p:cNvPr id="15" name="Text 13"/>
          <p:cNvSpPr/>
          <p:nvPr/>
        </p:nvSpPr>
        <p:spPr>
          <a:xfrm>
            <a:off x="8268005" y="142900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1 EBITDA</a:t>
            </a:r>
            <a:endParaRPr lang="en-US" sz="850" dirty="0"/>
          </a:p>
        </p:txBody>
      </p:sp>
      <p:sp>
        <p:nvSpPr>
          <p:cNvPr id="16" name="Text 14"/>
          <p:cNvSpPr/>
          <p:nvPr/>
        </p:nvSpPr>
        <p:spPr>
          <a:xfrm>
            <a:off x="8268005" y="1675892"/>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₹0.03 Cr</a:t>
            </a:r>
            <a:endParaRPr lang="en-US" sz="2600" dirty="0"/>
          </a:p>
        </p:txBody>
      </p:sp>
      <p:sp>
        <p:nvSpPr>
          <p:cNvPr id="17" name="Text 15"/>
          <p:cNvSpPr/>
          <p:nvPr/>
        </p:nvSpPr>
        <p:spPr>
          <a:xfrm>
            <a:off x="8268005" y="2151380"/>
            <a:ext cx="3173882" cy="45720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Covers its own operating cost — thin, which is what the standby limit absorbs</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3010916"/>
          <a:ext cx="11057839" cy="914400"/>
        </p:xfrm>
        <a:graphic>
          <a:graphicData uri="http://schemas.openxmlformats.org/drawingml/2006/table">
            <a:tbl>
              <a:tblPr/>
              <a:tblGrid>
                <a:gridCol w="6766560"/>
                <a:gridCol w="2103120"/>
                <a:gridCol w="2188159"/>
              </a:tblGrid>
              <a:tr h="24688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Year 1 revenue by stream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Share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Gate entry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0.48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21%</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Fountain and laser show</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0.76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Food and beverage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0.37</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Activity layer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Parking</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0.14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Public events and IPs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0.32</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Private events and shoots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0.18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Total, net of GST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Revenue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Seven streams. The first five are footfall multiplied by a capture rate and a tariff, net of GST; the two event lines are booked directly. Every rate is derived in section 08.</a:t>
            </a:r>
            <a:endParaRPr lang="en-US" sz="1250" dirty="0"/>
          </a:p>
        </p:txBody>
      </p:sp>
      <p:graphicFrame>
        <p:nvGraphicFramePr>
          <p:cNvPr id="6" name="Chart 0" descr=""/>
          <p:cNvGraphicFramePr/>
          <p:nvPr/>
        </p:nvGraphicFramePr>
        <p:xfrm>
          <a:off x="566928" y="1541272"/>
          <a:ext cx="11057839" cy="27432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513072"/>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463194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1 FOOTFALL</a:t>
            </a:r>
            <a:endParaRPr lang="en-US" sz="850" dirty="0"/>
          </a:p>
        </p:txBody>
      </p:sp>
      <p:sp>
        <p:nvSpPr>
          <p:cNvPr id="9" name="Text 6"/>
          <p:cNvSpPr/>
          <p:nvPr/>
        </p:nvSpPr>
        <p:spPr>
          <a:xfrm>
            <a:off x="749808" y="487883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3.75 L</a:t>
            </a:r>
            <a:endParaRPr lang="en-US" sz="2600" dirty="0"/>
          </a:p>
        </p:txBody>
      </p:sp>
      <p:sp>
        <p:nvSpPr>
          <p:cNvPr id="10" name="Text 7"/>
          <p:cNvSpPr/>
          <p:nvPr/>
        </p:nvSpPr>
        <p:spPr>
          <a:xfrm>
            <a:off x="749808" y="5354320"/>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About 1,027 visits a day</a:t>
            </a:r>
            <a:endParaRPr lang="en-US" sz="950" dirty="0"/>
          </a:p>
        </p:txBody>
      </p:sp>
      <p:sp>
        <p:nvSpPr>
          <p:cNvPr id="11" name="Shape 8"/>
          <p:cNvSpPr/>
          <p:nvPr/>
        </p:nvSpPr>
        <p:spPr>
          <a:xfrm>
            <a:off x="3386252" y="4513072"/>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463194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7 FOOTFALL</a:t>
            </a:r>
            <a:endParaRPr lang="en-US" sz="850" dirty="0"/>
          </a:p>
        </p:txBody>
      </p:sp>
      <p:sp>
        <p:nvSpPr>
          <p:cNvPr id="13" name="Text 10"/>
          <p:cNvSpPr/>
          <p:nvPr/>
        </p:nvSpPr>
        <p:spPr>
          <a:xfrm>
            <a:off x="3569132" y="487883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5.80 L</a:t>
            </a:r>
            <a:endParaRPr lang="en-US" sz="2600" dirty="0"/>
          </a:p>
        </p:txBody>
      </p:sp>
      <p:sp>
        <p:nvSpPr>
          <p:cNvPr id="14" name="Text 11"/>
          <p:cNvSpPr/>
          <p:nvPr/>
        </p:nvSpPr>
        <p:spPr>
          <a:xfrm>
            <a:off x="3569132" y="5354320"/>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About 1,589 visits a day</a:t>
            </a:r>
            <a:endParaRPr lang="en-US" sz="950" dirty="0"/>
          </a:p>
        </p:txBody>
      </p:sp>
      <p:sp>
        <p:nvSpPr>
          <p:cNvPr id="15" name="Shape 12"/>
          <p:cNvSpPr/>
          <p:nvPr/>
        </p:nvSpPr>
        <p:spPr>
          <a:xfrm>
            <a:off x="6205576" y="4513072"/>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463194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REVENUE PER VISIT</a:t>
            </a:r>
            <a:endParaRPr lang="en-US" sz="850" dirty="0"/>
          </a:p>
        </p:txBody>
      </p:sp>
      <p:sp>
        <p:nvSpPr>
          <p:cNvPr id="17" name="Text 14"/>
          <p:cNvSpPr/>
          <p:nvPr/>
        </p:nvSpPr>
        <p:spPr>
          <a:xfrm>
            <a:off x="6388456" y="487883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₹63</a:t>
            </a:r>
            <a:endParaRPr lang="en-US" sz="2600" dirty="0"/>
          </a:p>
        </p:txBody>
      </p:sp>
      <p:sp>
        <p:nvSpPr>
          <p:cNvPr id="18" name="Text 15"/>
          <p:cNvSpPr/>
          <p:nvPr/>
        </p:nvSpPr>
        <p:spPr>
          <a:xfrm>
            <a:off x="6388456" y="5354320"/>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Year 1, net of GST. Year 7: ₹110</a:t>
            </a:r>
            <a:endParaRPr lang="en-US" sz="950" dirty="0"/>
          </a:p>
        </p:txBody>
      </p:sp>
      <p:sp>
        <p:nvSpPr>
          <p:cNvPr id="19" name="Shape 16"/>
          <p:cNvSpPr/>
          <p:nvPr/>
        </p:nvSpPr>
        <p:spPr>
          <a:xfrm>
            <a:off x="9024899" y="4513072"/>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463194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GATE TARIFF</a:t>
            </a:r>
            <a:endParaRPr lang="en-US" sz="850" dirty="0"/>
          </a:p>
        </p:txBody>
      </p:sp>
      <p:sp>
        <p:nvSpPr>
          <p:cNvPr id="21" name="Text 18"/>
          <p:cNvSpPr/>
          <p:nvPr/>
        </p:nvSpPr>
        <p:spPr>
          <a:xfrm>
            <a:off x="9207779" y="487883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₹20</a:t>
            </a:r>
            <a:endParaRPr lang="en-US" sz="2600" dirty="0"/>
          </a:p>
        </p:txBody>
      </p:sp>
      <p:sp>
        <p:nvSpPr>
          <p:cNvPr id="22" name="Text 19"/>
          <p:cNvSpPr/>
          <p:nvPr/>
        </p:nvSpPr>
        <p:spPr>
          <a:xfrm>
            <a:off x="9207779" y="5354320"/>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Fixed by ADA. No escalation modelled</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Cost model</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Licence fee on a contracted rate, payroll with footfall, the rest with inflation or revenue.</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2926080"/>
                <a:gridCol w="1161680"/>
                <a:gridCol w="1161680"/>
                <a:gridCol w="1161680"/>
                <a:gridCol w="1161680"/>
                <a:gridCol w="1161680"/>
                <a:gridCol w="1161680"/>
                <a:gridCol w="1161680"/>
              </a:tblGrid>
              <a:tr h="182880">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2</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4</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6</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Licence fee to ADA</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Payroll</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0.70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0.80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0.88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0.97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1.06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1.26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Electricity</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Show AMC and spares</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Water and horticulture</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F&amp;B cost of goods</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Event delivery</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Owned activity cost</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Marketing</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Corporate overhead</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Other operating cost</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b="1" dirty="0">
                          <a:solidFill>
                            <a:srgbClr val="0A1426"/>
                          </a:solidFill>
                          <a:latin typeface="Calibri" pitchFamily="34" charset="0"/>
                          <a:ea typeface="Calibri" pitchFamily="34" charset="-122"/>
                          <a:cs typeface="Calibri" pitchFamily="34" charset="-120"/>
                        </a:rPr>
                        <a:t>Total operating cost</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2.32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2.59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3.59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3.92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4.27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182880">
                <a:tc>
                  <a:txBody>
                    <a:bodyPr/>
                    <a:lstStyle/>
                    <a:p>
                      <a:pPr algn="l" indent="0" marL="0">
                        <a:buNone/>
                      </a:pPr>
                      <a:r>
                        <a:rPr lang="en-US" sz="850" b="1" dirty="0">
                          <a:solidFill>
                            <a:srgbClr val="3B4660"/>
                          </a:solidFill>
                          <a:latin typeface="Calibri" pitchFamily="34" charset="0"/>
                          <a:ea typeface="Calibri" pitchFamily="34" charset="-122"/>
                          <a:cs typeface="Calibri" pitchFamily="34" charset="-120"/>
                        </a:rPr>
                        <a:t>Revenue</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2.35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2.93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3.52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4.53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5.23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5.74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6.41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182880">
                <a:tc>
                  <a:txBody>
                    <a:bodyPr/>
                    <a:lstStyle/>
                    <a:p>
                      <a:pPr algn="l" indent="0" marL="0">
                        <a:buNone/>
                      </a:pPr>
                      <a:r>
                        <a:rPr lang="en-US" sz="850" b="1" dirty="0">
                          <a:solidFill>
                            <a:srgbClr val="3B4660"/>
                          </a:solidFill>
                          <a:latin typeface="Calibri" pitchFamily="34" charset="0"/>
                          <a:ea typeface="Calibri" pitchFamily="34" charset="-122"/>
                          <a:cs typeface="Calibri" pitchFamily="34" charset="-120"/>
                        </a:rPr>
                        <a:t>EBITDA</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0.68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1.25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1.64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1.82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2.14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182880">
                <a:tc>
                  <a:txBody>
                    <a:bodyPr/>
                    <a:lstStyle/>
                    <a:p>
                      <a:pPr algn="l" indent="0" marL="0">
                        <a:buNone/>
                      </a:pPr>
                      <a:r>
                        <a:rPr lang="en-US" sz="850" b="1" dirty="0">
                          <a:solidFill>
                            <a:srgbClr val="0A1426"/>
                          </a:solidFill>
                          <a:latin typeface="Calibri" pitchFamily="34" charset="0"/>
                          <a:ea typeface="Calibri" pitchFamily="34" charset="-122"/>
                          <a:cs typeface="Calibri" pitchFamily="34" charset="-120"/>
                        </a:rPr>
                        <a:t>EBITDA margin</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719445"/>
            <a:ext cx="11057839" cy="10973"/>
          </a:xfrm>
          <a:prstGeom prst="rect">
            <a:avLst/>
          </a:prstGeom>
          <a:solidFill>
            <a:srgbClr val="E2E4EA"/>
          </a:solidFill>
          <a:ln/>
        </p:spPr>
      </p:sp>
      <p:sp>
        <p:nvSpPr>
          <p:cNvPr id="8" name="Text 5"/>
          <p:cNvSpPr/>
          <p:nvPr/>
        </p:nvSpPr>
        <p:spPr>
          <a:xfrm>
            <a:off x="566928" y="5774309"/>
            <a:ext cx="11057839" cy="173736"/>
          </a:xfrm>
          <a:prstGeom prst="rect">
            <a:avLst/>
          </a:prstGeom>
          <a:noFill/>
          <a:ln/>
        </p:spPr>
        <p:txBody>
          <a:bodyPr wrap="square" lIns="0" tIns="0" rIns="0" bIns="0" rtlCol="0" anchor="t"/>
          <a:lstStyle/>
          <a:p>
            <a:pPr indent="0" marL="0">
              <a:buNone/>
            </a:pPr>
            <a:r>
              <a:rPr lang="en-US" sz="800" b="1" spc="140" kern="0" dirty="0">
                <a:solidFill>
                  <a:srgbClr val="6E7689"/>
                </a:solidFill>
                <a:latin typeface="Calibri" pitchFamily="34" charset="0"/>
                <a:ea typeface="Calibri" pitchFamily="34" charset="-122"/>
                <a:cs typeface="Calibri" pitchFamily="34" charset="-120"/>
              </a:rPr>
              <a:t>WHAT THE SHOW AMC LINE DOES AND DOES NOT COVER</a:t>
            </a:r>
            <a:endParaRPr lang="en-US" sz="800" dirty="0"/>
          </a:p>
        </p:txBody>
      </p:sp>
      <p:sp>
        <p:nvSpPr>
          <p:cNvPr id="9" name="Text 6"/>
          <p:cNvSpPr/>
          <p:nvPr/>
        </p:nvSpPr>
        <p:spPr>
          <a:xfrm>
            <a:off x="566928" y="5948045"/>
            <a:ext cx="11057839" cy="343408"/>
          </a:xfrm>
          <a:prstGeom prst="rect">
            <a:avLst/>
          </a:prstGeom>
          <a:noFill/>
          <a:ln/>
        </p:spPr>
        <p:txBody>
          <a:bodyPr wrap="square" lIns="0" tIns="0" rIns="0" bIns="0" rtlCol="0" anchor="t"/>
          <a:lstStyle/>
          <a:p>
            <a:pPr indent="0" marL="0">
              <a:lnSpc>
                <a:spcPts val="1300"/>
              </a:lnSpc>
              <a:buNone/>
            </a:pPr>
            <a:r>
              <a:rPr lang="en-US" sz="950" dirty="0">
                <a:solidFill>
                  <a:srgbClr val="6E7689"/>
                </a:solidFill>
                <a:latin typeface="Calibri" pitchFamily="34" charset="0"/>
                <a:ea typeface="Calibri" pitchFamily="34" charset="-122"/>
                <a:cs typeface="Calibri" pitchFamily="34" charset="-120"/>
              </a:rPr>
              <a:t>Servicing and consumable spares only. End-of-life replacement falls on the agency under the RFP and is not provided for — the age of the installed equipment is not known. Open item, section 09.</a:t>
            </a:r>
            <a:endParaRPr lang="en-US" sz="950" dirty="0"/>
          </a:p>
        </p:txBody>
      </p:sp>
      <p:sp>
        <p:nvSpPr>
          <p:cNvPr id="10" name="Text 7"/>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Seven-year projection</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initial term, extension years excluded. Two steps drive the shape: more operators from year 2, and the year-3 reinvestment landing in year 4.</a:t>
            </a:r>
            <a:endParaRPr lang="en-US" sz="1250" dirty="0"/>
          </a:p>
        </p:txBody>
      </p:sp>
      <p:graphicFrame>
        <p:nvGraphicFramePr>
          <p:cNvPr id="6" name="Chart 0" descr=""/>
          <p:cNvGraphicFramePr/>
          <p:nvPr/>
        </p:nvGraphicFramePr>
        <p:xfrm>
          <a:off x="566928" y="1541272"/>
          <a:ext cx="11057839" cy="28346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604512"/>
            <a:ext cx="3539642" cy="1170432"/>
          </a:xfrm>
          <a:prstGeom prst="roundRect">
            <a:avLst>
              <a:gd name="adj" fmla="val 4688"/>
            </a:avLst>
          </a:prstGeom>
          <a:solidFill>
            <a:srgbClr val="F5F6F8"/>
          </a:solidFill>
          <a:ln w="12700">
            <a:solidFill>
              <a:srgbClr val="E2E4EA"/>
            </a:solidFill>
            <a:prstDash val="solid"/>
          </a:ln>
        </p:spPr>
      </p:sp>
      <p:sp>
        <p:nvSpPr>
          <p:cNvPr id="8" name="Text 5"/>
          <p:cNvSpPr/>
          <p:nvPr/>
        </p:nvSpPr>
        <p:spPr>
          <a:xfrm>
            <a:off x="749808" y="47233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EBITDA POSITIVE FROM</a:t>
            </a:r>
            <a:endParaRPr lang="en-US" sz="850" dirty="0"/>
          </a:p>
        </p:txBody>
      </p:sp>
      <p:sp>
        <p:nvSpPr>
          <p:cNvPr id="9" name="Text 6"/>
          <p:cNvSpPr/>
          <p:nvPr/>
        </p:nvSpPr>
        <p:spPr>
          <a:xfrm>
            <a:off x="749808" y="4970272"/>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Year 1</a:t>
            </a:r>
            <a:endParaRPr lang="en-US" sz="2000" dirty="0"/>
          </a:p>
        </p:txBody>
      </p:sp>
      <p:sp>
        <p:nvSpPr>
          <p:cNvPr id="10" name="Text 7"/>
          <p:cNvSpPr/>
          <p:nvPr/>
        </p:nvSpPr>
        <p:spPr>
          <a:xfrm>
            <a:off x="749808" y="544576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₹0.03 Cr in the opening season — thin by design</a:t>
            </a:r>
            <a:endParaRPr lang="en-US" sz="950" dirty="0"/>
          </a:p>
        </p:txBody>
      </p:sp>
      <p:sp>
        <p:nvSpPr>
          <p:cNvPr id="11" name="Shape 8"/>
          <p:cNvSpPr/>
          <p:nvPr/>
        </p:nvSpPr>
        <p:spPr>
          <a:xfrm>
            <a:off x="4326026" y="4604512"/>
            <a:ext cx="3539642" cy="1170432"/>
          </a:xfrm>
          <a:prstGeom prst="roundRect">
            <a:avLst>
              <a:gd name="adj" fmla="val 4688"/>
            </a:avLst>
          </a:prstGeom>
          <a:solidFill>
            <a:srgbClr val="F5F6F8"/>
          </a:solidFill>
          <a:ln w="12700">
            <a:solidFill>
              <a:srgbClr val="E2E4EA"/>
            </a:solidFill>
            <a:prstDash val="solid"/>
          </a:ln>
        </p:spPr>
      </p:sp>
      <p:sp>
        <p:nvSpPr>
          <p:cNvPr id="12" name="Text 9"/>
          <p:cNvSpPr/>
          <p:nvPr/>
        </p:nvSpPr>
        <p:spPr>
          <a:xfrm>
            <a:off x="4508906" y="47233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MARGIN, YEAR 7</a:t>
            </a:r>
            <a:endParaRPr lang="en-US" sz="850" dirty="0"/>
          </a:p>
        </p:txBody>
      </p:sp>
      <p:sp>
        <p:nvSpPr>
          <p:cNvPr id="13" name="Text 10"/>
          <p:cNvSpPr/>
          <p:nvPr/>
        </p:nvSpPr>
        <p:spPr>
          <a:xfrm>
            <a:off x="4508906" y="497027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33.4%</a:t>
            </a:r>
            <a:endParaRPr lang="en-US" sz="2600" dirty="0"/>
          </a:p>
        </p:txBody>
      </p:sp>
      <p:sp>
        <p:nvSpPr>
          <p:cNvPr id="14" name="Text 11"/>
          <p:cNvSpPr/>
          <p:nvPr/>
        </p:nvSpPr>
        <p:spPr>
          <a:xfrm>
            <a:off x="4508906" y="544576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On a mature base weighted to events</a:t>
            </a:r>
            <a:endParaRPr lang="en-US" sz="950" dirty="0"/>
          </a:p>
        </p:txBody>
      </p:sp>
      <p:sp>
        <p:nvSpPr>
          <p:cNvPr id="15" name="Shape 12"/>
          <p:cNvSpPr/>
          <p:nvPr/>
        </p:nvSpPr>
        <p:spPr>
          <a:xfrm>
            <a:off x="8085125" y="4604512"/>
            <a:ext cx="3539642" cy="1170432"/>
          </a:xfrm>
          <a:prstGeom prst="roundRect">
            <a:avLst>
              <a:gd name="adj" fmla="val 4688"/>
            </a:avLst>
          </a:prstGeom>
          <a:solidFill>
            <a:srgbClr val="F5F6F8"/>
          </a:solidFill>
          <a:ln w="12700">
            <a:solidFill>
              <a:srgbClr val="E2E4EA"/>
            </a:solidFill>
            <a:prstDash val="solid"/>
          </a:ln>
        </p:spPr>
      </p:sp>
      <p:sp>
        <p:nvSpPr>
          <p:cNvPr id="16" name="Text 13"/>
          <p:cNvSpPr/>
          <p:nvPr/>
        </p:nvSpPr>
        <p:spPr>
          <a:xfrm>
            <a:off x="8268005" y="47233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CUMULATIVE EBITDA</a:t>
            </a:r>
            <a:endParaRPr lang="en-US" sz="850" dirty="0"/>
          </a:p>
        </p:txBody>
      </p:sp>
      <p:sp>
        <p:nvSpPr>
          <p:cNvPr id="17" name="Text 14"/>
          <p:cNvSpPr/>
          <p:nvPr/>
        </p:nvSpPr>
        <p:spPr>
          <a:xfrm>
            <a:off x="8268005" y="497027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₹7.89 Cr</a:t>
            </a:r>
            <a:endParaRPr lang="en-US" sz="2600" dirty="0"/>
          </a:p>
        </p:txBody>
      </p:sp>
      <p:sp>
        <p:nvSpPr>
          <p:cNvPr id="18" name="Text 15"/>
          <p:cNvSpPr/>
          <p:nvPr/>
        </p:nvSpPr>
        <p:spPr>
          <a:xfrm>
            <a:off x="8268005" y="544576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seven-year initial term</a:t>
            </a:r>
            <a:endParaRPr lang="en-US" sz="950" dirty="0"/>
          </a:p>
        </p:txBody>
      </p:sp>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year-3 reinvestment</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At the end of year 3 the project spends ₹0.40 Cr of its own accumulated cash. No second facility, no equity.</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2651760"/>
                <a:gridCol w="1050760"/>
                <a:gridCol w="1050760"/>
                <a:gridCol w="1050760"/>
                <a:gridCol w="1050760"/>
                <a:gridCol w="1050760"/>
                <a:gridCol w="1050760"/>
                <a:gridCol w="1050760"/>
                <a:gridCol w="1050760"/>
              </a:tblGrid>
              <a:tr h="274320">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Cash after debt service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Opening</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2</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4</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6</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EBITDA</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0.68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1.64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Tax and maintenance capex</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-0.48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-0.63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Debt service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Reinvestment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-0.40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0A1426"/>
                          </a:solidFill>
                          <a:latin typeface="Calibri" pitchFamily="34" charset="0"/>
                          <a:ea typeface="Calibri" pitchFamily="34" charset="-122"/>
                          <a:cs typeface="Calibri" pitchFamily="34" charset="-120"/>
                        </a:rPr>
                        <a:t>Closing cash</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0.42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0.29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0.17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0.89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1.90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3.05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4.44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306064"/>
            <a:ext cx="3539642" cy="1298448"/>
          </a:xfrm>
          <a:prstGeom prst="roundRect">
            <a:avLst>
              <a:gd name="adj" fmla="val 4225"/>
            </a:avLst>
          </a:prstGeom>
          <a:solidFill>
            <a:srgbClr val="F5F6F8"/>
          </a:solidFill>
          <a:ln w="12700">
            <a:solidFill>
              <a:srgbClr val="E2E4EA"/>
            </a:solidFill>
            <a:prstDash val="solid"/>
          </a:ln>
        </p:spPr>
      </p:sp>
      <p:sp>
        <p:nvSpPr>
          <p:cNvPr id="8" name="Text 5"/>
          <p:cNvSpPr/>
          <p:nvPr/>
        </p:nvSpPr>
        <p:spPr>
          <a:xfrm>
            <a:off x="749808" y="3424936"/>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SECOND LASER AND PROJECTION SHOW</a:t>
            </a:r>
            <a:endParaRPr lang="en-US" sz="850" dirty="0"/>
          </a:p>
        </p:txBody>
      </p:sp>
      <p:sp>
        <p:nvSpPr>
          <p:cNvPr id="9" name="Text 6"/>
          <p:cNvSpPr/>
          <p:nvPr/>
        </p:nvSpPr>
        <p:spPr>
          <a:xfrm>
            <a:off x="749808" y="3671824"/>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₹26 L</a:t>
            </a:r>
            <a:endParaRPr lang="en-US" sz="2000" dirty="0"/>
          </a:p>
        </p:txBody>
      </p:sp>
      <p:sp>
        <p:nvSpPr>
          <p:cNvPr id="10" name="Text 7"/>
          <p:cNvSpPr/>
          <p:nvPr/>
        </p:nvSpPr>
        <p:spPr>
          <a:xfrm>
            <a:off x="749808" y="4147312"/>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Two ticketed shows an evening instead of one — conversion steps from 28% to 34% in year 4</a:t>
            </a:r>
            <a:endParaRPr lang="en-US" sz="950" dirty="0"/>
          </a:p>
        </p:txBody>
      </p:sp>
      <p:sp>
        <p:nvSpPr>
          <p:cNvPr id="11" name="Shape 8"/>
          <p:cNvSpPr/>
          <p:nvPr/>
        </p:nvSpPr>
        <p:spPr>
          <a:xfrm>
            <a:off x="4326026" y="3306064"/>
            <a:ext cx="3539642" cy="1298448"/>
          </a:xfrm>
          <a:prstGeom prst="roundRect">
            <a:avLst>
              <a:gd name="adj" fmla="val 4225"/>
            </a:avLst>
          </a:prstGeom>
          <a:solidFill>
            <a:srgbClr val="F5F6F8"/>
          </a:solidFill>
          <a:ln w="12700">
            <a:solidFill>
              <a:srgbClr val="E2E4EA"/>
            </a:solidFill>
            <a:prstDash val="solid"/>
          </a:ln>
        </p:spPr>
      </p:sp>
      <p:sp>
        <p:nvSpPr>
          <p:cNvPr id="12" name="Text 9"/>
          <p:cNvSpPr/>
          <p:nvPr/>
        </p:nvSpPr>
        <p:spPr>
          <a:xfrm>
            <a:off x="4508906" y="3424936"/>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OWNED ACTIVITY INSTALLATIONS</a:t>
            </a:r>
            <a:endParaRPr lang="en-US" sz="850" dirty="0"/>
          </a:p>
        </p:txBody>
      </p:sp>
      <p:sp>
        <p:nvSpPr>
          <p:cNvPr id="13" name="Text 10"/>
          <p:cNvSpPr/>
          <p:nvPr/>
        </p:nvSpPr>
        <p:spPr>
          <a:xfrm>
            <a:off x="4508906" y="3671824"/>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₹14 L</a:t>
            </a:r>
            <a:endParaRPr lang="en-US" sz="2000" dirty="0"/>
          </a:p>
        </p:txBody>
      </p:sp>
      <p:sp>
        <p:nvSpPr>
          <p:cNvPr id="14" name="Text 11"/>
          <p:cNvSpPr/>
          <p:nvPr/>
        </p:nvSpPr>
        <p:spPr>
          <a:xfrm>
            <a:off x="4508906" y="4147312"/>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Demountable, per clause 3.3.2. E-O-D books these gross rather than at a 20% share</a:t>
            </a:r>
            <a:endParaRPr lang="en-US" sz="950" dirty="0"/>
          </a:p>
        </p:txBody>
      </p:sp>
      <p:sp>
        <p:nvSpPr>
          <p:cNvPr id="15" name="Shape 12"/>
          <p:cNvSpPr/>
          <p:nvPr/>
        </p:nvSpPr>
        <p:spPr>
          <a:xfrm>
            <a:off x="8085125" y="3306064"/>
            <a:ext cx="3539642" cy="1298448"/>
          </a:xfrm>
          <a:prstGeom prst="roundRect">
            <a:avLst>
              <a:gd name="adj" fmla="val 4225"/>
            </a:avLst>
          </a:prstGeom>
          <a:solidFill>
            <a:srgbClr val="F5F6F8"/>
          </a:solidFill>
          <a:ln w="12700">
            <a:solidFill>
              <a:srgbClr val="E2E4EA"/>
            </a:solidFill>
            <a:prstDash val="solid"/>
          </a:ln>
        </p:spPr>
      </p:sp>
      <p:sp>
        <p:nvSpPr>
          <p:cNvPr id="16" name="Text 13"/>
          <p:cNvSpPr/>
          <p:nvPr/>
        </p:nvSpPr>
        <p:spPr>
          <a:xfrm>
            <a:off x="8268005" y="3424936"/>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LOWEST CASH BALANCE</a:t>
            </a:r>
            <a:endParaRPr lang="en-US" sz="850" dirty="0"/>
          </a:p>
        </p:txBody>
      </p:sp>
      <p:sp>
        <p:nvSpPr>
          <p:cNvPr id="17" name="Text 14"/>
          <p:cNvSpPr/>
          <p:nvPr/>
        </p:nvSpPr>
        <p:spPr>
          <a:xfrm>
            <a:off x="8268005" y="3671824"/>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₹17 L</a:t>
            </a:r>
            <a:endParaRPr lang="en-US" sz="2600" dirty="0"/>
          </a:p>
        </p:txBody>
      </p:sp>
      <p:sp>
        <p:nvSpPr>
          <p:cNvPr id="18" name="Text 15"/>
          <p:cNvSpPr/>
          <p:nvPr/>
        </p:nvSpPr>
        <p:spPr>
          <a:xfrm>
            <a:off x="8268005" y="4147312"/>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End of year 3, after the build is paid for</a:t>
            </a:r>
            <a:endParaRPr lang="en-US" sz="950" dirty="0"/>
          </a:p>
        </p:txBody>
      </p:sp>
      <p:sp>
        <p:nvSpPr>
          <p:cNvPr id="19" name="Shape 16"/>
          <p:cNvSpPr/>
          <p:nvPr/>
        </p:nvSpPr>
        <p:spPr>
          <a:xfrm>
            <a:off x="566928" y="4878832"/>
            <a:ext cx="11057839" cy="10973"/>
          </a:xfrm>
          <a:prstGeom prst="rect">
            <a:avLst/>
          </a:prstGeom>
          <a:solidFill>
            <a:srgbClr val="E2E4EA"/>
          </a:solidFill>
          <a:ln/>
        </p:spPr>
      </p:sp>
      <p:sp>
        <p:nvSpPr>
          <p:cNvPr id="20" name="Text 17"/>
          <p:cNvSpPr/>
          <p:nvPr/>
        </p:nvSpPr>
        <p:spPr>
          <a:xfrm>
            <a:off x="566928" y="4933696"/>
            <a:ext cx="11057839" cy="173736"/>
          </a:xfrm>
          <a:prstGeom prst="rect">
            <a:avLst/>
          </a:prstGeom>
          <a:noFill/>
          <a:ln/>
        </p:spPr>
        <p:txBody>
          <a:bodyPr wrap="square" lIns="0" tIns="0" rIns="0" bIns="0" rtlCol="0" anchor="t"/>
          <a:lstStyle/>
          <a:p>
            <a:pPr indent="0" marL="0">
              <a:buNone/>
            </a:pPr>
            <a:r>
              <a:rPr lang="en-US" sz="800" b="1" spc="140" kern="0" dirty="0">
                <a:solidFill>
                  <a:srgbClr val="6E7689"/>
                </a:solidFill>
                <a:latin typeface="Calibri" pitchFamily="34" charset="0"/>
                <a:ea typeface="Calibri" pitchFamily="34" charset="-122"/>
                <a:cs typeface="Calibri" pitchFamily="34" charset="-120"/>
              </a:rPr>
              <a:t>WHY THIS SITS BELOW THE DEBT SERVICE LINE</a:t>
            </a:r>
            <a:endParaRPr lang="en-US" sz="800" dirty="0"/>
          </a:p>
        </p:txBody>
      </p:sp>
      <p:sp>
        <p:nvSpPr>
          <p:cNvPr id="21" name="Text 18"/>
          <p:cNvSpPr/>
          <p:nvPr/>
        </p:nvSpPr>
        <p:spPr>
          <a:xfrm>
            <a:off x="566928" y="5107432"/>
            <a:ext cx="11057839" cy="343408"/>
          </a:xfrm>
          <a:prstGeom prst="rect">
            <a:avLst/>
          </a:prstGeom>
          <a:noFill/>
          <a:ln/>
        </p:spPr>
        <p:txBody>
          <a:bodyPr wrap="square" lIns="0" tIns="0" rIns="0" bIns="0" rtlCol="0" anchor="t"/>
          <a:lstStyle/>
          <a:p>
            <a:pPr indent="0" marL="0">
              <a:lnSpc>
                <a:spcPts val="1300"/>
              </a:lnSpc>
              <a:buNone/>
            </a:pPr>
            <a:r>
              <a:rPr lang="en-US" sz="950" dirty="0">
                <a:solidFill>
                  <a:srgbClr val="6E7689"/>
                </a:solidFill>
                <a:latin typeface="Calibri" pitchFamily="34" charset="0"/>
                <a:ea typeface="Calibri" pitchFamily="34" charset="-122"/>
                <a:cs typeface="Calibri" pitchFamily="34" charset="-120"/>
              </a:rPr>
              <a:t>The reinvestment is discretionary and deferrable, so it is struck after the loan is served, not before. The coverage ratios in section 07 do not depend on it, and if the cash is not there the build waits — years 4 to 7 then run closer to the year-3 line and the facility is still serviced.</a:t>
            </a:r>
            <a:endParaRPr lang="en-US" sz="950" dirty="0"/>
          </a:p>
        </p:txBody>
      </p:sp>
      <p:sp>
        <p:nvSpPr>
          <p:cNvPr id="22" name="Text 19"/>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 cash flow and returns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Unlevered free cash flow. Capital deployed is the mobilisation envelope; operating cost is not financed, so it is not a capital item.</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651760"/>
                <a:gridCol w="1401013"/>
                <a:gridCol w="1401013"/>
                <a:gridCol w="1401013"/>
                <a:gridCol w="1401013"/>
                <a:gridCol w="1401013"/>
                <a:gridCol w="1401013"/>
              </a:tblGrid>
              <a:tr h="274320">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EBITDA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Tax</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Maint. capex</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Reinvestment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Refunds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Free cash flow</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3B4660"/>
                          </a:solidFill>
                          <a:latin typeface="Calibri" pitchFamily="34" charset="0"/>
                          <a:ea typeface="Calibri" pitchFamily="34" charset="-122"/>
                          <a:cs typeface="Calibri" pitchFamily="34" charset="-120"/>
                        </a:rPr>
                        <a:t>Capital deployed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0.68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-0.40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0.87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1.64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1.16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-0.42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1.28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1.61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3B4660"/>
                          </a:solidFill>
                          <a:latin typeface="Calibri" pitchFamily="34" charset="0"/>
                          <a:ea typeface="Calibri" pitchFamily="34" charset="-122"/>
                          <a:cs typeface="Calibri" pitchFamily="34" charset="-120"/>
                        </a:rPr>
                        <a:t>Operating free cash flow, seven years</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5.16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74320">
                <a:tc>
                  <a:txBody>
                    <a:bodyPr/>
                    <a:lstStyle/>
                    <a:p>
                      <a:pPr algn="l" indent="0" marL="0">
                        <a:buNone/>
                      </a:pPr>
                      <a:r>
                        <a:rPr lang="en-US" sz="1000" b="1" dirty="0">
                          <a:solidFill>
                            <a:srgbClr val="0A1426"/>
                          </a:solidFill>
                          <a:latin typeface="Calibri" pitchFamily="34" charset="0"/>
                          <a:ea typeface="Calibri" pitchFamily="34" charset="-122"/>
                          <a:cs typeface="Calibri" pitchFamily="34" charset="-120"/>
                        </a:rPr>
                        <a:t>Net of capital deployed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4.58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167884"/>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5286756"/>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PROJECT IRR</a:t>
            </a:r>
            <a:endParaRPr lang="en-US" sz="850" dirty="0"/>
          </a:p>
        </p:txBody>
      </p:sp>
      <p:sp>
        <p:nvSpPr>
          <p:cNvPr id="9" name="Text 6"/>
          <p:cNvSpPr/>
          <p:nvPr/>
        </p:nvSpPr>
        <p:spPr>
          <a:xfrm>
            <a:off x="749808" y="5533644"/>
            <a:ext cx="2234108"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52.4%</a:t>
            </a:r>
            <a:endParaRPr lang="en-US" sz="2600" dirty="0"/>
          </a:p>
        </p:txBody>
      </p:sp>
      <p:sp>
        <p:nvSpPr>
          <p:cNvPr id="10" name="Text 7"/>
          <p:cNvSpPr/>
          <p:nvPr/>
        </p:nvSpPr>
        <p:spPr>
          <a:xfrm>
            <a:off x="749808" y="6009132"/>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Unlevered, extension years excluded</a:t>
            </a:r>
            <a:endParaRPr lang="en-US" sz="950" dirty="0"/>
          </a:p>
        </p:txBody>
      </p:sp>
      <p:sp>
        <p:nvSpPr>
          <p:cNvPr id="11" name="Shape 8"/>
          <p:cNvSpPr/>
          <p:nvPr/>
        </p:nvSpPr>
        <p:spPr>
          <a:xfrm>
            <a:off x="3386252" y="5167884"/>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5286756"/>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PAYBACK</a:t>
            </a:r>
            <a:endParaRPr lang="en-US" sz="850" dirty="0"/>
          </a:p>
        </p:txBody>
      </p:sp>
      <p:sp>
        <p:nvSpPr>
          <p:cNvPr id="13" name="Text 10"/>
          <p:cNvSpPr/>
          <p:nvPr/>
        </p:nvSpPr>
        <p:spPr>
          <a:xfrm>
            <a:off x="3569132" y="5533644"/>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3.4 yrs</a:t>
            </a:r>
            <a:endParaRPr lang="en-US" sz="2600" dirty="0"/>
          </a:p>
        </p:txBody>
      </p:sp>
      <p:sp>
        <p:nvSpPr>
          <p:cNvPr id="14" name="Text 11"/>
          <p:cNvSpPr/>
          <p:nvPr/>
        </p:nvSpPr>
        <p:spPr>
          <a:xfrm>
            <a:off x="3569132" y="6009132"/>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From first deployment</a:t>
            </a:r>
            <a:endParaRPr lang="en-US" sz="950" dirty="0"/>
          </a:p>
        </p:txBody>
      </p:sp>
      <p:sp>
        <p:nvSpPr>
          <p:cNvPr id="15" name="Shape 12"/>
          <p:cNvSpPr/>
          <p:nvPr/>
        </p:nvSpPr>
        <p:spPr>
          <a:xfrm>
            <a:off x="6205576" y="5167884"/>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5286756"/>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NPV AT 15%</a:t>
            </a:r>
            <a:endParaRPr lang="en-US" sz="850" dirty="0"/>
          </a:p>
        </p:txBody>
      </p:sp>
      <p:sp>
        <p:nvSpPr>
          <p:cNvPr id="17" name="Text 14"/>
          <p:cNvSpPr/>
          <p:nvPr/>
        </p:nvSpPr>
        <p:spPr>
          <a:xfrm>
            <a:off x="6388456" y="5533644"/>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₹1.83 Cr</a:t>
            </a:r>
            <a:endParaRPr lang="en-US" sz="2600" dirty="0"/>
          </a:p>
        </p:txBody>
      </p:sp>
      <p:sp>
        <p:nvSpPr>
          <p:cNvPr id="18" name="Text 15"/>
          <p:cNvSpPr/>
          <p:nvPr/>
        </p:nvSpPr>
        <p:spPr>
          <a:xfrm>
            <a:off x="6388456" y="6009132"/>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Discounted at 15%</a:t>
            </a:r>
            <a:endParaRPr lang="en-US" sz="950" dirty="0"/>
          </a:p>
        </p:txBody>
      </p:sp>
      <p:sp>
        <p:nvSpPr>
          <p:cNvPr id="19" name="Shape 16"/>
          <p:cNvSpPr/>
          <p:nvPr/>
        </p:nvSpPr>
        <p:spPr>
          <a:xfrm>
            <a:off x="9024899" y="5167884"/>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5286756"/>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FCF NET OF CAPITAL</a:t>
            </a:r>
            <a:endParaRPr lang="en-US" sz="850" dirty="0"/>
          </a:p>
        </p:txBody>
      </p:sp>
      <p:sp>
        <p:nvSpPr>
          <p:cNvPr id="21" name="Text 18"/>
          <p:cNvSpPr/>
          <p:nvPr/>
        </p:nvSpPr>
        <p:spPr>
          <a:xfrm>
            <a:off x="9207779" y="5533644"/>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₹4.58 Cr</a:t>
            </a:r>
            <a:endParaRPr lang="en-US" sz="2600" dirty="0"/>
          </a:p>
        </p:txBody>
      </p:sp>
      <p:sp>
        <p:nvSpPr>
          <p:cNvPr id="22" name="Text 19"/>
          <p:cNvSpPr/>
          <p:nvPr/>
        </p:nvSpPr>
        <p:spPr>
          <a:xfrm>
            <a:off x="9207779" y="6009132"/>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₹5.16 Cr earned over seven years, less the ₹0.58 Cr deployed</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facility</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CGTMSE-guaranteed composite facility of ₹1.00 Cr: a term loan against mobilisation and a small revolving limit for within-year seasonality. No collateral, and no charge over ADA's assets.</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651760"/>
                <a:gridCol w="8406079"/>
              </a:tblGrid>
              <a:tr h="28346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Scheme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CGTMSE CGS-I · ceiling ₹10 Cr per borrower, aggregated across all lenders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Term loan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₹0.58 Cr — mobilisation capex, security deposit, advance licence fee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Working capital limit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₹0.42 Cr — within-year seasonality standby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Interest rate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11.50% · repo-linked; CGTMSE keeps MLI pricing within ~3% of EBLR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Annual guarantee fee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0.60% · on the sanctioned amount in year 1, on the outstanding thereafter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All-in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12.10%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Tenor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7 years — proposed, to be agreed with the lender. Matched to the licence period so the loan cannot outlive the concession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Principal moratorium</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 year — proposed, to be agreed with the lender. CGTMSE prescribes neither tenor nor moratorium</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Guarantee coverage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75% · ₹0.75 Cr guaranteed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Security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Nil collateral. Hypothecation of assets financed. Director personal guarantee permitted; third-party guarantee is not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Total finance cost over the term</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₹0.45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Text 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facility · repayment and cover</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133856"/>
          <a:ext cx="11057839" cy="914400"/>
        </p:xfrm>
        <a:graphic>
          <a:graphicData uri="http://schemas.openxmlformats.org/drawingml/2006/table">
            <a:tbl>
              <a:tblPr/>
              <a:tblGrid>
                <a:gridCol w="2286000"/>
                <a:gridCol w="974649"/>
                <a:gridCol w="974649"/>
                <a:gridCol w="974649"/>
                <a:gridCol w="974649"/>
                <a:gridCol w="974649"/>
                <a:gridCol w="974649"/>
                <a:gridCol w="974649"/>
                <a:gridCol w="974649"/>
                <a:gridCol w="974649"/>
              </a:tblGrid>
              <a:tr h="29260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TL o/s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TL int.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WC drawn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WC int.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AGF</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Principal</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Debt service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CFADS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DSCR</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1 · moratorium</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1.70×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0.48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0.68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3.84×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1.64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14.15×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18.72×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3752596"/>
            <a:ext cx="3539642" cy="1170432"/>
          </a:xfrm>
          <a:prstGeom prst="roundRect">
            <a:avLst>
              <a:gd name="adj" fmla="val 4688"/>
            </a:avLst>
          </a:prstGeom>
          <a:solidFill>
            <a:srgbClr val="F5F6F8"/>
          </a:solidFill>
          <a:ln w="12700">
            <a:solidFill>
              <a:srgbClr val="E2E4EA"/>
            </a:solidFill>
            <a:prstDash val="solid"/>
          </a:ln>
        </p:spPr>
      </p:sp>
      <p:sp>
        <p:nvSpPr>
          <p:cNvPr id="7" name="Text 4"/>
          <p:cNvSpPr/>
          <p:nvPr/>
        </p:nvSpPr>
        <p:spPr>
          <a:xfrm>
            <a:off x="749808" y="3871468"/>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MINIMUM DSCR</a:t>
            </a:r>
            <a:endParaRPr lang="en-US" sz="850" dirty="0"/>
          </a:p>
        </p:txBody>
      </p:sp>
      <p:sp>
        <p:nvSpPr>
          <p:cNvPr id="8" name="Text 5"/>
          <p:cNvSpPr/>
          <p:nvPr/>
        </p:nvSpPr>
        <p:spPr>
          <a:xfrm>
            <a:off x="749808" y="4118356"/>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1.70×</a:t>
            </a:r>
            <a:endParaRPr lang="en-US" sz="2600" dirty="0"/>
          </a:p>
        </p:txBody>
      </p:sp>
      <p:sp>
        <p:nvSpPr>
          <p:cNvPr id="9" name="Text 6"/>
          <p:cNvSpPr/>
          <p:nvPr/>
        </p:nvSpPr>
        <p:spPr>
          <a:xfrm>
            <a:off x="749808" y="4593844"/>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repayment years. Banks underwrite to 1.30×</a:t>
            </a:r>
            <a:endParaRPr lang="en-US" sz="950" dirty="0"/>
          </a:p>
        </p:txBody>
      </p:sp>
      <p:sp>
        <p:nvSpPr>
          <p:cNvPr id="10" name="Shape 7"/>
          <p:cNvSpPr/>
          <p:nvPr/>
        </p:nvSpPr>
        <p:spPr>
          <a:xfrm>
            <a:off x="4326026" y="3752596"/>
            <a:ext cx="3539642" cy="1170432"/>
          </a:xfrm>
          <a:prstGeom prst="roundRect">
            <a:avLst>
              <a:gd name="adj" fmla="val 4688"/>
            </a:avLst>
          </a:prstGeom>
          <a:solidFill>
            <a:srgbClr val="F5F6F8"/>
          </a:solidFill>
          <a:ln w="12700">
            <a:solidFill>
              <a:srgbClr val="E2E4EA"/>
            </a:solidFill>
            <a:prstDash val="solid"/>
          </a:ln>
        </p:spPr>
      </p:sp>
      <p:sp>
        <p:nvSpPr>
          <p:cNvPr id="11" name="Text 8"/>
          <p:cNvSpPr/>
          <p:nvPr/>
        </p:nvSpPr>
        <p:spPr>
          <a:xfrm>
            <a:off x="4508906" y="3871468"/>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AVERAGE DSCR</a:t>
            </a:r>
            <a:endParaRPr lang="en-US" sz="850" dirty="0"/>
          </a:p>
        </p:txBody>
      </p:sp>
      <p:sp>
        <p:nvSpPr>
          <p:cNvPr id="12" name="Text 9"/>
          <p:cNvSpPr/>
          <p:nvPr/>
        </p:nvSpPr>
        <p:spPr>
          <a:xfrm>
            <a:off x="4508906" y="4118356"/>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9.62×</a:t>
            </a:r>
            <a:endParaRPr lang="en-US" sz="2600" dirty="0"/>
          </a:p>
        </p:txBody>
      </p:sp>
      <p:sp>
        <p:nvSpPr>
          <p:cNvPr id="13" name="Text 10"/>
          <p:cNvSpPr/>
          <p:nvPr/>
        </p:nvSpPr>
        <p:spPr>
          <a:xfrm>
            <a:off x="4508906" y="4593844"/>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repayment years</a:t>
            </a:r>
            <a:endParaRPr lang="en-US" sz="950" dirty="0"/>
          </a:p>
        </p:txBody>
      </p:sp>
      <p:sp>
        <p:nvSpPr>
          <p:cNvPr id="14" name="Shape 11"/>
          <p:cNvSpPr/>
          <p:nvPr/>
        </p:nvSpPr>
        <p:spPr>
          <a:xfrm>
            <a:off x="8085125" y="3752596"/>
            <a:ext cx="3539642" cy="1170432"/>
          </a:xfrm>
          <a:prstGeom prst="roundRect">
            <a:avLst>
              <a:gd name="adj" fmla="val 4688"/>
            </a:avLst>
          </a:prstGeom>
          <a:solidFill>
            <a:srgbClr val="F5F6F8"/>
          </a:solidFill>
          <a:ln w="12700">
            <a:solidFill>
              <a:srgbClr val="E2E4EA"/>
            </a:solidFill>
            <a:prstDash val="solid"/>
          </a:ln>
        </p:spPr>
      </p:sp>
      <p:sp>
        <p:nvSpPr>
          <p:cNvPr id="15" name="Text 12"/>
          <p:cNvSpPr/>
          <p:nvPr/>
        </p:nvSpPr>
        <p:spPr>
          <a:xfrm>
            <a:off x="8268005" y="3871468"/>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DEBT CAPACITY AT 1.30×</a:t>
            </a:r>
            <a:endParaRPr lang="en-US" sz="850" dirty="0"/>
          </a:p>
        </p:txBody>
      </p:sp>
      <p:sp>
        <p:nvSpPr>
          <p:cNvPr id="16" name="Text 13"/>
          <p:cNvSpPr/>
          <p:nvPr/>
        </p:nvSpPr>
        <p:spPr>
          <a:xfrm>
            <a:off x="8268005" y="4118356"/>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₹1.35 Cr</a:t>
            </a:r>
            <a:endParaRPr lang="en-US" sz="2600" dirty="0"/>
          </a:p>
        </p:txBody>
      </p:sp>
      <p:sp>
        <p:nvSpPr>
          <p:cNvPr id="17" name="Text 14"/>
          <p:cNvSpPr/>
          <p:nvPr/>
        </p:nvSpPr>
        <p:spPr>
          <a:xfrm>
            <a:off x="8268005" y="4593844"/>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Headroom of ₹0.35 Cr over the facility sought</a:t>
            </a:r>
            <a:endParaRPr lang="en-US" sz="950" dirty="0"/>
          </a:p>
        </p:txBody>
      </p:sp>
      <p:sp>
        <p:nvSpPr>
          <p:cNvPr id="18" name="Shape 15"/>
          <p:cNvSpPr/>
          <p:nvPr/>
        </p:nvSpPr>
        <p:spPr>
          <a:xfrm>
            <a:off x="566928" y="5197348"/>
            <a:ext cx="11057839" cy="1166774"/>
          </a:xfrm>
          <a:prstGeom prst="roundRect">
            <a:avLst>
              <a:gd name="adj" fmla="val 3918"/>
            </a:avLst>
          </a:prstGeom>
          <a:solidFill>
            <a:srgbClr val="F1F5FE"/>
          </a:solidFill>
          <a:ln w="15875">
            <a:solidFill>
              <a:srgbClr val="2B66EA"/>
            </a:solidFill>
            <a:prstDash val="solid"/>
          </a:ln>
        </p:spPr>
      </p:sp>
      <p:sp>
        <p:nvSpPr>
          <p:cNvPr id="19" name="Text 16"/>
          <p:cNvSpPr/>
          <p:nvPr/>
        </p:nvSpPr>
        <p:spPr>
          <a:xfrm>
            <a:off x="804672" y="5307076"/>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0" name="Text 17"/>
          <p:cNvSpPr/>
          <p:nvPr/>
        </p:nvSpPr>
        <p:spPr>
          <a:xfrm>
            <a:off x="804672" y="5489956"/>
            <a:ext cx="10582351" cy="243027"/>
          </a:xfrm>
          <a:prstGeom prst="rect">
            <a:avLst/>
          </a:prstGeom>
          <a:noFill/>
          <a:ln/>
        </p:spPr>
        <p:txBody>
          <a:bodyPr wrap="square" lIns="0" tIns="0" rIns="0" bIns="0" rtlCol="0" anchor="t"/>
          <a:lstStyle/>
          <a:p>
            <a:pPr indent="0" marL="0">
              <a:lnSpc>
                <a:spcPts val="1840"/>
              </a:lnSpc>
              <a:buNone/>
            </a:pPr>
            <a:r>
              <a:rPr lang="en-US" sz="1600" b="1" dirty="0">
                <a:solidFill>
                  <a:srgbClr val="0A1426"/>
                </a:solidFill>
                <a:latin typeface="Calibri" pitchFamily="34" charset="0"/>
                <a:ea typeface="Calibri" pitchFamily="34" charset="-122"/>
                <a:cs typeface="Calibri" pitchFamily="34" charset="-120"/>
              </a:rPr>
              <a:t>Licence fee assumption</a:t>
            </a:r>
            <a:endParaRPr lang="en-US" sz="1600" dirty="0"/>
          </a:p>
        </p:txBody>
      </p:sp>
      <p:sp>
        <p:nvSpPr>
          <p:cNvPr id="21" name="Text 18"/>
          <p:cNvSpPr/>
          <p:nvPr/>
        </p:nvSpPr>
        <p:spPr>
          <a:xfrm>
            <a:off x="804672" y="5787847"/>
            <a:ext cx="10582351" cy="503123"/>
          </a:xfrm>
          <a:prstGeom prst="rect">
            <a:avLst/>
          </a:prstGeom>
          <a:noFill/>
          <a:ln/>
        </p:spPr>
        <p:txBody>
          <a:bodyPr wrap="square" lIns="0" tIns="0" rIns="0" bIns="0" rtlCol="0" anchor="t"/>
          <a:lstStyle/>
          <a:p>
            <a:pPr indent="0" marL="0">
              <a:lnSpc>
                <a:spcPts val="1420"/>
              </a:lnSpc>
              <a:buNone/>
            </a:pPr>
            <a:r>
              <a:rPr lang="en-US" sz="1000" dirty="0">
                <a:solidFill>
                  <a:srgbClr val="3B4660"/>
                </a:solidFill>
                <a:latin typeface="Calibri" pitchFamily="34" charset="0"/>
                <a:ea typeface="Calibri" pitchFamily="34" charset="-122"/>
                <a:cs typeface="Calibri" pitchFamily="34" charset="-120"/>
              </a:rPr>
              <a:t>Every figure in this deck is calculated on a licence fee of ₹36 L a year — ₹3.0 lakh a month against ADA's ₹2.5 L per month reserve — escalating at 5% a year as the RFP provides. The fee is settled by forward e-auction and is not known until it concludes; the model requires re-running against the actual award.</a:t>
            </a:r>
            <a:endParaRPr lang="en-US" sz="1000" dirty="0"/>
          </a:p>
        </p:txBody>
      </p:sp>
      <p:sp>
        <p:nvSpPr>
          <p:cNvPr id="22" name="Text 19"/>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Assumptions and method · revenue</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Every figure is computed from the inputs below.</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2743200"/>
                <a:gridCol w="6035040"/>
                <a:gridCol w="2279599"/>
              </a:tblGrid>
              <a:tr h="219456">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Input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Basis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Value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Year 1 footfall</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Opening season, marketing-led, ADA's ₹20 gate held</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3.75 lakh visits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Year 7 footfall</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About 1,589 visits a day</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5.80 lakh visits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Growth path</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Front-loaded, flattening as the site matures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+16% yr 2, +5% by yr 7</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Paid entry ratio</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Net of under-5s and free morning walkers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76% → 80%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Show conversion</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Share buying a show ticket; steps up in year 4 with the second show</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24% → 28%, then 34% → 38%</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F&amp;B capture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Share spending at a kiosk</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32% → 38%</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Activity capture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Share using an activity; rises from year 2 as more operators sign</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11% → 15% → 22%</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Activity revenue share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On the operator-run part: a share of takings, not the gross spend</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Owned share of activities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E-O-D-owned from year 4, booked gross with its own cost</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30% → 36%</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Vehicle occupancy</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Visitors per vehicle, for the parking line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3.1</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Gate entry</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Fixed by ADA. No escalation modelled across the term</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Show tariff</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Subject to ADA approval; escalated every second year</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₹100 → ₹130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F&amp;B spend per capture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Ready-to-eat and pre-packaged only; no cooking on site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₹35 → ₹46</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Activity spend per capture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Visitor spend at the vendor, before E-O-D's share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₹120 → ₹180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Parking</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62% two-wheeler at ₹10, 38% four-wheeler at ₹20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₹10 / ₹20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Events and IPs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Public programming and E-O-D-run IPs, private events, shoots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₹50 L → ₹112 L</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GST treatment</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Entry, show, activities, parking at 18%; F&amp;B at 12%</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Revenue net of GST</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7" name="Text 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Assumptions and method · cost and facility</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133856"/>
          <a:ext cx="11057839" cy="914400"/>
        </p:xfrm>
        <a:graphic>
          <a:graphicData uri="http://schemas.openxmlformats.org/drawingml/2006/table">
            <a:tbl>
              <a:tblPr/>
              <a:tblGrid>
                <a:gridCol w="2743200"/>
                <a:gridCol w="6035040"/>
                <a:gridCol w="2279599"/>
              </a:tblGrid>
              <a:tr h="265176">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Input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Basis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Value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Licence fee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Winning bid, contracted escalation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₹36 L, +5% a year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Payroll</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31 heads at year-1 footfall; scales at 0.35× footfall growth</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 a year, plus scale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Cost inflation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Electricity, horticulture, AMC, repairs, insurance, IT, contingency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6.5% a year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F&amp;B cost of goods</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Supplied from the EAC kitchens at transfer cost, not bought in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44% of F&amp;B revenue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Marketing</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Front-loaded for the opening season, then normalised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7.5% → 4.5% of revenue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Corporate overhead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Agra cluster allocation, not a standalone rate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5% of revenue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Depreciation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Straight line over the lives shown in section 02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₹5.5 L a year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Maintenance capex</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Deducted in free cash flow, not in EBITDA</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 of revenue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Tax</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On EBIT where positive; nil where negative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Free cash flow</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EBITDA less tax less maintenance capex</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Section 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Terminal value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Deposit and EMD refund only. No going-concern or extension value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Deposits only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Discount rate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For the NPV in section 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Interest rate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Scheduled bank, repo-linked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Annual guarantee fee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CGTMSE standard slab for the facility size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0.60%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Repayment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Equal principal instalments after the moratorium</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 yrs, 1-yr moratorium</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CFADS</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Cash available for debt service, taken as EBITDA</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EBITDA</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6" name="Text 3"/>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Risks and open items</a:t>
            </a:r>
            <a:endParaRPr lang="en-US" sz="3000" dirty="0"/>
          </a:p>
        </p:txBody>
      </p:sp>
      <p:sp>
        <p:nvSpPr>
          <p:cNvPr id="5" name="Shape 3"/>
          <p:cNvSpPr/>
          <p:nvPr/>
        </p:nvSpPr>
        <p:spPr>
          <a:xfrm>
            <a:off x="566928" y="1170432"/>
            <a:ext cx="182880" cy="182880"/>
          </a:xfrm>
          <a:prstGeom prst="ellipse">
            <a:avLst/>
          </a:prstGeom>
          <a:solidFill>
            <a:srgbClr val="C8553D"/>
          </a:solidFill>
          <a:ln/>
        </p:spPr>
      </p:sp>
      <p:sp>
        <p:nvSpPr>
          <p:cNvPr id="6" name="Text 4"/>
          <p:cNvSpPr/>
          <p:nvPr/>
        </p:nvSpPr>
        <p:spPr>
          <a:xfrm>
            <a:off x="8595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Licence fee at auction</a:t>
            </a:r>
            <a:endParaRPr lang="en-US" sz="1250" dirty="0"/>
          </a:p>
        </p:txBody>
      </p:sp>
      <p:sp>
        <p:nvSpPr>
          <p:cNvPr id="7" name="Text 5"/>
          <p:cNvSpPr/>
          <p:nvPr/>
        </p:nvSpPr>
        <p:spPr>
          <a:xfrm>
            <a:off x="859536" y="1380744"/>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No cap on the forward e-auction, and the fee escalates 5% a year on whatever is bid. Every ₹1 lakh a year above the modelled ₹36 L costs about ₹8.1 lakh across the term, so the bid price moves the return further than any operating assumption in this deck. Mitigation: a board-approved ceiling before the auction opens.</a:t>
            </a:r>
            <a:endParaRPr lang="en-US" sz="1050" dirty="0"/>
          </a:p>
        </p:txBody>
      </p:sp>
      <p:sp>
        <p:nvSpPr>
          <p:cNvPr id="8" name="Shape 6"/>
          <p:cNvSpPr/>
          <p:nvPr/>
        </p:nvSpPr>
        <p:spPr>
          <a:xfrm>
            <a:off x="566928" y="2304288"/>
            <a:ext cx="182880" cy="182880"/>
          </a:xfrm>
          <a:prstGeom prst="ellipse">
            <a:avLst/>
          </a:prstGeom>
          <a:solidFill>
            <a:srgbClr val="D97706"/>
          </a:solidFill>
          <a:ln/>
        </p:spPr>
      </p:sp>
      <p:sp>
        <p:nvSpPr>
          <p:cNvPr id="9" name="Text 7"/>
          <p:cNvSpPr/>
          <p:nvPr/>
        </p:nvSpPr>
        <p:spPr>
          <a:xfrm>
            <a:off x="859536" y="226771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Laser and fountain asset condition</a:t>
            </a:r>
            <a:endParaRPr lang="en-US" sz="1250" dirty="0"/>
          </a:p>
        </p:txBody>
      </p:sp>
      <p:sp>
        <p:nvSpPr>
          <p:cNvPr id="10" name="Text 8"/>
          <p:cNvSpPr/>
          <p:nvPr/>
        </p:nvSpPr>
        <p:spPr>
          <a:xfrm>
            <a:off x="859536" y="2514600"/>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agency inherits equipment of unknown age and must replace end-of-life assets at its own cost, with the onus of proving irreparability also on the agency. Not provided for in the cost model.</a:t>
            </a:r>
            <a:endParaRPr lang="en-US" sz="1050" dirty="0"/>
          </a:p>
        </p:txBody>
      </p:sp>
      <p:sp>
        <p:nvSpPr>
          <p:cNvPr id="11" name="Shape 9"/>
          <p:cNvSpPr/>
          <p:nvPr/>
        </p:nvSpPr>
        <p:spPr>
          <a:xfrm>
            <a:off x="566928" y="3438144"/>
            <a:ext cx="182880" cy="182880"/>
          </a:xfrm>
          <a:prstGeom prst="ellipse">
            <a:avLst/>
          </a:prstGeom>
          <a:solidFill>
            <a:srgbClr val="D97706"/>
          </a:solidFill>
          <a:ln/>
        </p:spPr>
      </p:sp>
      <p:sp>
        <p:nvSpPr>
          <p:cNvPr id="12" name="Text 10"/>
          <p:cNvSpPr/>
          <p:nvPr/>
        </p:nvSpPr>
        <p:spPr>
          <a:xfrm>
            <a:off x="859536" y="3401568"/>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Activity operator availability</a:t>
            </a:r>
            <a:endParaRPr lang="en-US" sz="1250" dirty="0"/>
          </a:p>
        </p:txBody>
      </p:sp>
      <p:sp>
        <p:nvSpPr>
          <p:cNvPr id="13" name="Text 11"/>
          <p:cNvSpPr/>
          <p:nvPr/>
        </p:nvSpPr>
        <p:spPr>
          <a:xfrm>
            <a:off x="859536" y="3648456"/>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Through year 3 the whole line is E-O-D's 20% share of operator takings, so it depends on operators taking space and on ADA approving the concept. At ₹0.19 Cr in year 3, losing it does not threaten debt service, and until the year-3 build it carries no capital at risk.</a:t>
            </a:r>
            <a:endParaRPr lang="en-US" sz="1050" dirty="0"/>
          </a:p>
        </p:txBody>
      </p:sp>
      <p:sp>
        <p:nvSpPr>
          <p:cNvPr id="14" name="Shape 12"/>
          <p:cNvSpPr/>
          <p:nvPr/>
        </p:nvSpPr>
        <p:spPr>
          <a:xfrm>
            <a:off x="566928" y="4572000"/>
            <a:ext cx="182880" cy="182880"/>
          </a:xfrm>
          <a:prstGeom prst="ellipse">
            <a:avLst/>
          </a:prstGeom>
          <a:solidFill>
            <a:srgbClr val="D97706"/>
          </a:solidFill>
          <a:ln/>
        </p:spPr>
      </p:sp>
      <p:sp>
        <p:nvSpPr>
          <p:cNvPr id="15" name="Text 13"/>
          <p:cNvSpPr/>
          <p:nvPr/>
        </p:nvSpPr>
        <p:spPr>
          <a:xfrm>
            <a:off x="859536" y="453542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Event revenue concentration</a:t>
            </a:r>
            <a:endParaRPr lang="en-US" sz="1250" dirty="0"/>
          </a:p>
        </p:txBody>
      </p:sp>
      <p:sp>
        <p:nvSpPr>
          <p:cNvPr id="16" name="Text 14"/>
          <p:cNvSpPr/>
          <p:nvPr/>
        </p:nvSpPr>
        <p:spPr>
          <a:xfrm>
            <a:off x="859536" y="4782312"/>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Events are 17% of year-7 revenue and carry the highest margin, because manning and power are already paid for by the gate. A weak wedding season, or an ADA restriction on private bookings, takes contribution out faster than any other line.</a:t>
            </a:r>
            <a:endParaRPr lang="en-US" sz="1050" dirty="0"/>
          </a:p>
        </p:txBody>
      </p:sp>
      <p:sp>
        <p:nvSpPr>
          <p:cNvPr id="17" name="Shape 15"/>
          <p:cNvSpPr/>
          <p:nvPr/>
        </p:nvSpPr>
        <p:spPr>
          <a:xfrm>
            <a:off x="566928" y="5705856"/>
            <a:ext cx="182880" cy="182880"/>
          </a:xfrm>
          <a:prstGeom prst="ellipse">
            <a:avLst/>
          </a:prstGeom>
          <a:solidFill>
            <a:srgbClr val="2B66EA"/>
          </a:solidFill>
          <a:ln/>
        </p:spPr>
      </p:sp>
      <p:sp>
        <p:nvSpPr>
          <p:cNvPr id="18" name="Text 16"/>
          <p:cNvSpPr/>
          <p:nvPr/>
        </p:nvSpPr>
        <p:spPr>
          <a:xfrm>
            <a:off x="859536" y="566928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Year-3 reinvestment is discretionary</a:t>
            </a:r>
            <a:endParaRPr lang="en-US" sz="1250" dirty="0"/>
          </a:p>
        </p:txBody>
      </p:sp>
      <p:sp>
        <p:nvSpPr>
          <p:cNvPr id="19" name="Text 17"/>
          <p:cNvSpPr/>
          <p:nvPr/>
        </p:nvSpPr>
        <p:spPr>
          <a:xfrm>
            <a:off x="859536" y="5916168"/>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year-4 step depends on ₹0.40 Cr being spent at the end of year 3 out of accumulated cash. Defer it and years 4 to 7 run closer to the year-3 line — the facility is still serviced, because the coverage ratios are struck before this spend.</a:t>
            </a:r>
            <a:endParaRPr lang="en-US" sz="1050" dirty="0"/>
          </a:p>
        </p:txBody>
      </p:sp>
      <p:sp>
        <p:nvSpPr>
          <p:cNvPr id="20" name="Shape 18"/>
          <p:cNvSpPr/>
          <p:nvPr/>
        </p:nvSpPr>
        <p:spPr>
          <a:xfrm>
            <a:off x="6278728" y="1170432"/>
            <a:ext cx="182880" cy="182880"/>
          </a:xfrm>
          <a:prstGeom prst="ellipse">
            <a:avLst/>
          </a:prstGeom>
          <a:solidFill>
            <a:srgbClr val="2B66EA"/>
          </a:solidFill>
          <a:ln/>
        </p:spPr>
      </p:sp>
      <p:sp>
        <p:nvSpPr>
          <p:cNvPr id="21" name="Text 19"/>
          <p:cNvSpPr/>
          <p:nvPr/>
        </p:nvSpPr>
        <p:spPr>
          <a:xfrm>
            <a:off x="65713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Show tariff not set in the RFP</a:t>
            </a:r>
            <a:endParaRPr lang="en-US" sz="1250" dirty="0"/>
          </a:p>
        </p:txBody>
      </p:sp>
      <p:sp>
        <p:nvSpPr>
          <p:cNvPr id="22" name="Text 20"/>
          <p:cNvSpPr/>
          <p:nvPr/>
        </p:nvSpPr>
        <p:spPr>
          <a:xfrm>
            <a:off x="6571336" y="1380744"/>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To be agreed with ADA at least ten days before implementation. The model assumes ₹100 in year 1 rising to ₹130 by year 7. The show and activity lines together are 41% of year-3 revenue.</a:t>
            </a:r>
            <a:endParaRPr lang="en-US" sz="1050" dirty="0"/>
          </a:p>
        </p:txBody>
      </p:sp>
      <p:sp>
        <p:nvSpPr>
          <p:cNvPr id="23" name="Shape 21"/>
          <p:cNvSpPr/>
          <p:nvPr/>
        </p:nvSpPr>
        <p:spPr>
          <a:xfrm>
            <a:off x="6278728" y="2304288"/>
            <a:ext cx="182880" cy="182880"/>
          </a:xfrm>
          <a:prstGeom prst="ellipse">
            <a:avLst/>
          </a:prstGeom>
          <a:solidFill>
            <a:srgbClr val="2B66EA"/>
          </a:solidFill>
          <a:ln/>
        </p:spPr>
      </p:sp>
      <p:sp>
        <p:nvSpPr>
          <p:cNvPr id="24" name="Text 22"/>
          <p:cNvSpPr/>
          <p:nvPr/>
        </p:nvSpPr>
        <p:spPr>
          <a:xfrm>
            <a:off x="6571336" y="226771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Winning licence fee unknown</a:t>
            </a:r>
            <a:endParaRPr lang="en-US" sz="1250" dirty="0"/>
          </a:p>
        </p:txBody>
      </p:sp>
      <p:sp>
        <p:nvSpPr>
          <p:cNvPr id="25" name="Text 23"/>
          <p:cNvSpPr/>
          <p:nvPr/>
        </p:nvSpPr>
        <p:spPr>
          <a:xfrm>
            <a:off x="6571336" y="2514600"/>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figure is built on a ₹36 L annual bid and requires re-running against the actual award.</a:t>
            </a:r>
            <a:endParaRPr lang="en-US" sz="1050" dirty="0"/>
          </a:p>
        </p:txBody>
      </p:sp>
      <p:sp>
        <p:nvSpPr>
          <p:cNvPr id="26" name="Shape 24"/>
          <p:cNvSpPr/>
          <p:nvPr/>
        </p:nvSpPr>
        <p:spPr>
          <a:xfrm>
            <a:off x="6278728" y="3438144"/>
            <a:ext cx="182880" cy="182880"/>
          </a:xfrm>
          <a:prstGeom prst="ellipse">
            <a:avLst/>
          </a:prstGeom>
          <a:solidFill>
            <a:srgbClr val="D97706"/>
          </a:solidFill>
          <a:ln/>
        </p:spPr>
      </p:sp>
      <p:sp>
        <p:nvSpPr>
          <p:cNvPr id="27" name="Text 25"/>
          <p:cNvSpPr/>
          <p:nvPr/>
        </p:nvSpPr>
        <p:spPr>
          <a:xfrm>
            <a:off x="6571336" y="3401568"/>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Electricity arrears</a:t>
            </a:r>
            <a:endParaRPr lang="en-US" sz="1250" dirty="0"/>
          </a:p>
        </p:txBody>
      </p:sp>
      <p:sp>
        <p:nvSpPr>
          <p:cNvPr id="28" name="Text 26"/>
          <p:cNvSpPr/>
          <p:nvPr/>
        </p:nvSpPr>
        <p:spPr>
          <a:xfrm>
            <a:off x="6571336" y="3648456"/>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Electricity is paid direct to the discom monthly. VAPPL carries ₹2.14 Cr of accumulated arrears across the existing estate, which is a condition precedent to any lender sanction.</a:t>
            </a:r>
            <a:endParaRPr lang="en-US" sz="1050" dirty="0"/>
          </a:p>
        </p:txBody>
      </p:sp>
      <p:sp>
        <p:nvSpPr>
          <p:cNvPr id="29" name="Shape 27"/>
          <p:cNvSpPr/>
          <p:nvPr/>
        </p:nvSpPr>
        <p:spPr>
          <a:xfrm>
            <a:off x="6278728" y="4572000"/>
            <a:ext cx="182880" cy="182880"/>
          </a:xfrm>
          <a:prstGeom prst="ellipse">
            <a:avLst/>
          </a:prstGeom>
          <a:solidFill>
            <a:srgbClr val="D97706"/>
          </a:solidFill>
          <a:ln/>
        </p:spPr>
      </p:sp>
      <p:sp>
        <p:nvSpPr>
          <p:cNvPr id="30" name="Text 28"/>
          <p:cNvSpPr/>
          <p:nvPr/>
        </p:nvSpPr>
        <p:spPr>
          <a:xfrm>
            <a:off x="6571336" y="453542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Concession renewal</a:t>
            </a:r>
            <a:endParaRPr lang="en-US" sz="1250" dirty="0"/>
          </a:p>
        </p:txBody>
      </p:sp>
      <p:sp>
        <p:nvSpPr>
          <p:cNvPr id="31" name="Text 29"/>
          <p:cNvSpPr/>
          <p:nvPr/>
        </p:nvSpPr>
        <p:spPr>
          <a:xfrm>
            <a:off x="6571336" y="4782312"/>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Seven years, extendable by four at ADA's discretion, with the licence fee revisable for the extended term. No extension value is included in any figure in this deck.</a:t>
            </a:r>
            <a:endParaRPr lang="en-US" sz="1050" dirty="0"/>
          </a:p>
        </p:txBody>
      </p:sp>
      <p:sp>
        <p:nvSpPr>
          <p:cNvPr id="32" name="Text 3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Geeta Govind Vatika — Project Finance</dc:title>
  <dc:subject>ADA licence-fee concession, 7+4 years</dc:subject>
  <dc:creator>Vision Amusement Park Pvt. Ltd.</dc:creator>
  <cp:lastModifiedBy>Vision Amusement Park Pvt. Ltd.</cp:lastModifiedBy>
  <cp:revision>1</cp:revision>
  <dcterms:created xsi:type="dcterms:W3CDTF">2026-08-25T08:34:40Z</dcterms:created>
  <dcterms:modified xsi:type="dcterms:W3CDTF">2026-08-25T08:34:40Z</dcterms:modified>
</cp:coreProperties>
</file>